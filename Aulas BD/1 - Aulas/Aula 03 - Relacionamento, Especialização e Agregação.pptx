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7" r:id="rId16"/>
    <p:sldId id="278" r:id="rId17"/>
    <p:sldId id="279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6858000" cy="9144000"/>
  <p:embeddedFontLst>
    <p:embeddedFont>
      <p:font typeface="Helvetica Neue" panose="020B0604020202020204" charset="0"/>
      <p:regular r:id="rId26"/>
      <p:bold r:id="rId27"/>
      <p:italic r:id="rId28"/>
      <p:boldItalic r:id="rId29"/>
    </p:embeddedFont>
    <p:embeddedFont>
      <p:font typeface="Maven Pro Medium" panose="020B0604020202020204" charset="0"/>
      <p:regular r:id="rId30"/>
      <p:bold r:id="rId31"/>
    </p:embeddedFont>
    <p:embeddedFont>
      <p:font typeface="Maven Pro SemiBold" panose="020B0604020202020204" charset="0"/>
      <p:regular r:id="rId32"/>
      <p:bold r:id="rId33"/>
    </p:embeddedFont>
    <p:embeddedFont>
      <p:font typeface="Nunito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4"/>
  </p:normalViewPr>
  <p:slideViewPr>
    <p:cSldViewPr snapToGrid="0">
      <p:cViewPr varScale="1">
        <p:scale>
          <a:sx n="63" d="100"/>
          <a:sy n="63" d="100"/>
        </p:scale>
        <p:origin x="77" y="7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b95fb2a8c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2b95fb2a8c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b95fb2a8c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b95fb2a8c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95fb2a8c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2b95fb2a8c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b95fb2a8c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2b95fb2a8c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b95fb2a8c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b95fb2a8c8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95fb2a8c8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2b95fb2a8c8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95fb2a8c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2b95fb2a8c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b95fb2a8c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b95fb2a8c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f0ba5c065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1f0ba5c0654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b95fb2a8c8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2b95fb2a8c8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b95fb2a8c8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2b95fb2a8c8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95fb2a8c8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2b95fb2a8c8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b95fb2a8c8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2b95fb2a8c8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4649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b95fb2a8c8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2b95fb2a8c8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243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f4fab53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2ef4fab53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0799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f4fab53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2ef4fab53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95fb2a8c8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2b95fb2a8c8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b95fb2a8c8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2b95fb2a8c8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95fb2a8c8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b95fb2a8c8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b95fb2a8c8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2b95fb2a8c8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95fb2a8c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2b95fb2a8c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95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brmodeloweb.com/lang/pt-br/index.html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rmodeloweb.com/lang/pt-br/index.html" TargetMode="External"/><Relationship Id="rId5" Type="http://schemas.openxmlformats.org/officeDocument/2006/relationships/hyperlink" Target="https://erdplus-v2.com/trial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Relacionamento, Especialização e Agregação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8200" y="960475"/>
            <a:ext cx="82791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relacionamento 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é uma associação entre as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entidades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.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Representado por um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losango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Pode ser um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verbo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: pertence, leciona, estuda, possui, etc.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Composição dos nomes das entidades: Aluno_Turma.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225" y="1566950"/>
            <a:ext cx="7333050" cy="1667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18200" y="1112875"/>
            <a:ext cx="8279100" cy="306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Um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relacionamento 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pode ter atributos. 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212" y="1813152"/>
            <a:ext cx="7412864" cy="184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0" name="Google Shape;100;p1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18200" y="960475"/>
            <a:ext cx="82791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Restrições de Mapeamento ou </a:t>
            </a:r>
            <a:r>
              <a:rPr lang="pt-BR" sz="1700" b="1" u="sng">
                <a:latin typeface="Nunito"/>
                <a:ea typeface="Nunito"/>
                <a:cs typeface="Nunito"/>
                <a:sym typeface="Nunito"/>
              </a:rPr>
              <a:t>Cardinalidade</a:t>
            </a:r>
            <a:endParaRPr sz="1700" b="1" u="sng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Cardinalidade Um para Um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(1:1)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um objeto de uma entidade pode se relacionar a apenas um objeto de outra entidade e vice-versa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775" y="2921122"/>
            <a:ext cx="8533974" cy="1676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18200" y="960475"/>
            <a:ext cx="82791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Restrições de Mapeamento ou </a:t>
            </a:r>
            <a:r>
              <a:rPr lang="pt-BR" sz="1700" b="1" u="sng">
                <a:latin typeface="Nunito"/>
                <a:ea typeface="Nunito"/>
                <a:cs typeface="Nunito"/>
                <a:sym typeface="Nunito"/>
              </a:rPr>
              <a:t>Cardinalidade</a:t>
            </a:r>
            <a:endParaRPr sz="1700" b="1" u="sng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Cardinalidade Um para Um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(1:1)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um objeto de uma entidade pode se relacionar a apenas um objeto de outra entidade e vice-versa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835" y="2921125"/>
            <a:ext cx="8378424" cy="16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6519075" y="1188700"/>
            <a:ext cx="1861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u="sng">
                <a:solidFill>
                  <a:schemeClr val="hlink"/>
                </a:solidFill>
                <a:hlinkClick r:id="rId5"/>
              </a:rPr>
              <a:t>brModelo</a:t>
            </a:r>
            <a:endParaRPr sz="1900"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18200" y="960475"/>
            <a:ext cx="82791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Restrições de Mapeamento ou </a:t>
            </a:r>
            <a:r>
              <a:rPr lang="pt-BR" sz="1700" b="1" u="sng">
                <a:latin typeface="Nunito"/>
                <a:ea typeface="Nunito"/>
                <a:cs typeface="Nunito"/>
                <a:sym typeface="Nunito"/>
              </a:rPr>
              <a:t>Cardinalidade</a:t>
            </a:r>
            <a:endParaRPr sz="1700" b="1" u="sng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>
                <a:latin typeface="Nunito"/>
                <a:ea typeface="Nunito"/>
                <a:cs typeface="Nunito"/>
                <a:sym typeface="Nunito"/>
              </a:rPr>
              <a:t>Cardinalidade Um para Muitos </a:t>
            </a:r>
            <a:r>
              <a:rPr lang="pt-BR" sz="1700" b="1" u="sng">
                <a:latin typeface="Nunito"/>
                <a:ea typeface="Nunito"/>
                <a:cs typeface="Nunito"/>
                <a:sym typeface="Nunito"/>
              </a:rPr>
              <a:t>(1:N)</a:t>
            </a:r>
            <a:endParaRPr sz="1700" b="1" u="sng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um objeto de uma entidade pode se relacionar a vários objetos da outra entidade, mas o contrário não é verdadeiro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450" y="2724150"/>
            <a:ext cx="8499374" cy="1946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4" name="Google Shape;134;p2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418200" y="960475"/>
            <a:ext cx="82791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Restrições de Mapeamento ou </a:t>
            </a:r>
            <a:r>
              <a:rPr lang="pt-BR" sz="1700" b="1" u="sng">
                <a:latin typeface="Nunito"/>
                <a:ea typeface="Nunito"/>
                <a:cs typeface="Nunito"/>
                <a:sym typeface="Nunito"/>
              </a:rPr>
              <a:t>Cardinalidade</a:t>
            </a:r>
            <a:endParaRPr sz="1700" b="1" u="sng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u="sng">
                <a:latin typeface="Nunito"/>
                <a:ea typeface="Nunito"/>
                <a:cs typeface="Nunito"/>
                <a:sym typeface="Nunito"/>
              </a:rPr>
              <a:t>Cardinalidade Muitos para Muitos (N:N)</a:t>
            </a:r>
            <a:endParaRPr sz="1700" b="1" u="sng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■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um objeto de uma entidade pode se relacionar a vários objetos da outra entidade e vice-versa.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950" y="2682683"/>
            <a:ext cx="8499374" cy="2047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432750" y="101325"/>
            <a:ext cx="6463200" cy="321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18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</a:t>
            </a:r>
            <a:endParaRPr sz="18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101346"/>
            <a:ext cx="1745200" cy="3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418200" y="427075"/>
            <a:ext cx="8279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❏"/>
            </a:pPr>
            <a:r>
              <a:rPr lang="pt-BR" b="1">
                <a:latin typeface="Nunito"/>
                <a:ea typeface="Nunito"/>
                <a:cs typeface="Nunito"/>
                <a:sym typeface="Nunito"/>
              </a:rPr>
              <a:t>Relacionamento Ternário ou Maiores</a:t>
            </a:r>
            <a:endParaRPr b="1" u="sng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Um relacionamento pode ocorrer também entre</a:t>
            </a:r>
            <a:r>
              <a:rPr lang="pt-BR" b="1">
                <a:latin typeface="Nunito"/>
                <a:ea typeface="Nunito"/>
                <a:cs typeface="Nunito"/>
                <a:sym typeface="Nunito"/>
              </a:rPr>
              <a:t> três ou mais entidades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1825" y="1262198"/>
            <a:ext cx="6463199" cy="3718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/>
          <p:nvPr/>
        </p:nvSpPr>
        <p:spPr>
          <a:xfrm>
            <a:off x="432750" y="101325"/>
            <a:ext cx="6463200" cy="321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18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</a:t>
            </a:r>
            <a:endParaRPr sz="18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101346"/>
            <a:ext cx="1745200" cy="3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418200" y="427075"/>
            <a:ext cx="8279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❏"/>
            </a:pPr>
            <a:r>
              <a:rPr lang="pt-BR" b="1">
                <a:latin typeface="Nunito"/>
                <a:ea typeface="Nunito"/>
                <a:cs typeface="Nunito"/>
                <a:sym typeface="Nunito"/>
              </a:rPr>
              <a:t>Relacionamento Ternário ou Maiores</a:t>
            </a:r>
            <a:endParaRPr b="1" u="sng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Um relacionamento pode ocorrer também entre</a:t>
            </a:r>
            <a:r>
              <a:rPr lang="pt-BR" b="1">
                <a:latin typeface="Nunito"/>
                <a:ea typeface="Nunito"/>
                <a:cs typeface="Nunito"/>
                <a:sym typeface="Nunito"/>
              </a:rPr>
              <a:t> três ou mais entidades</a:t>
            </a:r>
            <a:r>
              <a:rPr lang="pt-BR">
                <a:latin typeface="Nunito"/>
                <a:ea typeface="Nunito"/>
                <a:cs typeface="Nunito"/>
                <a:sym typeface="Nunito"/>
              </a:rPr>
              <a:t>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25" y="1262198"/>
            <a:ext cx="6463199" cy="371875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6584425" y="1807475"/>
            <a:ext cx="23475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Relacionamentos maiores que ternários devem ser evitados.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São difíceis de serem compreendidos e implementados.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A  relação fica bastante complexa.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418200" y="884275"/>
            <a:ext cx="827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Relacionamento Recursivo - </a:t>
            </a:r>
            <a:r>
              <a:rPr lang="pt-BR" i="1">
                <a:latin typeface="Nunito"/>
                <a:ea typeface="Nunito"/>
                <a:cs typeface="Nunito"/>
                <a:sym typeface="Nunito"/>
              </a:rPr>
              <a:t>Relaciona objetos de uma </a:t>
            </a:r>
            <a:r>
              <a:rPr lang="pt-BR" i="1" u="sng">
                <a:latin typeface="Nunito"/>
                <a:ea typeface="Nunito"/>
                <a:cs typeface="Nunito"/>
                <a:sym typeface="Nunito"/>
              </a:rPr>
              <a:t>mesma entidade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.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</a:pPr>
            <a:r>
              <a:rPr lang="pt-BR" sz="1500">
                <a:latin typeface="Nunito"/>
                <a:ea typeface="Nunito"/>
                <a:cs typeface="Nunito"/>
                <a:sym typeface="Nunito"/>
              </a:rPr>
              <a:t>Relacionamento recursivo ou Autorrelacionamento.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6188" y="1713775"/>
            <a:ext cx="3272463" cy="30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5" name="Google Shape;175;p2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76" name="Google Shape;1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Especialização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Especialização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6" name="Google Shape;186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418200" y="1036675"/>
            <a:ext cx="82791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Especialização consiste na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subdivisão 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de uma </a:t>
            </a: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entidade mais genérica.</a:t>
            </a:r>
            <a:endParaRPr sz="1700" u="sng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Entidade pai —&gt;  Entidades filhas (</a:t>
            </a:r>
            <a:r>
              <a:rPr lang="pt-BR" sz="17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entidades especializadas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).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Um conjunto de entidades pode conter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subgrupos.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Cada subgrupo de entidades possui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atributos específicos.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Especialização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93" name="Google Shape;19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6" name="Google Shape;196;p2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165" y="932387"/>
            <a:ext cx="6570010" cy="38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Especialização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3" name="Google Shape;20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674" y="1816695"/>
            <a:ext cx="4152725" cy="16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378900" y="1163775"/>
            <a:ext cx="4306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especialização sem necessidade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Especialização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93" name="Google Shape;19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6" name="Google Shape;196;p2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" name="Google Shape;187;p25">
            <a:extLst>
              <a:ext uri="{FF2B5EF4-FFF2-40B4-BE49-F238E27FC236}">
                <a16:creationId xmlns:a16="http://schemas.microsoft.com/office/drawing/2014/main" id="{D8178FD7-56BE-4250-9701-C612D2CB9EA0}"/>
              </a:ext>
            </a:extLst>
          </p:cNvPr>
          <p:cNvSpPr txBox="1"/>
          <p:nvPr/>
        </p:nvSpPr>
        <p:spPr>
          <a:xfrm>
            <a:off x="418200" y="1036675"/>
            <a:ext cx="8279100" cy="3847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A depender do padrão de MER que você está utilizando, pode haver variação em como a especialização é representada, e esta pode inclusive ser classificada em:</a:t>
            </a:r>
            <a:br>
              <a:rPr lang="pt-BR" sz="1700" dirty="0">
                <a:latin typeface="Nunito"/>
                <a:ea typeface="Nunito"/>
                <a:cs typeface="Nunito"/>
                <a:sym typeface="Nunito"/>
              </a:rPr>
            </a:b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 err="1">
                <a:latin typeface="Nunito"/>
                <a:ea typeface="Nunito"/>
                <a:cs typeface="Nunito"/>
                <a:sym typeface="Nunito"/>
              </a:rPr>
              <a:t>Disjoint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 (ou mutuamente exclusivas)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Definição: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Um registro pertence a no máximo uma das subclasses.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Exemplo: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Entidade Veículo → subclasses Carro e Moto.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Um mesmo veículo não pode ser, ao mesmo tempo, um carro e uma moto.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Representação no </a:t>
            </a:r>
            <a:r>
              <a:rPr lang="pt-BR" sz="1700" u="sng" dirty="0" err="1">
                <a:latin typeface="Nunito"/>
                <a:ea typeface="Nunito"/>
                <a:cs typeface="Nunito"/>
                <a:sym typeface="Nunito"/>
              </a:rPr>
              <a:t>DER:</a:t>
            </a:r>
            <a:r>
              <a:rPr lang="pt-BR" sz="1700" dirty="0" err="1">
                <a:latin typeface="Nunito"/>
                <a:ea typeface="Nunito"/>
                <a:cs typeface="Nunito"/>
                <a:sym typeface="Nunito"/>
              </a:rPr>
              <a:t>Normalmente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se usa um "d" dentro de um círculo ou anotação explícita indicando </a:t>
            </a:r>
            <a:r>
              <a:rPr lang="pt-BR" sz="1700" dirty="0" err="1">
                <a:latin typeface="Nunito"/>
                <a:ea typeface="Nunito"/>
                <a:cs typeface="Nunito"/>
                <a:sym typeface="Nunito"/>
              </a:rPr>
              <a:t>disjoint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endParaRPr lang="pt-BR" sz="1700" b="1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392997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Especialização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93" name="Google Shape;19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6" name="Google Shape;196;p2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" name="Google Shape;187;p25">
            <a:extLst>
              <a:ext uri="{FF2B5EF4-FFF2-40B4-BE49-F238E27FC236}">
                <a16:creationId xmlns:a16="http://schemas.microsoft.com/office/drawing/2014/main" id="{D8178FD7-56BE-4250-9701-C612D2CB9EA0}"/>
              </a:ext>
            </a:extLst>
          </p:cNvPr>
          <p:cNvSpPr txBox="1"/>
          <p:nvPr/>
        </p:nvSpPr>
        <p:spPr>
          <a:xfrm>
            <a:off x="418200" y="1036675"/>
            <a:ext cx="8279100" cy="3585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A depender do padrão de MER que você está utilizando, pode haver variação em como a especialização é representada, e esta pode inclusive ser classificada em:</a:t>
            </a:r>
            <a:br>
              <a:rPr lang="pt-BR" sz="1700" dirty="0">
                <a:latin typeface="Nunito"/>
                <a:ea typeface="Nunito"/>
                <a:cs typeface="Nunito"/>
                <a:sym typeface="Nunito"/>
              </a:rPr>
            </a:b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 err="1">
                <a:latin typeface="Nunito"/>
                <a:ea typeface="Nunito"/>
                <a:cs typeface="Nunito"/>
                <a:sym typeface="Nunito"/>
              </a:rPr>
              <a:t>Overlapping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 (ou sobreposição)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Definição: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Um registro pode pertencer a mais de uma subclasse ao mesmo tempo.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Exemplo: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Entidade Pessoa → subclasses Professor e Pesquisador.</a:t>
            </a: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Uma mesma pessoa pode ser professor e pesquisador ao mesmo tempo.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120650" lvl="0" algn="l" rtl="0">
              <a:spcBef>
                <a:spcPts val="0"/>
              </a:spcBef>
              <a:spcAft>
                <a:spcPts val="0"/>
              </a:spcAft>
              <a:buSzPts val="1700"/>
            </a:pPr>
            <a:r>
              <a:rPr lang="pt-BR" sz="1700" u="sng" dirty="0">
                <a:latin typeface="Nunito"/>
                <a:ea typeface="Nunito"/>
                <a:cs typeface="Nunito"/>
                <a:sym typeface="Nunito"/>
              </a:rPr>
              <a:t>Representação no DER: 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Normalmente se usa um "o" no círculo ou anotação de </a:t>
            </a:r>
            <a:r>
              <a:rPr lang="pt-BR" sz="1700" dirty="0" err="1">
                <a:latin typeface="Nunito"/>
                <a:ea typeface="Nunito"/>
                <a:cs typeface="Nunito"/>
                <a:sym typeface="Nunito"/>
              </a:rPr>
              <a:t>overlapping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6059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Especialização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4" name="Google Shape;21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7" name="Google Shape;217;p2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549F221-9DFD-4830-9205-8DF4400F2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403" y="1104464"/>
            <a:ext cx="5927194" cy="349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79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Especialização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4" name="Google Shape;21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7" name="Google Shape;217;p2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674" y="1816695"/>
            <a:ext cx="4152725" cy="16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0875" y="2304724"/>
            <a:ext cx="3228974" cy="10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8"/>
          <p:cNvSpPr txBox="1"/>
          <p:nvPr/>
        </p:nvSpPr>
        <p:spPr>
          <a:xfrm>
            <a:off x="378900" y="1163775"/>
            <a:ext cx="4306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especialização sem necessidade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5400875" y="1551075"/>
            <a:ext cx="3159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Uma </a:t>
            </a: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generalização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8" name="Google Shape;228;p29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29" name="Google Shape;22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Agregação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Agregação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9" name="Google Shape;239;p3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40" name="Google Shape;240;p30"/>
          <p:cNvSpPr txBox="1"/>
          <p:nvPr/>
        </p:nvSpPr>
        <p:spPr>
          <a:xfrm>
            <a:off x="514736" y="1445755"/>
            <a:ext cx="8279100" cy="253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A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agregação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, ou entidade </a:t>
            </a: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associativa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, ocorre quando precisamos relacionar dois relacionamentos entre si.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No Modelo Entidade-Relacionamento (MER), a agregação é um recurso usado quando um relacionamento inteiro precisa ser tratado como se fosse uma entidade para se relacionar com outra entidade.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endParaRPr lang="pt-BR"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É como se você elevasse um relacionamento ao status de "entidade temporária", para poder criar novas associações a partir dele.</a:t>
            </a:r>
            <a:endParaRPr lang="pt-BR" sz="1700" b="1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Agregação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9" name="Google Shape;249;p3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50" name="Google Shape;25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400" y="982413"/>
            <a:ext cx="7760438" cy="373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Agregação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56" name="Google Shape;25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8" name="Google Shape;258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9" name="Google Shape;259;p3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60" name="Google Shape;26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000" y="1020350"/>
            <a:ext cx="7992000" cy="32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2"/>
          <p:cNvSpPr txBox="1"/>
          <p:nvPr/>
        </p:nvSpPr>
        <p:spPr>
          <a:xfrm>
            <a:off x="3199050" y="4362008"/>
            <a:ext cx="4306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Sem utilizar Agregação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/>
          <p:nvPr/>
        </p:nvSpPr>
        <p:spPr>
          <a:xfrm>
            <a:off x="432750" y="101325"/>
            <a:ext cx="6463200" cy="321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18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EXERCÍCIO</a:t>
            </a:r>
            <a:endParaRPr sz="18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101346"/>
            <a:ext cx="1745200" cy="3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25" y="827154"/>
            <a:ext cx="6669719" cy="415379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6675275" y="549576"/>
            <a:ext cx="2347500" cy="470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Pensando na dificuldade de implementação, modele novamente este diagrama para evitar o ternário.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endParaRPr lang="pt-BR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A forma mais comum é criando entidades intermediárias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endParaRPr lang="pt-BR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Me entregue na próxima aula</a:t>
            </a:r>
            <a:br>
              <a:rPr lang="pt-BR" dirty="0">
                <a:latin typeface="Nunito"/>
                <a:ea typeface="Nunito"/>
                <a:cs typeface="Nunito"/>
                <a:sym typeface="Nunito"/>
              </a:rPr>
            </a:br>
            <a:br>
              <a:rPr lang="pt-BR" dirty="0">
                <a:latin typeface="Nunito"/>
                <a:ea typeface="Nunito"/>
                <a:cs typeface="Nunito"/>
                <a:sym typeface="Nunito"/>
              </a:rPr>
            </a:br>
            <a:r>
              <a:rPr lang="pt-BR" dirty="0">
                <a:latin typeface="Nunito"/>
                <a:ea typeface="Nunito"/>
                <a:cs typeface="Nunito"/>
                <a:sym typeface="Nunito"/>
                <a:hlinkClick r:id="rId5"/>
              </a:rPr>
              <a:t>https://erdplus-v2.com/trial</a:t>
            </a:r>
            <a:br>
              <a:rPr lang="pt-BR" dirty="0">
                <a:latin typeface="Nunito"/>
                <a:ea typeface="Nunito"/>
                <a:cs typeface="Nunito"/>
                <a:sym typeface="Nunito"/>
              </a:rPr>
            </a:br>
            <a:br>
              <a:rPr lang="pt-BR" dirty="0">
                <a:latin typeface="Nunito"/>
                <a:ea typeface="Nunito"/>
                <a:cs typeface="Nunito"/>
                <a:sym typeface="Nunito"/>
              </a:rPr>
            </a:br>
            <a:r>
              <a:rPr lang="pt-BR" dirty="0">
                <a:latin typeface="Nunito"/>
                <a:ea typeface="Nunito"/>
                <a:cs typeface="Nunito"/>
                <a:sym typeface="Nunito"/>
                <a:hlinkClick r:id="rId6"/>
              </a:rPr>
              <a:t>https://www.brmodeloweb.com/lang/pt-br/index.html</a:t>
            </a:r>
            <a:endParaRPr lang="pt-BR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endParaRPr lang="pt-BR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2423554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668</Words>
  <Application>Microsoft Office PowerPoint</Application>
  <PresentationFormat>Apresentação na tela (16:9)</PresentationFormat>
  <Paragraphs>148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Helvetica Neue</vt:lpstr>
      <vt:lpstr>Maven Pro SemiBold</vt:lpstr>
      <vt:lpstr>Nunito</vt:lpstr>
      <vt:lpstr>Maven Pro Medium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2</cp:revision>
  <dcterms:modified xsi:type="dcterms:W3CDTF">2025-08-10T20:45:04Z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2025-08-08T23:50:10Z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35495837-a90f-4ef2-9046-a764454dbb0f</vt:lpwstr>
  </property>
  <property fmtid="{D5CDD505-2E9C-101B-9397-08002B2CF9AE}" pid="7" name="MSIP_Label_defa4170-0d19-0005-0004-bc88714345d2_ActionId">
    <vt:lpwstr>20515f48-130b-4766-808f-f752a91fca98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