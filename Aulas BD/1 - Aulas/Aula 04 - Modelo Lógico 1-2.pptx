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315" r:id="rId10"/>
    <p:sldId id="316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9144000" cy="5143500" type="screen16x9"/>
  <p:notesSz cx="6858000" cy="9144000"/>
  <p:embeddedFontLst>
    <p:embeddedFont>
      <p:font typeface="Helvetica Neue" panose="020B0604020202020204" charset="0"/>
      <p:regular r:id="rId61"/>
      <p:bold r:id="rId62"/>
      <p:italic r:id="rId63"/>
      <p:boldItalic r:id="rId64"/>
    </p:embeddedFont>
    <p:embeddedFont>
      <p:font typeface="Maven Pro Medium" panose="020B0604020202020204" charset="0"/>
      <p:regular r:id="rId65"/>
      <p:bold r:id="rId66"/>
    </p:embeddedFont>
    <p:embeddedFont>
      <p:font typeface="Maven Pro SemiBold" panose="020B0604020202020204" charset="0"/>
      <p:regular r:id="rId67"/>
      <p:bold r:id="rId68"/>
    </p:embeddedFont>
    <p:embeddedFont>
      <p:font typeface="Nunito" panose="020B060402020202020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874" autoAdjust="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fd53d76b7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1efd53d76b7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c9230f28eb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g2c9230f28eb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c9230f28e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2c9230f28e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9230f28e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c9230f28eb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c9230f28eb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2c9230f28eb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c9230f28e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c9230f28e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4966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c935eb708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g2c935eb708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22029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c935eb708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c935eb708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c9230f28eb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g2c9230f28eb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c935eb708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2c935eb708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c935eb708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2c935eb708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935eb708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2c935eb708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0456e0fe9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220456e0fe9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c935eb708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2c935eb708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c935eb7080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2c935eb7080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c935eb7080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c935eb7080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c935eb708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2c935eb708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c935eb708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c935eb708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c935eb708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g2c935eb708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De um modo geral, uma restrição de unicidade </a:t>
            </a:r>
            <a:r>
              <a:rPr lang="pt-BR" b="0" i="0" dirty="0">
                <a:solidFill>
                  <a:srgbClr val="040C28"/>
                </a:solidFill>
                <a:effectLst/>
                <a:latin typeface="Google Sans"/>
              </a:rPr>
              <a:t>é violada quando existem (pelo menos) duas linhas na tabela onde os valores de cada uma das colunas correspondentes, que fazem parte da restrição, são iguais</a:t>
            </a:r>
            <a:r>
              <a:rPr lang="pt-BR" b="0" i="0" dirty="0">
                <a:solidFill>
                  <a:srgbClr val="474747"/>
                </a:solidFill>
                <a:effectLst/>
                <a:latin typeface="Google Sans"/>
              </a:rPr>
              <a:t>. Entretanto, os valores nulos não são considerados iguais nesta situação.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c935eb7080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c935eb7080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b="1" dirty="0"/>
              <a:t>Por que a chave alternativa deve ter valores únicos?</a:t>
            </a:r>
            <a:br>
              <a:rPr lang="pt-BR" dirty="0"/>
            </a:br>
            <a:r>
              <a:rPr lang="pt-BR" dirty="0"/>
              <a:t>Porque, por definição, uma chave candidata (seja primária ou alternativa) é um conjunto mínimo de atributos capaz de identificar unicamente cada linha.</a:t>
            </a:r>
            <a:br>
              <a:rPr lang="pt-BR" dirty="0"/>
            </a:br>
            <a:r>
              <a:rPr lang="pt-BR" dirty="0"/>
              <a:t>Mesmo não sendo usada como a identificação principal (</a:t>
            </a:r>
            <a:r>
              <a:rPr lang="pt-BR" dirty="0" err="1"/>
              <a:t>PK</a:t>
            </a:r>
            <a:r>
              <a:rPr lang="pt-BR" dirty="0"/>
              <a:t>), ela ainda precisa manter a </a:t>
            </a:r>
            <a:r>
              <a:rPr lang="pt-BR" b="1" dirty="0"/>
              <a:t>integridade de chave</a:t>
            </a:r>
            <a:r>
              <a:rPr lang="pt-BR" dirty="0"/>
              <a:t>, garantindo que não haja duplicação.</a:t>
            </a:r>
            <a:endParaRPr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935eb708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g2c935eb708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c935eb7080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g2c935eb7080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935eb7080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2c935eb7080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c935eb7080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2c935eb7080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pt-BR" dirty="0"/>
              <a:t>Mais intuitivo quando o vínculo é mais relevante do lado da </a:t>
            </a:r>
            <a:r>
              <a:rPr lang="pt-BR" b="1" dirty="0"/>
              <a:t>Pessoa</a:t>
            </a:r>
            <a:r>
              <a:rPr lang="pt-BR" dirty="0"/>
              <a:t> (ex.: “qual computador essa pessoa usa?”).</a:t>
            </a:r>
          </a:p>
          <a:p>
            <a:pPr marL="158750" indent="0">
              <a:buNone/>
            </a:pPr>
            <a:endParaRPr lang="pt-BR" dirty="0"/>
          </a:p>
          <a:p>
            <a:pPr marL="158750" indent="0">
              <a:buNone/>
            </a:pPr>
            <a:r>
              <a:rPr lang="pt-BR" dirty="0"/>
              <a:t>Facilita consultas a partir da Pessoa.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c935eb708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2c935eb708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 algn="just">
              <a:buNone/>
            </a:pPr>
            <a:r>
              <a:rPr lang="pt-BR" sz="1100" b="0" dirty="0"/>
              <a:t>Mais intuitivo quando o vínculo é mais relevante do lado do Computador (ex.: “quem está usando este computador?”).</a:t>
            </a:r>
          </a:p>
          <a:p>
            <a:pPr algn="just"/>
            <a:endParaRPr lang="pt-BR" sz="1100" b="0" dirty="0"/>
          </a:p>
          <a:p>
            <a:pPr marL="158750" indent="0" algn="just">
              <a:buNone/>
            </a:pPr>
            <a:r>
              <a:rPr lang="pt-BR" sz="1100" b="0" dirty="0"/>
              <a:t>Facilita consultas a partir do Computador.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c935eb7080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2c935eb7080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c935eb7080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g2c935eb7080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c935eb7080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2c935eb7080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c935eb7080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0" name="Google Shape;390;g2c935eb7080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c935eb7080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1" name="Google Shape;401;g2c935eb7080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935eb708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2c935eb708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c935eb7080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2c935eb7080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c935eb7080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2c935eb7080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c935eb7080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2c935eb7080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c935eb7080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g2c935eb7080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c935eb7080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g2c935eb7080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c935eb7080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g2c935eb7080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c935eb7080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4" name="Google Shape;484;g2c935eb7080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c935eb7080_0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4" name="Google Shape;494;g2c935eb7080_0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c935eb7080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4" name="Google Shape;504;g2c935eb7080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c935eb7080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c935eb7080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c935eb7080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5" name="Google Shape;525;g2c935eb7080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c935eb7080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5" name="Google Shape;535;g2c935eb7080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c935eb7080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6" name="Google Shape;546;g2c935eb7080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c935eb7080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6" name="Google Shape;566;g2c935eb7080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c935eb7080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g2c935eb7080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2c935eb7080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6" name="Google Shape;586;g2c935eb7080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c935eb7080_0_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g2c935eb7080_0_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c935eb7080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5" name="Google Shape;615;g2c935eb7080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c935eb7080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3" name="Google Shape;633;g2c935eb7080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c935eb7080_0_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3" name="Google Shape;643;g2c935eb7080_0_3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c935eb7080_0_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4" name="Google Shape;654;g2c935eb7080_0_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c935eb7080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4" name="Google Shape;664;g2c935eb7080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c935eb7080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5" name="Google Shape;675;g2c935eb7080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5" name="Google Shape;685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3263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Introdução ao Modelo Lógico/Relacional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1/2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pic>
        <p:nvPicPr>
          <p:cNvPr id="7" name="Google Shape;60;p13" descr="Imagem">
            <a:extLst>
              <a:ext uri="{FF2B5EF4-FFF2-40B4-BE49-F238E27FC236}">
                <a16:creationId xmlns:a16="http://schemas.microsoft.com/office/drawing/2014/main" id="{2BF2E059-EA2C-4DF8-B0B0-DB32EB64D60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90017" y="323891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8200" y="1189075"/>
            <a:ext cx="8279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Terminado o projeto conceitual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, precisamos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criar o projeto lógico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do banco de dados;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projeto lógico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 descreve </a:t>
            </a:r>
            <a:r>
              <a:rPr lang="pt-BR" sz="2000" b="1" i="1">
                <a:latin typeface="Nunito"/>
                <a:ea typeface="Nunito"/>
                <a:cs typeface="Nunito"/>
                <a:sym typeface="Nunito"/>
              </a:rPr>
              <a:t>como será a estrutura do banco de dados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Mostrando as informações que serão armazenadas e como elas serão organizadas;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88" name="Google Shape;88;p1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418200" y="1417675"/>
            <a:ext cx="82791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Diferentemente do projeto conceitual, que é voltado para a validação com o cliente, o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projeto lógico é voltado para a equipe de desenvolvimento;</a:t>
            </a:r>
            <a:endParaRPr sz="2000" b="1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2000" b="1">
                <a:latin typeface="Nunito"/>
                <a:ea typeface="Nunito"/>
                <a:cs typeface="Nunito"/>
                <a:sym typeface="Nunito"/>
              </a:rPr>
              <a:t>administrador 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do banco de dados usa o projeto lógico como </a:t>
            </a:r>
            <a:r>
              <a:rPr lang="pt-BR" sz="2000" u="sng">
                <a:latin typeface="Nunito"/>
                <a:ea typeface="Nunito"/>
                <a:cs typeface="Nunito"/>
                <a:sym typeface="Nunito"/>
              </a:rPr>
              <a:t>guia para a implementação do banco de dados</a:t>
            </a: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Introdução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98" name="Google Shape;98;p1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418200" y="1036675"/>
            <a:ext cx="5637300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Modelo Relacional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foi introduzido por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Edgar Frank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Codd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em 1970. 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Organiza os dados em uma estrutura de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tabelas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bidimensionais denominadas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relações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linha da tabela (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tupla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)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representa um elemento do conjunto de dados;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coluna da tabela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(atributo)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contém valores de um conjunto definido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(domínio)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4525" y="982400"/>
            <a:ext cx="2143300" cy="373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Conceitos Básicos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418200" y="11890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Correspondem ao principal elemento do modelo relacional;</a:t>
            </a: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Todas as informações de um banco de dados relacional são armazenadas em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tabelas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banco de dados é representado como uma coleção de relações (tabelas).</a:t>
            </a: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tabela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representa uma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relação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 deve ter um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nome distinto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28" name="Google Shape;128;p2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18200" y="960475"/>
            <a:ext cx="827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Exemplo de uma tabela no modelo relacional: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031" y="2067174"/>
            <a:ext cx="6188533" cy="2192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Conector de Seta Reta 2">
            <a:extLst>
              <a:ext uri="{FF2B5EF4-FFF2-40B4-BE49-F238E27FC236}">
                <a16:creationId xmlns:a16="http://schemas.microsoft.com/office/drawing/2014/main" id="{AFF9ADCD-9866-4697-B686-9A0CE066E47C}"/>
              </a:ext>
            </a:extLst>
          </p:cNvPr>
          <p:cNvCxnSpPr/>
          <p:nvPr/>
        </p:nvCxnSpPr>
        <p:spPr>
          <a:xfrm flipV="1">
            <a:off x="1393031" y="1728788"/>
            <a:ext cx="414338" cy="407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539C9F7B-C0AD-45E5-976A-048F522DC856}"/>
              </a:ext>
            </a:extLst>
          </p:cNvPr>
          <p:cNvCxnSpPr>
            <a:cxnSpLocks/>
          </p:cNvCxnSpPr>
          <p:nvPr/>
        </p:nvCxnSpPr>
        <p:spPr>
          <a:xfrm>
            <a:off x="6572250" y="2757488"/>
            <a:ext cx="53578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94A275A-E621-4766-8C89-6675B5310193}"/>
              </a:ext>
            </a:extLst>
          </p:cNvPr>
          <p:cNvSpPr txBox="1"/>
          <p:nvPr/>
        </p:nvSpPr>
        <p:spPr>
          <a:xfrm>
            <a:off x="1807369" y="146851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800" dirty="0"/>
              <a:t>Atributo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0BE6076-35C6-4101-A410-75C452A36039}"/>
              </a:ext>
            </a:extLst>
          </p:cNvPr>
          <p:cNvSpPr txBox="1"/>
          <p:nvPr/>
        </p:nvSpPr>
        <p:spPr>
          <a:xfrm>
            <a:off x="7173990" y="2288630"/>
            <a:ext cx="18963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Tupla</a:t>
            </a:r>
            <a:r>
              <a:rPr lang="pt-BR" b="1" dirty="0"/>
              <a:t>?</a:t>
            </a:r>
          </a:p>
          <a:p>
            <a:r>
              <a:rPr lang="pt-BR" dirty="0"/>
              <a:t>registro completo que representa uma ocorrência específica de uma entidade.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 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tabela é um conjunto desordenado de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tuplas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exclusivas.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1. Por que desordenado?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Em teoria de conjuntos (base do modelo relacional), conjuntos não têm ordem.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Isso significa que, na lógica do banco de dados, a ordem física em que as linhas são armazenadas ou exibidas não importa — você define a ordem apenas no momento da consulta 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Por isso, tecnicamente, não existe "primeira" ou "última" linha a não ser que se imponha uma ordenação.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Cada tabela é um conjunto desordenado de </a:t>
            </a:r>
            <a:r>
              <a:rPr lang="pt-BR" sz="2000" b="1" dirty="0" err="1">
                <a:latin typeface="Nunito"/>
                <a:ea typeface="Nunito"/>
                <a:cs typeface="Nunito"/>
                <a:sym typeface="Nunito"/>
              </a:rPr>
              <a:t>tuplas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exclusivas.</a:t>
            </a: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101600" lvl="0" algn="l" rtl="0">
              <a:spcBef>
                <a:spcPts val="0"/>
              </a:spcBef>
              <a:spcAft>
                <a:spcPts val="0"/>
              </a:spcAft>
              <a:buSzPts val="2000"/>
            </a:pP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2. Por que exclusivas?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No modelo relacional, cada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tupla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(linha) deve ser única para evitar duplicidade de registros que representem exatamente o mesmo elemento do conjunto.  </a:t>
            </a: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 exclusividade das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tuplas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se dá por meio das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chaves primárias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799471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 dirty="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</a:t>
            </a:r>
            <a:endParaRPr sz="2000" b="0" i="0" u="none" strike="noStrike" cap="none" dirty="0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10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418200" y="884275"/>
            <a:ext cx="8279100" cy="2646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Valor do campo deve ser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atômico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: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Simples (não é divisível); e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Monovalorado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(só possui um valor).</a:t>
            </a: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O relacionamento das tabelas se dá por meio de </a:t>
            </a:r>
            <a:r>
              <a:rPr lang="pt-BR" sz="2000" b="1" dirty="0">
                <a:latin typeface="Nunito"/>
                <a:ea typeface="Nunito"/>
                <a:cs typeface="Nunito"/>
                <a:sym typeface="Nunito"/>
              </a:rPr>
              <a:t>Chaves estrangeiras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. </a:t>
            </a:r>
          </a:p>
          <a:p>
            <a:pPr marL="558800" lvl="1" algn="l" rtl="0">
              <a:spcBef>
                <a:spcPts val="0"/>
              </a:spcBef>
              <a:spcAft>
                <a:spcPts val="0"/>
              </a:spcAft>
              <a:buSzPts val="2000"/>
            </a:pPr>
            <a:endParaRPr lang="pt-BR"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416225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017" y="947087"/>
            <a:ext cx="7160459" cy="382706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Tabelas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11</a:t>
            </a:fld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Chaves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59" name="Google Shape;159;p2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60" name="Google Shape;160;p23"/>
          <p:cNvSpPr txBox="1"/>
          <p:nvPr/>
        </p:nvSpPr>
        <p:spPr>
          <a:xfrm>
            <a:off x="418200" y="1265275"/>
            <a:ext cx="82791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candidatas;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primárias;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alternativas ou alternadas; e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estrangeiras.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66" name="Google Shape;16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18200" y="1493875"/>
            <a:ext cx="82791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Coluna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ou </a:t>
            </a:r>
            <a:r>
              <a:rPr lang="pt-BR" sz="2000" u="sng" dirty="0">
                <a:latin typeface="Nunito"/>
                <a:ea typeface="Nunito"/>
                <a:cs typeface="Nunito"/>
                <a:sym typeface="Nunito"/>
              </a:rPr>
              <a:t>combinação de colunas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cujos valores distinguem uma linha das demais dentro de uma tabela.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Propriedades: 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Única;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Campos obrigatórios (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not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2000" dirty="0" err="1">
                <a:latin typeface="Nunito"/>
                <a:ea typeface="Nunito"/>
                <a:cs typeface="Nunito"/>
                <a:sym typeface="Nunito"/>
              </a:rPr>
              <a:t>null</a:t>
            </a: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); e 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Irredutível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 Um conjunto de atributos é irredutível quando não é possível remover nenhum atributo dele sem perder a capacidade de identificar unicamente uma </a:t>
            </a:r>
            <a:r>
              <a:rPr lang="pt-BR" sz="2000" dirty="0" err="1">
                <a:latin typeface="Nunito"/>
                <a:ea typeface="Nunito"/>
                <a:cs typeface="Nunito"/>
                <a:sym typeface="Wingdings" panose="05000000000000000000" pitchFamily="2" charset="2"/>
              </a:rPr>
              <a:t>tupla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526" y="976475"/>
            <a:ext cx="6565699" cy="376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024" y="1667588"/>
            <a:ext cx="3389150" cy="17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187" name="Google Shape;18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89" name="Google Shape;189;p2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15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418200" y="808075"/>
            <a:ext cx="82791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Candidatas </a:t>
            </a:r>
            <a:r>
              <a:rPr lang="pt-BR" sz="2000" dirty="0">
                <a:latin typeface="Nunito"/>
                <a:ea typeface="Nunito"/>
                <a:cs typeface="Nunito"/>
                <a:sym typeface="Wingdings" panose="05000000000000000000" pitchFamily="2" charset="2"/>
              </a:rPr>
              <a:t> “uma possível chave primária”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Primárias; e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 dirty="0">
                <a:latin typeface="Nunito"/>
                <a:ea typeface="Nunito"/>
                <a:cs typeface="Nunito"/>
                <a:sym typeface="Nunito"/>
              </a:rPr>
              <a:t>Alternativas ou alternadas.</a:t>
            </a:r>
            <a:endParaRPr sz="2000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17B0709-96EE-4E6B-AA4B-1C676EAE6735}"/>
              </a:ext>
            </a:extLst>
          </p:cNvPr>
          <p:cNvSpPr txBox="1"/>
          <p:nvPr/>
        </p:nvSpPr>
        <p:spPr>
          <a:xfrm>
            <a:off x="2253891" y="3652600"/>
            <a:ext cx="46077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Uma tabela pode ter várias chaves candidatas.</a:t>
            </a:r>
          </a:p>
          <a:p>
            <a:r>
              <a:rPr lang="pt-BR" b="1" dirty="0"/>
              <a:t>Entre elas, uma é escolhida como chave primária; as outras ficam como chaves alternativas.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8024" y="1667588"/>
            <a:ext cx="3389150" cy="172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Primária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11" name="Google Shape;211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16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15" name="Google Shape;215;p28"/>
          <p:cNvSpPr txBox="1"/>
          <p:nvPr/>
        </p:nvSpPr>
        <p:spPr>
          <a:xfrm>
            <a:off x="418200" y="808075"/>
            <a:ext cx="8279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Candidatas;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Primárias; e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Alternativas ou alternadas.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635475" y="3513625"/>
            <a:ext cx="3389100" cy="131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Chaves candidatas: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 e Matricula.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Primária: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Alternativa ou alternada: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Matrícula.</a:t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5251050" y="3475525"/>
            <a:ext cx="3389100" cy="1313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Chaves candidatas: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 e Matricula.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Primária: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Matrícula.</a:t>
            </a:r>
            <a:endParaRPr/>
          </a:p>
          <a:p>
            <a:pPr marL="457200" lvl="0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t-BR"/>
              <a:t>Chave Alternativa ou alternada:</a:t>
            </a:r>
            <a:endParaRPr/>
          </a:p>
          <a:p>
            <a:pPr marL="914400" lvl="1" indent="-317500" algn="just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CPF.</a:t>
            </a:r>
            <a:endParaRPr/>
          </a:p>
        </p:txBody>
      </p:sp>
      <p:sp>
        <p:nvSpPr>
          <p:cNvPr id="218" name="Google Shape;218;p28"/>
          <p:cNvSpPr txBox="1"/>
          <p:nvPr/>
        </p:nvSpPr>
        <p:spPr>
          <a:xfrm>
            <a:off x="635475" y="31134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Possibilidade 1 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" name="Google Shape;219;p28"/>
          <p:cNvSpPr txBox="1"/>
          <p:nvPr/>
        </p:nvSpPr>
        <p:spPr>
          <a:xfrm>
            <a:off x="6215450" y="3034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Possibilidade 2 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Estrangeira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28" name="Google Shape;228;p2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17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29" name="Google Shape;229;p29"/>
          <p:cNvSpPr txBox="1"/>
          <p:nvPr/>
        </p:nvSpPr>
        <p:spPr>
          <a:xfrm>
            <a:off x="418200" y="884275"/>
            <a:ext cx="8375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Coluna ou combinação de colunas, cujos valores aparecem na chave primária (candidata) da tabela referenciada.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Mecanismo que permite a implementação de relacionamentos em um banco de dados relacional.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0" name="Google Shape;23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081" y="2043350"/>
            <a:ext cx="4638543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9"/>
          <p:cNvSpPr/>
          <p:nvPr/>
        </p:nvSpPr>
        <p:spPr>
          <a:xfrm>
            <a:off x="1889225" y="3001400"/>
            <a:ext cx="5096100" cy="1741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9"/>
          <p:cNvSpPr txBox="1"/>
          <p:nvPr/>
        </p:nvSpPr>
        <p:spPr>
          <a:xfrm>
            <a:off x="498775" y="2470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Conceitual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Estrangeira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0" name="Google Shape;240;p3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41" name="Google Shape;241;p3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18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418200" y="884275"/>
            <a:ext cx="8375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Coluna ou combinação de colunas, cujos valores aparecem na chave primária (candidata) da tabela referenciada.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Mecanismo que permite a implementação de relacionamentos em um banco de dados relacional.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3" name="Google Shape;2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8006" y="1930975"/>
            <a:ext cx="4638543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0"/>
          <p:cNvSpPr/>
          <p:nvPr/>
        </p:nvSpPr>
        <p:spPr>
          <a:xfrm>
            <a:off x="3498775" y="3072650"/>
            <a:ext cx="1562400" cy="26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0"/>
          <p:cNvSpPr txBox="1"/>
          <p:nvPr/>
        </p:nvSpPr>
        <p:spPr>
          <a:xfrm>
            <a:off x="498775" y="2470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Conceitual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551100" y="3907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Lógico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7" name="Google Shape;247;p30"/>
          <p:cNvPicPr preferRelativeResize="0"/>
          <p:nvPr/>
        </p:nvPicPr>
        <p:blipFill rotWithShape="1">
          <a:blip r:embed="rId4">
            <a:alphaModFix/>
          </a:blip>
          <a:srcRect t="55789"/>
          <a:stretch/>
        </p:blipFill>
        <p:spPr>
          <a:xfrm>
            <a:off x="1230275" y="2967950"/>
            <a:ext cx="7044495" cy="180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Chave Estrangeira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53" name="Google Shape;25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56" name="Google Shape;256;p3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19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418200" y="884275"/>
            <a:ext cx="83757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Coluna ou combinação de colunas, cujos valores aparecem na chave primária (candidata) da tabela referenciada.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pt-BR" dirty="0">
                <a:latin typeface="Nunito"/>
                <a:ea typeface="Nunito"/>
                <a:cs typeface="Nunito"/>
                <a:sym typeface="Nunito"/>
              </a:rPr>
              <a:t>Mecanismo que permite a implementação de relacionamentos em um banco de dados relacional.</a:t>
            </a: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8" name="Google Shape;25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081" y="2043350"/>
            <a:ext cx="4638543" cy="26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1"/>
          <p:cNvSpPr/>
          <p:nvPr/>
        </p:nvSpPr>
        <p:spPr>
          <a:xfrm>
            <a:off x="3498775" y="3072650"/>
            <a:ext cx="1562400" cy="269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"/>
          <p:cNvSpPr txBox="1"/>
          <p:nvPr/>
        </p:nvSpPr>
        <p:spPr>
          <a:xfrm>
            <a:off x="498775" y="24705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Conceitual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551100" y="3907725"/>
            <a:ext cx="129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Lógico</a:t>
            </a:r>
            <a:endParaRPr b="1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2" name="Google Shape;26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68791" y="3341750"/>
            <a:ext cx="5334358" cy="144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1"/>
          <p:cNvSpPr/>
          <p:nvPr/>
        </p:nvSpPr>
        <p:spPr>
          <a:xfrm>
            <a:off x="3735750" y="3374688"/>
            <a:ext cx="1672500" cy="247800"/>
          </a:xfrm>
          <a:custGeom>
            <a:avLst/>
            <a:gdLst/>
            <a:ahLst/>
            <a:cxnLst/>
            <a:rect l="l" t="t" r="r" b="b"/>
            <a:pathLst>
              <a:path w="66900" h="9912" extrusionOk="0">
                <a:moveTo>
                  <a:pt x="0" y="9913"/>
                </a:moveTo>
                <a:cubicBezTo>
                  <a:pt x="4400" y="8263"/>
                  <a:pt x="15250" y="113"/>
                  <a:pt x="26400" y="13"/>
                </a:cubicBezTo>
                <a:cubicBezTo>
                  <a:pt x="37550" y="-87"/>
                  <a:pt x="60150" y="7763"/>
                  <a:pt x="66900" y="931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69" name="Google Shape;269;p3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70" name="Google Shape;270;p32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71" name="Google Shape;27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Restrições de Integridade</a:t>
            </a:r>
            <a:endParaRPr sz="32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Restrições de Integridade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78" name="Google Shape;27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81" name="Google Shape;281;p3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21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418200" y="808075"/>
            <a:ext cx="82791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É uma regra de consistência de dados que é garantida pelo próprio SGBD.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Restrições de Integridade Básicas;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de Domínio;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de Vazio;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de Chave;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Referencial;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de Unicidade;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○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Integridade de Entidade.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São garantidas automaticamente pelo SGBD Relacional.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Nunito"/>
              <a:buChar char="●"/>
            </a:pPr>
            <a:r>
              <a:rPr lang="pt-BR" sz="2000">
                <a:latin typeface="Nunito"/>
                <a:ea typeface="Nunito"/>
                <a:cs typeface="Nunito"/>
                <a:sym typeface="Nunito"/>
              </a:rPr>
              <a:t>O programador não precisa implementá-las.</a:t>
            </a:r>
            <a:endParaRPr sz="2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Restrições de Integridade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88" name="Google Shape;288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291" name="Google Shape;291;p3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418200" y="808075"/>
            <a:ext cx="82791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 de Domínio: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Define os valores que podem ser assumidos pelos campos de uma coluna.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 de Vazio: </a:t>
            </a:r>
            <a:endParaRPr sz="1700" b="1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Especifica se os campos de uma coluna podem ou não ser vazios.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>
                <a:latin typeface="Nunito"/>
                <a:ea typeface="Nunito"/>
                <a:cs typeface="Nunito"/>
                <a:sym typeface="Nunito"/>
              </a:rPr>
              <a:t>Integridade de Unicidade:</a:t>
            </a: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>
                <a:latin typeface="Nunito"/>
                <a:ea typeface="Nunito"/>
                <a:cs typeface="Nunito"/>
                <a:sym typeface="Nunito"/>
              </a:rPr>
              <a:t>Define que o valor do campo ou campos são únicos.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3" name="Google Shape;2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7400" y="2715175"/>
            <a:ext cx="4984789" cy="200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Restrições de Integridade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299" name="Google Shape;29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02" name="Google Shape;302;p3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03" name="Google Shape;303;p35"/>
          <p:cNvSpPr txBox="1"/>
          <p:nvPr/>
        </p:nvSpPr>
        <p:spPr>
          <a:xfrm>
            <a:off x="418200" y="808075"/>
            <a:ext cx="82791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Integridade de Chave: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Define que os valores da chave primária e alternativa devem ser únicos. 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Integridade de Entidade: </a:t>
            </a:r>
            <a:endParaRPr sz="1700" b="1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Define que nenhum valor da chave primária pode ser nulo (obrigatório).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4" name="Google Shape;30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163" y="2191975"/>
            <a:ext cx="4116229" cy="252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Restrições de Integridade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3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13" name="Google Shape;313;p3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24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314" name="Google Shape;314;p36"/>
          <p:cNvSpPr txBox="1"/>
          <p:nvPr/>
        </p:nvSpPr>
        <p:spPr>
          <a:xfrm>
            <a:off x="418200" y="808075"/>
            <a:ext cx="8279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pt-BR" sz="1700" b="1" dirty="0">
                <a:latin typeface="Nunito"/>
                <a:ea typeface="Nunito"/>
                <a:cs typeface="Nunito"/>
                <a:sym typeface="Nunito"/>
              </a:rPr>
              <a:t>Integridade Referencial:</a:t>
            </a: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 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○"/>
            </a:pPr>
            <a:r>
              <a:rPr lang="pt-BR" sz="1700" dirty="0">
                <a:latin typeface="Nunito"/>
                <a:ea typeface="Nunito"/>
                <a:cs typeface="Nunito"/>
                <a:sym typeface="Nunito"/>
              </a:rPr>
              <a:t>Define que os valores dos campos que aparecem numa chave estrangeira devem aparecer na chave primária (candidata) da tabela referenciada.</a:t>
            </a:r>
            <a:endParaRPr sz="1700" dirty="0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5" name="Google Shape;3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500" y="2541600"/>
            <a:ext cx="5701850" cy="17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6"/>
          <p:cNvSpPr/>
          <p:nvPr/>
        </p:nvSpPr>
        <p:spPr>
          <a:xfrm>
            <a:off x="3498516" y="2580632"/>
            <a:ext cx="1787735" cy="293643"/>
          </a:xfrm>
          <a:custGeom>
            <a:avLst/>
            <a:gdLst/>
            <a:ahLst/>
            <a:cxnLst/>
            <a:rect l="l" t="t" r="r" b="b"/>
            <a:pathLst>
              <a:path w="66900" h="9912" extrusionOk="0">
                <a:moveTo>
                  <a:pt x="0" y="9913"/>
                </a:moveTo>
                <a:cubicBezTo>
                  <a:pt x="4400" y="8263"/>
                  <a:pt x="15250" y="113"/>
                  <a:pt x="26400" y="13"/>
                </a:cubicBezTo>
                <a:cubicBezTo>
                  <a:pt x="37550" y="-87"/>
                  <a:pt x="60150" y="7763"/>
                  <a:pt x="66900" y="931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2" name="Google Shape;322;p3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23" name="Google Shape;323;p37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24" name="Google Shape;32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7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Modelo Relacional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Cardinalidade 1:1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31" name="Google Shape;331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34" name="Google Shape;334;p3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35" name="Google Shape;33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822" y="861225"/>
            <a:ext cx="5942916" cy="39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8"/>
          <p:cNvSpPr/>
          <p:nvPr/>
        </p:nvSpPr>
        <p:spPr>
          <a:xfrm>
            <a:off x="742500" y="2527500"/>
            <a:ext cx="7222500" cy="232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42" name="Google Shape;34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45" name="Google Shape;345;p3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46" name="Google Shape;34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822" y="861225"/>
            <a:ext cx="5942916" cy="3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52" name="Google Shape;35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4" name="Google Shape;354;p4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55" name="Google Shape;355;p4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56" name="Google Shape;35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800" y="849625"/>
            <a:ext cx="5920951" cy="400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62" name="Google Shape;36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4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4" name="Google Shape;364;p4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65" name="Google Shape;365;p4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29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66" name="Google Shape;36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209" y="830000"/>
            <a:ext cx="5950140" cy="40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1"/>
          <p:cNvSpPr/>
          <p:nvPr/>
        </p:nvSpPr>
        <p:spPr>
          <a:xfrm>
            <a:off x="742500" y="2527500"/>
            <a:ext cx="7222500" cy="232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73" name="Google Shape;373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76" name="Google Shape;376;p4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77" name="Google Shape;3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209" y="830000"/>
            <a:ext cx="5950140" cy="402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83" name="Google Shape;38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86" name="Google Shape;386;p4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87" name="Google Shape;38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475" y="872475"/>
            <a:ext cx="5443588" cy="3958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393" name="Google Shape;39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5" name="Google Shape;395;p4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396" name="Google Shape;396;p4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397" name="Google Shape;39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717" y="867188"/>
            <a:ext cx="5835106" cy="3969562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4"/>
          <p:cNvSpPr/>
          <p:nvPr/>
        </p:nvSpPr>
        <p:spPr>
          <a:xfrm>
            <a:off x="742500" y="2527500"/>
            <a:ext cx="7222500" cy="232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04" name="Google Shape;40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4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6" name="Google Shape;406;p4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07" name="Google Shape;407;p4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08" name="Google Shape;40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717" y="867188"/>
            <a:ext cx="5835106" cy="396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14" name="Google Shape;414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6" name="Google Shape;416;p4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17" name="Google Shape;417;p4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18" name="Google Shape;41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3444" y="879963"/>
            <a:ext cx="5407667" cy="394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24" name="Google Shape;42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27" name="Google Shape;427;p4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28" name="Google Shape;42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7354" y="857463"/>
            <a:ext cx="5459845" cy="3988974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7"/>
          <p:cNvSpPr/>
          <p:nvPr/>
        </p:nvSpPr>
        <p:spPr>
          <a:xfrm>
            <a:off x="742500" y="2527500"/>
            <a:ext cx="7222500" cy="232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47"/>
          <p:cNvSpPr/>
          <p:nvPr/>
        </p:nvSpPr>
        <p:spPr>
          <a:xfrm>
            <a:off x="684900" y="2602500"/>
            <a:ext cx="7222500" cy="2212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1:1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36" name="Google Shape;43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8" name="Google Shape;438;p4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39" name="Google Shape;439;p4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40" name="Google Shape;44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7354" y="857463"/>
            <a:ext cx="5459845" cy="398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6" name="Google Shape;446;p4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47" name="Google Shape;447;p49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48" name="Google Shape;44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49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Modelo Relacional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Cardinalidade 1:N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55" name="Google Shape;45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5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7" name="Google Shape;457;p5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58" name="Google Shape;458;p5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59" name="Google Shape;459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931" y="872475"/>
            <a:ext cx="5912694" cy="39589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50"/>
          <p:cNvSpPr/>
          <p:nvPr/>
        </p:nvSpPr>
        <p:spPr>
          <a:xfrm>
            <a:off x="742500" y="2548800"/>
            <a:ext cx="7222500" cy="228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1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66" name="Google Shape;466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8" name="Google Shape;468;p5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69" name="Google Shape;469;p51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39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70" name="Google Shape;47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0931" y="872475"/>
            <a:ext cx="5912694" cy="395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76" name="Google Shape;47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8" name="Google Shape;478;p5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79" name="Google Shape;479;p5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80" name="Google Shape;48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965" y="906225"/>
            <a:ext cx="5888624" cy="39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2"/>
          <p:cNvSpPr/>
          <p:nvPr/>
        </p:nvSpPr>
        <p:spPr>
          <a:xfrm>
            <a:off x="742500" y="2571750"/>
            <a:ext cx="7222500" cy="230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87" name="Google Shape;487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89" name="Google Shape;489;p5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0" name="Google Shape;490;p5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491" name="Google Shape;491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2965" y="906225"/>
            <a:ext cx="5888624" cy="39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497" name="Google Shape;497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499" name="Google Shape;499;p5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0" name="Google Shape;500;p5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01" name="Google Shape;501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9213" y="853725"/>
            <a:ext cx="5505572" cy="39964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64ED9D8-3D29-44A0-B986-DD87038CD9D3}"/>
              </a:ext>
            </a:extLst>
          </p:cNvPr>
          <p:cNvSpPr txBox="1"/>
          <p:nvPr/>
        </p:nvSpPr>
        <p:spPr>
          <a:xfrm>
            <a:off x="7319697" y="2221263"/>
            <a:ext cx="182430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Essa imagem ilustra um exemplo de violação da integridade referencial no modelo lógico.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07" name="Google Shape;50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5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09" name="Google Shape;509;p5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0" name="Google Shape;510;p5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11" name="Google Shape;51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3888" y="859475"/>
            <a:ext cx="5916225" cy="39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17" name="Google Shape;517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5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19" name="Google Shape;519;p5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20" name="Google Shape;520;p5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21" name="Google Shape;52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600" y="900175"/>
            <a:ext cx="6791362" cy="3973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56"/>
          <p:cNvSpPr/>
          <p:nvPr/>
        </p:nvSpPr>
        <p:spPr>
          <a:xfrm>
            <a:off x="742500" y="2548800"/>
            <a:ext cx="7222500" cy="228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1:N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28" name="Google Shape;528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0" name="Google Shape;530;p5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31" name="Google Shape;531;p5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32" name="Google Shape;53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600" y="900175"/>
            <a:ext cx="6791362" cy="3973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 Identificador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38" name="Google Shape;538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5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0" name="Google Shape;540;p5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41" name="Google Shape;541;p5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42" name="Google Shape;542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38" y="863150"/>
            <a:ext cx="5902882" cy="397761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8"/>
          <p:cNvSpPr/>
          <p:nvPr/>
        </p:nvSpPr>
        <p:spPr>
          <a:xfrm>
            <a:off x="742500" y="2548800"/>
            <a:ext cx="7222500" cy="228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Relacionamento Identificador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49" name="Google Shape;54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5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1" name="Google Shape;551;p5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52" name="Google Shape;552;p5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53" name="Google Shape;5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838" y="863150"/>
            <a:ext cx="5902882" cy="3977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1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69" name="Google Shape;569;p61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70" name="Google Shape;570;p61"/>
          <p:cNvSpPr txBox="1">
            <a:spLocks noGrp="1"/>
          </p:cNvSpPr>
          <p:nvPr>
            <p:ph type="sldNum" idx="12"/>
          </p:nvPr>
        </p:nvSpPr>
        <p:spPr>
          <a:xfrm>
            <a:off x="8673733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48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71" name="Google Shape;571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425" y="56679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1"/>
          <p:cNvSpPr/>
          <p:nvPr/>
        </p:nvSpPr>
        <p:spPr>
          <a:xfrm>
            <a:off x="508325" y="17195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Modelo Relacional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Cardinalidade N:N</a:t>
            </a:r>
            <a:endParaRPr sz="3200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2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78" name="Google Shape;578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62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80" name="Google Shape;580;p62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81" name="Google Shape;581;p62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49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82" name="Google Shape;582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342" y="839125"/>
            <a:ext cx="5955309" cy="40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62"/>
          <p:cNvSpPr/>
          <p:nvPr/>
        </p:nvSpPr>
        <p:spPr>
          <a:xfrm>
            <a:off x="742500" y="2548800"/>
            <a:ext cx="7222500" cy="2282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63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589" name="Google Shape;58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3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91" name="Google Shape;591;p63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592" name="Google Shape;592;p63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50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593" name="Google Shape;59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342" y="839125"/>
            <a:ext cx="5955309" cy="40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63"/>
          <p:cNvSpPr/>
          <p:nvPr/>
        </p:nvSpPr>
        <p:spPr>
          <a:xfrm>
            <a:off x="742500" y="3052500"/>
            <a:ext cx="72225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63"/>
          <p:cNvSpPr/>
          <p:nvPr/>
        </p:nvSpPr>
        <p:spPr>
          <a:xfrm>
            <a:off x="1224900" y="2724900"/>
            <a:ext cx="22401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6" name="Google Shape;596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874" y="2995150"/>
            <a:ext cx="2616176" cy="177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4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02" name="Google Shape;602;p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64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04" name="Google Shape;604;p64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05" name="Google Shape;605;p64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51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06" name="Google Shape;60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342" y="839125"/>
            <a:ext cx="5955309" cy="40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4"/>
          <p:cNvSpPr/>
          <p:nvPr/>
        </p:nvSpPr>
        <p:spPr>
          <a:xfrm>
            <a:off x="742500" y="3052500"/>
            <a:ext cx="72225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4"/>
          <p:cNvSpPr/>
          <p:nvPr/>
        </p:nvSpPr>
        <p:spPr>
          <a:xfrm>
            <a:off x="1224900" y="2724900"/>
            <a:ext cx="22401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9" name="Google Shape;60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874" y="2995150"/>
            <a:ext cx="2616176" cy="17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1025" y="3067900"/>
            <a:ext cx="2950813" cy="174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64"/>
          <p:cNvCxnSpPr/>
          <p:nvPr/>
        </p:nvCxnSpPr>
        <p:spPr>
          <a:xfrm>
            <a:off x="2887500" y="3240000"/>
            <a:ext cx="870000" cy="153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2" name="Google Shape;612;p64"/>
          <p:cNvCxnSpPr/>
          <p:nvPr/>
        </p:nvCxnSpPr>
        <p:spPr>
          <a:xfrm flipH="1">
            <a:off x="2842500" y="3255000"/>
            <a:ext cx="877500" cy="150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65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18" name="Google Shape;618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65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20" name="Google Shape;620;p65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21" name="Google Shape;621;p65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52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22" name="Google Shape;62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342" y="839125"/>
            <a:ext cx="5955309" cy="402566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65"/>
          <p:cNvSpPr/>
          <p:nvPr/>
        </p:nvSpPr>
        <p:spPr>
          <a:xfrm>
            <a:off x="742500" y="3052500"/>
            <a:ext cx="72225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65"/>
          <p:cNvSpPr/>
          <p:nvPr/>
        </p:nvSpPr>
        <p:spPr>
          <a:xfrm>
            <a:off x="1224900" y="2724900"/>
            <a:ext cx="2240100" cy="1779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5" name="Google Shape;625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1874" y="2995150"/>
            <a:ext cx="2616176" cy="177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61025" y="3067900"/>
            <a:ext cx="2950813" cy="174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7" name="Google Shape;627;p65"/>
          <p:cNvCxnSpPr/>
          <p:nvPr/>
        </p:nvCxnSpPr>
        <p:spPr>
          <a:xfrm>
            <a:off x="2887500" y="3240000"/>
            <a:ext cx="870000" cy="153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8" name="Google Shape;628;p65"/>
          <p:cNvCxnSpPr/>
          <p:nvPr/>
        </p:nvCxnSpPr>
        <p:spPr>
          <a:xfrm flipH="1">
            <a:off x="2842500" y="3255000"/>
            <a:ext cx="877500" cy="150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65"/>
          <p:cNvCxnSpPr/>
          <p:nvPr/>
        </p:nvCxnSpPr>
        <p:spPr>
          <a:xfrm>
            <a:off x="7241850" y="3301500"/>
            <a:ext cx="870000" cy="153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65"/>
          <p:cNvCxnSpPr/>
          <p:nvPr/>
        </p:nvCxnSpPr>
        <p:spPr>
          <a:xfrm flipH="1">
            <a:off x="7196850" y="3316500"/>
            <a:ext cx="877500" cy="1500000"/>
          </a:xfrm>
          <a:prstGeom prst="straightConnector1">
            <a:avLst/>
          </a:pr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6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36" name="Google Shape;636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6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38" name="Google Shape;638;p66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39" name="Google Shape;639;p66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53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40" name="Google Shape;640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4342" y="839125"/>
            <a:ext cx="5955309" cy="4025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67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46" name="Google Shape;646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67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48" name="Google Shape;648;p67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49" name="Google Shape;649;p67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54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50" name="Google Shape;65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13" y="911825"/>
            <a:ext cx="6565983" cy="3962076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67"/>
          <p:cNvSpPr/>
          <p:nvPr/>
        </p:nvSpPr>
        <p:spPr>
          <a:xfrm>
            <a:off x="742500" y="2571750"/>
            <a:ext cx="7222500" cy="230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68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57" name="Google Shape;657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68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59" name="Google Shape;659;p68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0" name="Google Shape;660;p68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55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61" name="Google Shape;66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9013" y="911825"/>
            <a:ext cx="6565983" cy="396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9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67" name="Google Shape;667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9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69" name="Google Shape;669;p69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70" name="Google Shape;670;p69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56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71" name="Google Shape;67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450" y="846338"/>
            <a:ext cx="6605099" cy="4011249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69"/>
          <p:cNvSpPr/>
          <p:nvPr/>
        </p:nvSpPr>
        <p:spPr>
          <a:xfrm>
            <a:off x="742500" y="2548800"/>
            <a:ext cx="7222500" cy="23250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0"/>
          <p:cNvSpPr/>
          <p:nvPr/>
        </p:nvSpPr>
        <p:spPr>
          <a:xfrm>
            <a:off x="432750" y="253725"/>
            <a:ext cx="6463200" cy="5763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</a:pPr>
            <a:r>
              <a:rPr lang="pt-BR" sz="2000" b="0" i="0" u="none" strike="noStrike" cap="none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 </a:t>
            </a:r>
            <a:r>
              <a:rPr lang="pt-BR" sz="2000">
                <a:solidFill>
                  <a:schemeClr val="lt1"/>
                </a:solidFill>
                <a:latin typeface="Maven Pro Medium"/>
                <a:ea typeface="Maven Pro Medium"/>
                <a:cs typeface="Maven Pro Medium"/>
                <a:sym typeface="Maven Pro Medium"/>
              </a:rPr>
              <a:t>Cardinalidade N:N</a:t>
            </a: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pic>
        <p:nvPicPr>
          <p:cNvPr id="678" name="Google Shape;678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5125" y="253741"/>
            <a:ext cx="1745200" cy="5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70"/>
          <p:cNvSpPr/>
          <p:nvPr/>
        </p:nvSpPr>
        <p:spPr>
          <a:xfrm>
            <a:off x="163175" y="4873900"/>
            <a:ext cx="8548200" cy="984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80" name="Google Shape;680;p70"/>
          <p:cNvSpPr/>
          <p:nvPr/>
        </p:nvSpPr>
        <p:spPr>
          <a:xfrm>
            <a:off x="8793836" y="4737272"/>
            <a:ext cx="233700" cy="2349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endParaRPr sz="2000" b="0" i="0" u="none" strike="noStrike" cap="none">
              <a:solidFill>
                <a:srgbClr val="FFFFFF"/>
              </a:solidFill>
              <a:latin typeface="Maven Pro Medium"/>
              <a:ea typeface="Maven Pro Medium"/>
              <a:cs typeface="Maven Pro Medium"/>
              <a:sym typeface="Maven Pro Medium"/>
            </a:endParaRPr>
          </a:p>
        </p:txBody>
      </p:sp>
      <p:sp>
        <p:nvSpPr>
          <p:cNvPr id="681" name="Google Shape;681;p70"/>
          <p:cNvSpPr txBox="1">
            <a:spLocks noGrp="1"/>
          </p:cNvSpPr>
          <p:nvPr>
            <p:ph type="sldNum" idx="12"/>
          </p:nvPr>
        </p:nvSpPr>
        <p:spPr>
          <a:xfrm>
            <a:off x="8697148" y="4774150"/>
            <a:ext cx="373200" cy="1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 b="1">
                <a:solidFill>
                  <a:schemeClr val="lt1"/>
                </a:solidFill>
              </a:rPr>
              <a:t>57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682" name="Google Shape;682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9450" y="846338"/>
            <a:ext cx="6605099" cy="401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71"/>
          <p:cNvSpPr/>
          <p:nvPr/>
        </p:nvSpPr>
        <p:spPr>
          <a:xfrm>
            <a:off x="643050" y="766200"/>
            <a:ext cx="7857900" cy="1773600"/>
          </a:xfrm>
          <a:prstGeom prst="rect">
            <a:avLst/>
          </a:prstGeom>
          <a:solidFill>
            <a:srgbClr val="015537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lang="pt-BR" sz="3000">
                <a:solidFill>
                  <a:srgbClr val="FFFFFF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Continua na próxima aula…</a:t>
            </a:r>
            <a:endParaRPr sz="3000" b="0" i="0" u="none" strike="noStrike" cap="none">
              <a:solidFill>
                <a:srgbClr val="FFFFFF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pic>
        <p:nvPicPr>
          <p:cNvPr id="692" name="Google Shape;692;p71" descr="Image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207" y="3162901"/>
            <a:ext cx="1371774" cy="1371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71" descr="Imagem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54548" y="3472625"/>
            <a:ext cx="1595574" cy="10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1276</Words>
  <Application>Microsoft Office PowerPoint</Application>
  <PresentationFormat>Apresentação na tela (16:9)</PresentationFormat>
  <Paragraphs>255</Paragraphs>
  <Slides>58</Slides>
  <Notes>58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5" baseType="lpstr">
      <vt:lpstr>Maven Pro SemiBold</vt:lpstr>
      <vt:lpstr>Helvetica Neue</vt:lpstr>
      <vt:lpstr>Google Sans</vt:lpstr>
      <vt:lpstr>Arial</vt:lpstr>
      <vt:lpstr>Maven Pro Medium</vt:lpstr>
      <vt:lpstr>Nunito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Leandro</cp:lastModifiedBy>
  <cp:revision>9</cp:revision>
  <dcterms:modified xsi:type="dcterms:W3CDTF">2025-08-15T10:31:13Z</dcterms:modified>
</cp:coreProperties>
</file>