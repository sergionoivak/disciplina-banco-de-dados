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7" r:id="rId2"/>
    <p:sldId id="258" r:id="rId3"/>
    <p:sldId id="288" r:id="rId4"/>
    <p:sldId id="281" r:id="rId5"/>
    <p:sldId id="290" r:id="rId6"/>
    <p:sldId id="292" r:id="rId7"/>
    <p:sldId id="293" r:id="rId8"/>
    <p:sldId id="295" r:id="rId9"/>
    <p:sldId id="294" r:id="rId10"/>
    <p:sldId id="296" r:id="rId11"/>
    <p:sldId id="298" r:id="rId12"/>
    <p:sldId id="297" r:id="rId13"/>
    <p:sldId id="299" r:id="rId14"/>
    <p:sldId id="300" r:id="rId15"/>
    <p:sldId id="301" r:id="rId16"/>
    <p:sldId id="280" r:id="rId17"/>
  </p:sldIdLst>
  <p:sldSz cx="9144000" cy="5143500" type="screen16x9"/>
  <p:notesSz cx="6858000" cy="9144000"/>
  <p:embeddedFontLst>
    <p:embeddedFont>
      <p:font typeface="Maven Pro Medium" panose="020B0604020202020204" charset="0"/>
      <p:regular r:id="rId19"/>
      <p:bold r:id="rId20"/>
    </p:embeddedFont>
    <p:embeddedFont>
      <p:font typeface="Maven Pro SemiBold" panose="020B0604020202020204" charset="0"/>
      <p:regular r:id="rId21"/>
      <p:bold r:id="rId22"/>
    </p:embeddedFont>
    <p:embeddedFont>
      <p:font typeface="Nunito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2832" autoAdjust="0"/>
  </p:normalViewPr>
  <p:slideViewPr>
    <p:cSldViewPr snapToGrid="0">
      <p:cViewPr varScale="1">
        <p:scale>
          <a:sx n="71" d="100"/>
          <a:sy n="71" d="100"/>
        </p:scale>
        <p:origin x="1786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febcd91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2dfebcd91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426e5c964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0426e5c964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9191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426e5c964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0426e5c964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426e5c964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0426e5c964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2078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426e5c964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0426e5c964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60916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426e5c964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0426e5c964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93295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426e5c964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0426e5c964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1910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426e5c964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0426e5c964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92786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426e5c964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0426e5c964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69617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426e5c964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0426e5c964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4445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426e5c964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0426e5c964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4924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426e5c964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0426e5c964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10901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426e5c964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0426e5c964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00057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426e5c964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0426e5c964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99058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 dirty="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Data </a:t>
            </a:r>
            <a:r>
              <a:rPr lang="pt-BR" sz="3200" dirty="0" err="1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Control</a:t>
            </a:r>
            <a:r>
              <a:rPr lang="pt-BR" sz="3200" dirty="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</a:t>
            </a:r>
            <a:r>
              <a:rPr lang="pt-BR" sz="3200" dirty="0" err="1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Language</a:t>
            </a:r>
            <a:endParaRPr lang="pt-BR" sz="3200" dirty="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Linguagem de Controle de Dados (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DCL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)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418200" y="960475"/>
            <a:ext cx="8293200" cy="406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É um subconjunto da linguagem SQL, voltado ao controle de permissões e segurança no banco de dados, ou seja, define quem pode acessar, alterar ou manipular determinados objetos (tabelas,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views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, procedures, etc.).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b="1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Comandos</a:t>
            </a:r>
            <a:endParaRPr lang="pt-BR" sz="1600" b="1" dirty="0">
              <a:latin typeface="Nunito"/>
              <a:ea typeface="Nunito"/>
              <a:cs typeface="Nunito"/>
              <a:sym typeface="Nunito"/>
            </a:endParaRPr>
          </a:p>
          <a:p>
            <a:pPr marL="101600" lvl="6" algn="just">
              <a:buSzPts val="2000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	</a:t>
            </a:r>
            <a:r>
              <a:rPr lang="pt-BR" sz="1600" dirty="0" err="1">
                <a:latin typeface="Nunito"/>
                <a:ea typeface="Nunito"/>
                <a:cs typeface="Nunito"/>
                <a:sym typeface="Nunito"/>
              </a:rPr>
              <a:t>CREATE</a:t>
            </a: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 ROLE</a:t>
            </a:r>
          </a:p>
          <a:p>
            <a:pPr marL="101600" lvl="3" algn="just">
              <a:buSzPts val="2000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	</a:t>
            </a:r>
          </a:p>
          <a:p>
            <a:pPr marL="101600" lvl="3" algn="just">
              <a:buSzPts val="2000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	ALTER ROLE</a:t>
            </a:r>
          </a:p>
          <a:p>
            <a:pPr marL="101600" lvl="3" algn="just">
              <a:buSzPts val="2000"/>
            </a:pPr>
            <a:endParaRPr lang="pt-BR" sz="1000" dirty="0">
              <a:latin typeface="Nunito"/>
              <a:ea typeface="Nunito"/>
              <a:cs typeface="Nunito"/>
              <a:sym typeface="Nunito"/>
            </a:endParaRPr>
          </a:p>
          <a:p>
            <a:pPr marL="101600" lvl="3" algn="just">
              <a:buSzPts val="2000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	</a:t>
            </a:r>
            <a:r>
              <a:rPr lang="pt-BR" sz="1600" dirty="0" err="1">
                <a:latin typeface="Nunito"/>
                <a:ea typeface="Nunito"/>
                <a:cs typeface="Nunito"/>
                <a:sym typeface="Nunito"/>
              </a:rPr>
              <a:t>DROP</a:t>
            </a: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 ROLE</a:t>
            </a:r>
          </a:p>
          <a:p>
            <a:pPr marL="101600" lvl="3" algn="just">
              <a:buSzPts val="2000"/>
            </a:pPr>
            <a:endParaRPr lang="pt-BR" sz="1000" dirty="0">
              <a:latin typeface="Nunito"/>
              <a:ea typeface="Nunito"/>
              <a:cs typeface="Nunito"/>
              <a:sym typeface="Nunito"/>
            </a:endParaRPr>
          </a:p>
          <a:p>
            <a:pPr marL="101600" lvl="3" algn="just">
              <a:buSzPts val="2000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	GRANT</a:t>
            </a:r>
          </a:p>
          <a:p>
            <a:pPr marL="101600" lvl="3" algn="just">
              <a:buSzPts val="2000"/>
            </a:pPr>
            <a:endParaRPr lang="pt-BR" sz="1000" dirty="0">
              <a:latin typeface="Nunito"/>
              <a:ea typeface="Nunito"/>
              <a:cs typeface="Nunito"/>
              <a:sym typeface="Nunito"/>
            </a:endParaRPr>
          </a:p>
          <a:p>
            <a:pPr marL="101600" lvl="3" algn="just">
              <a:buSzPts val="2000"/>
            </a:pPr>
            <a:r>
              <a:rPr lang="pt-BR" sz="1600" dirty="0">
                <a:latin typeface="Nunito"/>
                <a:ea typeface="Nunito"/>
                <a:cs typeface="Nunito"/>
                <a:sym typeface="Nunito"/>
              </a:rPr>
              <a:t>	</a:t>
            </a:r>
            <a:r>
              <a:rPr lang="pt-BR" sz="1600" dirty="0" err="1">
                <a:latin typeface="Nunito"/>
                <a:ea typeface="Nunito"/>
                <a:cs typeface="Nunito"/>
                <a:sym typeface="Nunito"/>
              </a:rPr>
              <a:t>REVOKE</a:t>
            </a:r>
            <a:endParaRPr lang="pt-BR" sz="16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CREATE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ROLE</a:t>
            </a:r>
            <a:endParaRPr sz="2000" dirty="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0" name="Google Shape;110;p1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418200" y="960475"/>
            <a:ext cx="8279100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342900" algn="just">
              <a:buSzPts val="1800"/>
              <a:buFont typeface="Nunito"/>
              <a:buChar char="●"/>
            </a:pPr>
            <a:r>
              <a:rPr lang="en-US" sz="2000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Gerenciar</a:t>
            </a:r>
            <a:r>
              <a:rPr lang="en-US" sz="2000" dirty="0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acesso</a:t>
            </a:r>
            <a:r>
              <a:rPr lang="en-US" sz="2000" dirty="0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permissões</a:t>
            </a:r>
            <a:r>
              <a:rPr lang="en-US" sz="2000" dirty="0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é </a:t>
            </a:r>
            <a:r>
              <a:rPr lang="en-US" sz="2000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essencial</a:t>
            </a:r>
            <a:r>
              <a:rPr lang="en-US" sz="2000" dirty="0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em</a:t>
            </a:r>
            <a:r>
              <a:rPr lang="en-US" sz="2000" dirty="0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qualquer</a:t>
            </a:r>
            <a:r>
              <a:rPr lang="en-US" sz="2000" dirty="0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sistema</a:t>
            </a:r>
            <a:r>
              <a:rPr lang="en-US" sz="2000" dirty="0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de banco de dados. O PostgreSQL </a:t>
            </a:r>
            <a:r>
              <a:rPr lang="en-US" sz="2000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oferece</a:t>
            </a:r>
            <a:r>
              <a:rPr lang="en-US" sz="2000" dirty="0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um </a:t>
            </a:r>
            <a:r>
              <a:rPr lang="en-US" sz="2000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modelo</a:t>
            </a:r>
            <a:r>
              <a:rPr lang="en-US" sz="2000" dirty="0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flexível</a:t>
            </a:r>
            <a:r>
              <a:rPr lang="en-US" sz="2000" dirty="0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poderoso</a:t>
            </a:r>
            <a:r>
              <a:rPr lang="en-US" sz="2000" dirty="0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baseado</a:t>
            </a:r>
            <a:r>
              <a:rPr lang="en-US" sz="2000" dirty="0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em</a:t>
            </a:r>
            <a:r>
              <a:rPr lang="en-US" sz="2000" dirty="0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usuários</a:t>
            </a:r>
            <a:r>
              <a:rPr lang="en-US" sz="2000" b="1" dirty="0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e </a:t>
            </a:r>
            <a:r>
              <a:rPr lang="en-US" sz="2000" b="1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funções</a:t>
            </a:r>
            <a:r>
              <a:rPr lang="en-US" sz="2000" b="1" dirty="0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(roles)</a:t>
            </a:r>
            <a:r>
              <a:rPr lang="en-US" sz="2000" dirty="0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.</a:t>
            </a:r>
            <a:endParaRPr lang="pt-BR" sz="2000" dirty="0">
              <a:solidFill>
                <a:schemeClr val="tx1"/>
              </a:solidFill>
              <a:effectLst/>
              <a:latin typeface="Nunito" panose="020B0604020202020204" charset="0"/>
              <a:ea typeface="Aptos"/>
              <a:cs typeface="Times New Roman" panose="02020603050405020304" pitchFamily="18" charset="0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lang="pt-BR" sz="2000" dirty="0">
              <a:solidFill>
                <a:schemeClr val="tx1"/>
              </a:solidFill>
              <a:latin typeface="Nunito" panose="020B0604020202020204" charset="0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lang="pt-BR" sz="2000" dirty="0">
              <a:solidFill>
                <a:schemeClr val="tx1"/>
              </a:solidFill>
              <a:latin typeface="Nunito" panose="020B0604020202020204" charset="0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2000" dirty="0">
                <a:solidFill>
                  <a:schemeClr val="tx1"/>
                </a:solidFill>
                <a:latin typeface="Nunito" panose="020B0604020202020204" charset="0"/>
                <a:ea typeface="Nunito"/>
                <a:cs typeface="Nunito"/>
                <a:sym typeface="Nunito"/>
              </a:rPr>
              <a:t>Contudo, no PostgreSQL, usuários e roles (funções) não são entidades completamente separadas. </a:t>
            </a: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lang="pt-BR" sz="2000" dirty="0">
              <a:solidFill>
                <a:schemeClr val="tx1"/>
              </a:solidFill>
              <a:latin typeface="Nunito" panose="020B0604020202020204" charset="0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lang="pt-BR" sz="2000" dirty="0">
              <a:solidFill>
                <a:schemeClr val="tx1"/>
              </a:solidFill>
              <a:latin typeface="Nunito" panose="020B0604020202020204" charset="0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2000" dirty="0">
                <a:solidFill>
                  <a:schemeClr val="tx1"/>
                </a:solidFill>
                <a:latin typeface="Nunito" panose="020B0604020202020204" charset="0"/>
                <a:ea typeface="Nunito"/>
                <a:cs typeface="Nunito"/>
                <a:sym typeface="Nunito"/>
              </a:rPr>
              <a:t>Tecnicamente, o PostgreSQL trata tudo como uma função . A diferença está em se uma função tem privilégios de login ou não.</a:t>
            </a:r>
          </a:p>
          <a:p>
            <a:pPr marL="114300" lvl="0" algn="just" rtl="0">
              <a:spcBef>
                <a:spcPts val="0"/>
              </a:spcBef>
              <a:spcAft>
                <a:spcPts val="0"/>
              </a:spcAft>
              <a:buSzPts val="1800"/>
            </a:pPr>
            <a:endParaRPr lang="pt-BR" sz="2000" dirty="0">
              <a:solidFill>
                <a:schemeClr val="tx1"/>
              </a:solidFill>
              <a:latin typeface="Nunito" panose="020B0604020202020204" charset="0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784361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CREATE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ROLE</a:t>
            </a:r>
            <a:endParaRPr sz="2000" dirty="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0" name="Google Shape;110;p1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418200" y="960475"/>
            <a:ext cx="8279100" cy="357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Role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: Um conceito mais amplo que pode representar usuários, grupos ou conjuntos de privilégios. Funções podem ser concedidas a outras funções, permitindo um gerenciamento flexível de permissões.</a:t>
            </a:r>
          </a:p>
          <a:p>
            <a:pPr marL="114300" lvl="0" algn="just" rtl="0">
              <a:spcBef>
                <a:spcPts val="0"/>
              </a:spcBef>
              <a:spcAft>
                <a:spcPts val="0"/>
              </a:spcAft>
              <a:buSzPts val="1800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114300" lvl="0" algn="just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pt-BR" sz="2000" b="1" i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CREATE</a:t>
            </a:r>
            <a:r>
              <a:rPr lang="pt-BR" sz="2000" b="1" i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ROLE </a:t>
            </a:r>
            <a:r>
              <a:rPr lang="pt-BR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readonly</a:t>
            </a:r>
            <a:r>
              <a:rPr lang="pt-BR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; </a:t>
            </a:r>
          </a:p>
          <a:p>
            <a:pPr marL="114300" lvl="0" algn="just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pt-BR" sz="2000" b="1" i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CREATE</a:t>
            </a:r>
            <a:r>
              <a:rPr lang="pt-BR" sz="2000" b="1" i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ROLE </a:t>
            </a:r>
            <a:r>
              <a:rPr lang="pt-BR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admin_role</a:t>
            </a:r>
            <a:r>
              <a:rPr lang="pt-BR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;  </a:t>
            </a:r>
          </a:p>
          <a:p>
            <a:pPr marL="114300" lvl="0" algn="just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pt-BR" sz="2000" b="1" i="1" dirty="0" err="1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CREATE</a:t>
            </a:r>
            <a:r>
              <a:rPr lang="pt-BR" sz="2000" b="1" i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ROLE </a:t>
            </a:r>
            <a:r>
              <a:rPr lang="pt-BR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sales_user</a:t>
            </a:r>
            <a:r>
              <a:rPr lang="pt-BR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;  </a:t>
            </a:r>
            <a:endParaRPr lang="pt-BR" sz="2000" i="1" dirty="0">
              <a:solidFill>
                <a:schemeClr val="tx1"/>
              </a:solidFill>
              <a:latin typeface="Times New Roman" panose="02020603050405020304" pitchFamily="18" charset="0"/>
              <a:ea typeface="Nunito"/>
              <a:cs typeface="Times New Roman" panose="02020603050405020304" pitchFamily="18" charset="0"/>
              <a:sym typeface="Nunito"/>
            </a:endParaRPr>
          </a:p>
          <a:p>
            <a:pPr marL="114300" lvl="0" algn="just" rtl="0">
              <a:spcBef>
                <a:spcPts val="0"/>
              </a:spcBef>
              <a:spcAft>
                <a:spcPts val="0"/>
              </a:spcAft>
              <a:buSzPts val="1800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114300" lvl="0" algn="just" rtl="0">
              <a:spcBef>
                <a:spcPts val="0"/>
              </a:spcBef>
              <a:spcAft>
                <a:spcPts val="0"/>
              </a:spcAft>
              <a:buSzPts val="1800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CREATE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ROLE</a:t>
            </a:r>
            <a:endParaRPr sz="2000" dirty="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0" name="Google Shape;110;p1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418200" y="960475"/>
            <a:ext cx="8279100" cy="40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lang="pt-BR" sz="2000" dirty="0">
              <a:latin typeface="Nunito" panose="020B0604020202020204" charset="0"/>
              <a:ea typeface="Nunito"/>
              <a:cs typeface="Nunito"/>
              <a:sym typeface="Nunito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pt-BR" sz="2000" b="1" dirty="0">
                <a:latin typeface="Nunito" panose="020B0604020202020204" charset="0"/>
                <a:ea typeface="Nunito"/>
                <a:cs typeface="Nunito"/>
                <a:sym typeface="Nunito"/>
              </a:rPr>
              <a:t>Usuário</a:t>
            </a:r>
            <a:r>
              <a:rPr lang="pt-BR" sz="2000" dirty="0">
                <a:latin typeface="Nunito" panose="020B0604020202020204" charset="0"/>
                <a:ea typeface="Nunito"/>
                <a:cs typeface="Nunito"/>
                <a:sym typeface="Nunito"/>
              </a:rPr>
              <a:t>: Uma função com privilégios de login. </a:t>
            </a:r>
            <a:r>
              <a:rPr lang="en-US" sz="20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Pode</a:t>
            </a:r>
            <a:r>
              <a:rPr lang="en-US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se </a:t>
            </a:r>
            <a:r>
              <a:rPr lang="en-US" sz="20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autenticar</a:t>
            </a:r>
            <a:r>
              <a:rPr lang="en-US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e </a:t>
            </a:r>
            <a:r>
              <a:rPr lang="en-US" sz="20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executar</a:t>
            </a:r>
            <a:r>
              <a:rPr lang="en-US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comandos</a:t>
            </a:r>
            <a:r>
              <a:rPr lang="en-US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conforme</a:t>
            </a:r>
            <a:r>
              <a:rPr lang="en-US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seus</a:t>
            </a:r>
            <a:r>
              <a:rPr lang="en-US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privilégios</a:t>
            </a:r>
            <a:r>
              <a:rPr lang="en-US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.</a:t>
            </a:r>
            <a:endParaRPr lang="pt-BR" sz="2000" dirty="0">
              <a:effectLst/>
              <a:latin typeface="Nunito" panose="020B0604020202020204" charset="0"/>
              <a:ea typeface="Aptos"/>
              <a:cs typeface="Times New Roman" panose="02020603050405020304" pitchFamily="18" charset="0"/>
            </a:endParaRPr>
          </a:p>
          <a:p>
            <a:pPr marL="457200" indent="-342900" algn="just">
              <a:buSzPts val="1800"/>
              <a:buFont typeface="Nunito"/>
              <a:buChar char="●"/>
            </a:pPr>
            <a:endParaRPr lang="pt-BR" sz="2000" dirty="0">
              <a:latin typeface="Nunito" panose="020B0604020202020204" charset="0"/>
              <a:ea typeface="Nunito"/>
              <a:cs typeface="Nunito"/>
              <a:sym typeface="Nunito"/>
            </a:endParaRPr>
          </a:p>
          <a:p>
            <a:pPr latinLnBrk="1">
              <a:spcAft>
                <a:spcPts val="1000"/>
              </a:spcAft>
            </a:pPr>
            <a:r>
              <a:rPr lang="en-US" sz="1800" b="1" i="1" dirty="0">
                <a:solidFill>
                  <a:srgbClr val="007020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CREATE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b="1" i="1" dirty="0">
                <a:solidFill>
                  <a:srgbClr val="007020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ROLE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john LOGIN </a:t>
            </a:r>
            <a:r>
              <a:rPr lang="en-US" sz="1800" b="1" i="1" dirty="0">
                <a:solidFill>
                  <a:srgbClr val="007020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PASSWORD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i="1" dirty="0">
                <a:solidFill>
                  <a:srgbClr val="4070A0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'</a:t>
            </a:r>
            <a:r>
              <a:rPr lang="en-US" sz="1800" i="1" dirty="0" err="1">
                <a:solidFill>
                  <a:srgbClr val="4070A0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secure_password</a:t>
            </a:r>
            <a:r>
              <a:rPr lang="en-US" sz="1800" i="1" dirty="0">
                <a:solidFill>
                  <a:srgbClr val="4070A0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’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;</a:t>
            </a:r>
            <a:endParaRPr lang="pt-BR" sz="1800" i="1" dirty="0">
              <a:effectLst/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endParaRPr lang="pt-BR" sz="1800" i="1" dirty="0">
              <a:latin typeface="Times New Roman" panose="02020603050405020304" pitchFamily="18" charset="0"/>
              <a:ea typeface="Nunito"/>
              <a:cs typeface="Times New Roman" panose="02020603050405020304" pitchFamily="18" charset="0"/>
              <a:sym typeface="Nunito"/>
            </a:endParaRPr>
          </a:p>
          <a:p>
            <a:pPr marL="114300" lvl="0" algn="just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800" b="1" i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CREATE ROLE </a:t>
            </a:r>
            <a:r>
              <a:rPr lang="en-US" sz="1800" i="1" dirty="0" err="1"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leo</a:t>
            </a:r>
            <a:endParaRPr lang="en-US" sz="1800" i="1" dirty="0">
              <a:latin typeface="Times New Roman" panose="02020603050405020304" pitchFamily="18" charset="0"/>
              <a:ea typeface="Nunito"/>
              <a:cs typeface="Times New Roman" panose="02020603050405020304" pitchFamily="18" charset="0"/>
              <a:sym typeface="Nunito"/>
            </a:endParaRPr>
          </a:p>
          <a:p>
            <a:pPr marL="114300" lvl="0" algn="just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800" b="1" i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WITH</a:t>
            </a:r>
          </a:p>
          <a:p>
            <a:pPr marL="114300" lvl="0" algn="just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800" i="1" dirty="0"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 LOGIN</a:t>
            </a:r>
            <a:endParaRPr lang="en-US" sz="1800" b="1" i="1" dirty="0">
              <a:solidFill>
                <a:srgbClr val="00702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Nunito"/>
            </a:endParaRPr>
          </a:p>
          <a:p>
            <a:pPr marL="114300" lvl="0" algn="just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800" i="1" dirty="0"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 </a:t>
            </a:r>
            <a:r>
              <a:rPr lang="en-US" sz="1800" b="1" i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PASSWORD</a:t>
            </a:r>
            <a:r>
              <a:rPr lang="en-US" sz="1800" i="1" dirty="0"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</a:t>
            </a:r>
            <a:r>
              <a:rPr lang="en-US" sz="18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'</a:t>
            </a:r>
            <a:r>
              <a:rPr lang="en-US" sz="1800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secure_password</a:t>
            </a:r>
            <a:r>
              <a:rPr lang="en-US" sz="1800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’</a:t>
            </a:r>
          </a:p>
          <a:p>
            <a:pPr marL="114300" lvl="0" algn="just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800" i="1" dirty="0"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  </a:t>
            </a:r>
            <a:r>
              <a:rPr lang="en-US" sz="1800" b="1" i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VALID UNTIL </a:t>
            </a:r>
            <a:r>
              <a:rPr lang="en-US" sz="1800" i="1" dirty="0"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'2025-12-31'</a:t>
            </a:r>
          </a:p>
          <a:p>
            <a:pPr marL="114300" lvl="0" algn="just" rtl="0">
              <a:spcBef>
                <a:spcPts val="0"/>
              </a:spcBef>
              <a:spcAft>
                <a:spcPts val="0"/>
              </a:spcAft>
              <a:buSzPts val="1800"/>
            </a:pPr>
            <a:r>
              <a:rPr lang="en-US" sz="1800" b="1" i="1" dirty="0">
                <a:solidFill>
                  <a:srgbClr val="00702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Nunito"/>
              </a:rPr>
              <a:t>  CONNECTION LIMIT </a:t>
            </a:r>
            <a:r>
              <a:rPr lang="en-US" sz="1800" i="1" dirty="0">
                <a:latin typeface="Times New Roman" panose="02020603050405020304" pitchFamily="18" charset="0"/>
                <a:ea typeface="Nunito"/>
                <a:cs typeface="Times New Roman" panose="02020603050405020304" pitchFamily="18" charset="0"/>
                <a:sym typeface="Nunito"/>
              </a:rPr>
              <a:t>5;</a:t>
            </a:r>
            <a:endParaRPr lang="pt-BR" sz="1800" i="1" dirty="0">
              <a:latin typeface="Times New Roman" panose="02020603050405020304" pitchFamily="18" charset="0"/>
              <a:ea typeface="Nunito"/>
              <a:cs typeface="Times New Roman" panose="02020603050405020304" pitchFamily="18" charset="0"/>
              <a:sym typeface="Nunito"/>
            </a:endParaRPr>
          </a:p>
          <a:p>
            <a:pPr marL="114300" lvl="0" algn="just" rtl="0">
              <a:spcBef>
                <a:spcPts val="0"/>
              </a:spcBef>
              <a:spcAft>
                <a:spcPts val="0"/>
              </a:spcAft>
              <a:buSzPts val="1800"/>
            </a:pPr>
            <a:endParaRPr lang="pt-BR" sz="2000" dirty="0">
              <a:latin typeface="Nunito" panose="020B0604020202020204" charset="0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748337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GRANT</a:t>
            </a:r>
            <a:endParaRPr sz="2000" dirty="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0" name="Google Shape;110;p1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418200" y="960475"/>
            <a:ext cx="8279100" cy="415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342900" algn="just">
              <a:buSzPts val="1800"/>
              <a:buFont typeface="Nunito"/>
              <a:buChar char="●"/>
            </a:pPr>
            <a:r>
              <a:rPr lang="pt-BR" sz="2000" dirty="0">
                <a:latin typeface="Nunito" panose="020B0604020202020204" charset="0"/>
                <a:ea typeface="Nunito"/>
                <a:cs typeface="Nunito"/>
                <a:sym typeface="Nunito"/>
              </a:rPr>
              <a:t>O GRANT no PostgreSQL (e em outros bancos de dados SQL) é o comando utilizado para conceder permissões a um usuário ou role</a:t>
            </a:r>
          </a:p>
          <a:p>
            <a:pPr marL="114300" algn="just">
              <a:buSzPts val="1800"/>
            </a:pPr>
            <a:endParaRPr lang="pt-BR" sz="2000" dirty="0">
              <a:latin typeface="Nunito" panose="020B0604020202020204" charset="0"/>
              <a:ea typeface="Nunito"/>
              <a:cs typeface="Nunito"/>
              <a:sym typeface="Nunito"/>
            </a:endParaRPr>
          </a:p>
          <a:p>
            <a:pPr marL="457200" indent="-342900" algn="just">
              <a:buSzPts val="1800"/>
              <a:buFont typeface="Nunito"/>
              <a:buChar char="●"/>
            </a:pPr>
            <a:r>
              <a:rPr lang="pt-BR" sz="2000" dirty="0">
                <a:latin typeface="Nunito" panose="020B0604020202020204" charset="0"/>
                <a:ea typeface="Nunito"/>
                <a:cs typeface="Nunito"/>
                <a:sym typeface="Nunito"/>
              </a:rPr>
              <a:t>Também pode ser usado para atribuir um role a um usuário, algo como atribuir perfis de usuários</a:t>
            </a:r>
          </a:p>
          <a:p>
            <a:pPr marL="457200" indent="-342900" algn="just">
              <a:buSzPts val="1800"/>
              <a:buFont typeface="Nunito"/>
              <a:buChar char="●"/>
            </a:pPr>
            <a:endParaRPr lang="pt-BR" sz="2000" dirty="0">
              <a:latin typeface="Nunito" panose="020B0604020202020204" charset="0"/>
              <a:ea typeface="Nunito"/>
              <a:cs typeface="Nunito"/>
              <a:sym typeface="Nunito"/>
            </a:endParaRPr>
          </a:p>
          <a:p>
            <a:pPr marL="457200" indent="-342900" algn="just">
              <a:buSzPts val="1800"/>
              <a:buFont typeface="Nunito"/>
              <a:buChar char="●"/>
            </a:pPr>
            <a:r>
              <a:rPr lang="pt-BR" sz="2000" dirty="0">
                <a:latin typeface="Nunito" panose="020B0604020202020204" charset="0"/>
                <a:ea typeface="Nunito"/>
                <a:cs typeface="Nunito"/>
                <a:sym typeface="Nunito"/>
              </a:rPr>
              <a:t>Ele define quem pode realizar determinadas operações (como </a:t>
            </a:r>
            <a:r>
              <a:rPr lang="pt-BR" sz="2000" dirty="0" err="1">
                <a:latin typeface="Nunito" panose="020B0604020202020204" charset="0"/>
                <a:ea typeface="Nunito"/>
                <a:cs typeface="Nunito"/>
                <a:sym typeface="Nunito"/>
              </a:rPr>
              <a:t>SELECT</a:t>
            </a:r>
            <a:r>
              <a:rPr lang="pt-BR" sz="2000" dirty="0">
                <a:latin typeface="Nunito" panose="020B0604020202020204" charset="0"/>
                <a:ea typeface="Nunito"/>
                <a:cs typeface="Nunito"/>
                <a:sym typeface="Nunito"/>
              </a:rPr>
              <a:t>, </a:t>
            </a:r>
            <a:r>
              <a:rPr lang="pt-BR" sz="2000" dirty="0" err="1">
                <a:latin typeface="Nunito" panose="020B0604020202020204" charset="0"/>
                <a:ea typeface="Nunito"/>
                <a:cs typeface="Nunito"/>
                <a:sym typeface="Nunito"/>
              </a:rPr>
              <a:t>INSERT</a:t>
            </a:r>
            <a:r>
              <a:rPr lang="pt-BR" sz="2000" dirty="0">
                <a:latin typeface="Nunito" panose="020B0604020202020204" charset="0"/>
                <a:ea typeface="Nunito"/>
                <a:cs typeface="Nunito"/>
                <a:sym typeface="Nunito"/>
              </a:rPr>
              <a:t>, UPDATE, DELETE, etc.) sobre objetos como tabelas, </a:t>
            </a:r>
            <a:r>
              <a:rPr lang="pt-BR" sz="2000" dirty="0" err="1">
                <a:latin typeface="Nunito" panose="020B0604020202020204" charset="0"/>
                <a:ea typeface="Nunito"/>
                <a:cs typeface="Nunito"/>
                <a:sym typeface="Nunito"/>
              </a:rPr>
              <a:t>views</a:t>
            </a:r>
            <a:r>
              <a:rPr lang="pt-BR" sz="2000" dirty="0">
                <a:latin typeface="Nunito" panose="020B0604020202020204" charset="0"/>
                <a:ea typeface="Nunito"/>
                <a:cs typeface="Nunito"/>
                <a:sym typeface="Nunito"/>
              </a:rPr>
              <a:t>, funções ou esquemas.</a:t>
            </a:r>
          </a:p>
          <a:p>
            <a:pPr marL="457200" indent="-342900" algn="just">
              <a:buSzPts val="1800"/>
              <a:buFont typeface="Nunito"/>
              <a:buChar char="●"/>
            </a:pPr>
            <a:endParaRPr lang="pt-BR" sz="2000" dirty="0">
              <a:latin typeface="Nunito" panose="020B0604020202020204" charset="0"/>
              <a:ea typeface="Nunito"/>
              <a:cs typeface="Nunito"/>
              <a:sym typeface="Nunito"/>
            </a:endParaRPr>
          </a:p>
          <a:p>
            <a:pPr marL="457200" indent="-342900" algn="just">
              <a:buSzPts val="1800"/>
              <a:buFont typeface="Nunito"/>
              <a:buChar char="●"/>
            </a:pPr>
            <a:r>
              <a:rPr lang="en-US" sz="2000" dirty="0" err="1">
                <a:latin typeface="Nunito" panose="020B0604020202020204" charset="0"/>
                <a:ea typeface="Nunito"/>
                <a:cs typeface="Nunito"/>
                <a:sym typeface="Nunito"/>
              </a:rPr>
              <a:t>SINTAXE</a:t>
            </a:r>
            <a:r>
              <a:rPr lang="en-US" sz="2000" dirty="0">
                <a:latin typeface="Nunito" panose="020B0604020202020204" charset="0"/>
                <a:ea typeface="Nunito"/>
                <a:cs typeface="Nunito"/>
                <a:sym typeface="Nunito"/>
              </a:rPr>
              <a:t>: GRANT </a:t>
            </a:r>
            <a:r>
              <a:rPr lang="en-US" sz="2000" dirty="0" err="1">
                <a:latin typeface="Nunito" panose="020B0604020202020204" charset="0"/>
                <a:ea typeface="Nunito"/>
                <a:cs typeface="Nunito"/>
                <a:sym typeface="Nunito"/>
              </a:rPr>
              <a:t>permissao</a:t>
            </a:r>
            <a:r>
              <a:rPr lang="en-US" sz="2000" dirty="0">
                <a:latin typeface="Nunito" panose="020B0604020202020204" charset="0"/>
                <a:ea typeface="Nunito"/>
                <a:cs typeface="Nunito"/>
                <a:sym typeface="Nunito"/>
              </a:rPr>
              <a:t> ON </a:t>
            </a:r>
            <a:r>
              <a:rPr lang="en-US" sz="2000" dirty="0" err="1">
                <a:latin typeface="Nunito" panose="020B0604020202020204" charset="0"/>
                <a:ea typeface="Nunito"/>
                <a:cs typeface="Nunito"/>
                <a:sym typeface="Nunito"/>
              </a:rPr>
              <a:t>nivel</a:t>
            </a:r>
            <a:r>
              <a:rPr lang="en-US" sz="2000" dirty="0">
                <a:latin typeface="Nunito" panose="020B0604020202020204" charset="0"/>
                <a:ea typeface="Nunito"/>
                <a:cs typeface="Nunito"/>
                <a:sym typeface="Nunito"/>
              </a:rPr>
              <a:t> TO </a:t>
            </a:r>
            <a:r>
              <a:rPr lang="en-US" sz="2000" dirty="0" err="1">
                <a:latin typeface="Nunito" panose="020B0604020202020204" charset="0"/>
                <a:ea typeface="Nunito"/>
                <a:cs typeface="Nunito"/>
                <a:sym typeface="Nunito"/>
              </a:rPr>
              <a:t>role_name</a:t>
            </a:r>
            <a:endParaRPr lang="pt-BR" sz="1800" dirty="0">
              <a:effectLst/>
              <a:latin typeface="Nunito" panose="020B0604020202020204" charset="0"/>
              <a:ea typeface="Aptos"/>
              <a:cs typeface="Times New Roman" panose="02020603050405020304" pitchFamily="18" charset="0"/>
            </a:endParaRPr>
          </a:p>
          <a:p>
            <a:pPr marL="114300" algn="just">
              <a:buSzPts val="1800"/>
            </a:pPr>
            <a:endParaRPr lang="pt-BR" sz="1800" dirty="0">
              <a:effectLst/>
              <a:latin typeface="Nunito" panose="020B0604020202020204" charset="0"/>
              <a:ea typeface="Aptos"/>
              <a:cs typeface="Times New Roman" panose="02020603050405020304" pitchFamily="18" charset="0"/>
            </a:endParaRPr>
          </a:p>
          <a:p>
            <a:pPr marL="457200" indent="-342900" algn="just">
              <a:buSzPts val="1800"/>
              <a:buFont typeface="Nunito"/>
              <a:buChar char="●"/>
            </a:pPr>
            <a:endParaRPr lang="pt-BR" sz="2000" dirty="0">
              <a:latin typeface="Nunito" panose="020B0604020202020204" charset="0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760807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GRANT</a:t>
            </a:r>
            <a:endParaRPr sz="2000" dirty="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0" name="Google Shape;110;p1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7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418200" y="960475"/>
            <a:ext cx="8279100" cy="4462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algn="just">
              <a:buSzPts val="1800"/>
            </a:pP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GRANT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SELECT</a:t>
            </a:r>
            <a:r>
              <a:rPr lang="en-US" sz="1800" b="1" dirty="0">
                <a:solidFill>
                  <a:srgbClr val="007020"/>
                </a:solidFill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ON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produtos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TO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readonly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;</a:t>
            </a:r>
          </a:p>
          <a:p>
            <a:pPr marL="114300" algn="just">
              <a:buSzPts val="1800"/>
            </a:pPr>
            <a:endParaRPr lang="en-US" sz="1500" dirty="0">
              <a:latin typeface="Nunito" panose="020B0604020202020204" charset="0"/>
              <a:ea typeface="Aptos"/>
              <a:cs typeface="Times New Roman" panose="02020603050405020304" pitchFamily="18" charset="0"/>
            </a:endParaRPr>
          </a:p>
          <a:p>
            <a:pPr marL="114300" algn="just">
              <a:buSzPts val="1800"/>
            </a:pP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GRANT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readonly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TO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john;</a:t>
            </a:r>
          </a:p>
          <a:p>
            <a:pPr marL="114300" algn="just">
              <a:buSzPts val="1800"/>
            </a:pPr>
            <a:endParaRPr lang="en-US" sz="1500" dirty="0">
              <a:latin typeface="Nunito" panose="020B0604020202020204" charset="0"/>
              <a:ea typeface="Aptos"/>
              <a:cs typeface="Times New Roman" panose="02020603050405020304" pitchFamily="18" charset="0"/>
            </a:endParaRPr>
          </a:p>
          <a:p>
            <a:pPr marL="114300" algn="just">
              <a:buSzPts val="1800"/>
            </a:pP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GRANT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SELECT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INSERT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UPDATE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ON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clientes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TO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john;</a:t>
            </a:r>
            <a:endParaRPr lang="en-US" sz="1800" dirty="0">
              <a:latin typeface="Nunito" panose="020B0604020202020204" charset="0"/>
              <a:ea typeface="Aptos"/>
              <a:cs typeface="Times New Roman" panose="02020603050405020304" pitchFamily="18" charset="0"/>
            </a:endParaRPr>
          </a:p>
          <a:p>
            <a:pPr marL="114300" algn="just">
              <a:buSzPts val="1800"/>
            </a:pPr>
            <a:endParaRPr lang="en-US" sz="1500" b="1" dirty="0">
              <a:solidFill>
                <a:srgbClr val="007020"/>
              </a:solidFill>
              <a:effectLst/>
              <a:latin typeface="Nunito" panose="020B0604020202020204" charset="0"/>
              <a:ea typeface="Aptos"/>
              <a:cs typeface="Times New Roman" panose="02020603050405020304" pitchFamily="18" charset="0"/>
            </a:endParaRPr>
          </a:p>
          <a:p>
            <a:pPr marL="114300" algn="just">
              <a:buSzPts val="1800"/>
            </a:pPr>
            <a:r>
              <a:rPr lang="pt-BR" sz="1800" dirty="0">
                <a:solidFill>
                  <a:schemeClr val="bg2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-- Concede permissão para acessar (</a:t>
            </a:r>
            <a:r>
              <a:rPr lang="pt-BR" sz="1800" dirty="0" err="1">
                <a:solidFill>
                  <a:schemeClr val="bg2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USAGE</a:t>
            </a:r>
            <a:r>
              <a:rPr lang="pt-BR" sz="1800" dirty="0">
                <a:solidFill>
                  <a:schemeClr val="bg2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) e criar objetos (</a:t>
            </a:r>
            <a:r>
              <a:rPr lang="pt-BR" sz="1800" dirty="0" err="1">
                <a:solidFill>
                  <a:schemeClr val="bg2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CREATE</a:t>
            </a:r>
            <a:r>
              <a:rPr lang="pt-BR" sz="1800" dirty="0">
                <a:solidFill>
                  <a:schemeClr val="bg2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) dentro do </a:t>
            </a:r>
            <a:r>
              <a:rPr lang="pt-BR" sz="1800" dirty="0" err="1">
                <a:solidFill>
                  <a:schemeClr val="bg2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schema</a:t>
            </a:r>
            <a:r>
              <a:rPr lang="pt-BR" sz="1800" dirty="0">
                <a:solidFill>
                  <a:schemeClr val="bg2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public.</a:t>
            </a:r>
          </a:p>
          <a:p>
            <a:pPr marL="114300" algn="just">
              <a:buSzPts val="1800"/>
            </a:pPr>
            <a:r>
              <a:rPr lang="pt-BR" sz="1800" dirty="0">
                <a:solidFill>
                  <a:schemeClr val="bg2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-- OBS: </a:t>
            </a:r>
            <a:r>
              <a:rPr lang="pt-BR" sz="1800" dirty="0" err="1">
                <a:solidFill>
                  <a:schemeClr val="bg2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USAGE</a:t>
            </a:r>
            <a:r>
              <a:rPr lang="pt-BR" sz="1800" dirty="0">
                <a:solidFill>
                  <a:schemeClr val="bg2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não lê nem lista dados; apenas permite utilizar o </a:t>
            </a:r>
            <a:r>
              <a:rPr lang="pt-BR" sz="1800" dirty="0" err="1">
                <a:solidFill>
                  <a:schemeClr val="bg2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schema</a:t>
            </a:r>
            <a:r>
              <a:rPr lang="pt-BR" sz="1800" dirty="0">
                <a:solidFill>
                  <a:schemeClr val="bg2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.</a:t>
            </a:r>
            <a:endParaRPr lang="en-US" sz="1800" dirty="0">
              <a:solidFill>
                <a:schemeClr val="bg2"/>
              </a:solidFill>
              <a:effectLst/>
              <a:latin typeface="Nunito" panose="020B0604020202020204" charset="0"/>
              <a:ea typeface="Aptos"/>
              <a:cs typeface="Times New Roman" panose="02020603050405020304" pitchFamily="18" charset="0"/>
            </a:endParaRPr>
          </a:p>
          <a:p>
            <a:pPr marL="114300" algn="just">
              <a:buSzPts val="1800"/>
            </a:pP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GRANT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USAGE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CREATE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ON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SCHEMA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vendas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TO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sales_user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;</a:t>
            </a:r>
          </a:p>
          <a:p>
            <a:pPr marL="114300" algn="just">
              <a:buSzPts val="1800"/>
            </a:pPr>
            <a:endParaRPr lang="en-US" sz="1500" dirty="0">
              <a:latin typeface="Nunito" panose="020B0604020202020204" charset="0"/>
              <a:ea typeface="Aptos"/>
              <a:cs typeface="Times New Roman" panose="02020603050405020304" pitchFamily="18" charset="0"/>
            </a:endParaRPr>
          </a:p>
          <a:p>
            <a:pPr marL="114300" algn="just">
              <a:buSzPts val="1800"/>
            </a:pPr>
            <a:r>
              <a:rPr lang="en-US" sz="1800" b="1" dirty="0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</a:rPr>
              <a:t>GRANT ALL </a:t>
            </a:r>
            <a:r>
              <a:rPr lang="en-US" sz="1800" dirty="0">
                <a:solidFill>
                  <a:schemeClr val="tx1"/>
                </a:solidFill>
                <a:latin typeface="Nunito" panose="020B0604020202020204" charset="0"/>
                <a:cs typeface="Times New Roman" panose="02020603050405020304" pitchFamily="18" charset="0"/>
              </a:rPr>
              <a:t>PRIVILEGES</a:t>
            </a:r>
            <a:r>
              <a:rPr lang="en-US" sz="1800" b="1" dirty="0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</a:rPr>
              <a:t> ON ALL </a:t>
            </a:r>
            <a:r>
              <a:rPr lang="en-US" sz="1800" dirty="0">
                <a:solidFill>
                  <a:schemeClr val="tx1"/>
                </a:solidFill>
                <a:latin typeface="Nunito" panose="020B0604020202020204" charset="0"/>
                <a:cs typeface="Times New Roman" panose="02020603050405020304" pitchFamily="18" charset="0"/>
              </a:rPr>
              <a:t>TABLES</a:t>
            </a:r>
            <a:r>
              <a:rPr lang="en-US" sz="1800" b="1" dirty="0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</a:rPr>
              <a:t> IN SCHEMA 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public </a:t>
            </a:r>
            <a:r>
              <a:rPr lang="en-US" sz="1800" b="1" dirty="0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</a:rPr>
              <a:t>TO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admin_role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;</a:t>
            </a:r>
          </a:p>
          <a:p>
            <a:pPr marL="114300" algn="just">
              <a:buSzPts val="1800"/>
            </a:pPr>
            <a:endParaRPr lang="en-US" sz="1500" dirty="0">
              <a:latin typeface="Nunito" panose="020B0604020202020204" charset="0"/>
              <a:ea typeface="Aptos"/>
              <a:cs typeface="Times New Roman" panose="02020603050405020304" pitchFamily="18" charset="0"/>
            </a:endParaRPr>
          </a:p>
          <a:p>
            <a:pPr marL="114300" algn="just">
              <a:buSzPts val="1800"/>
            </a:pPr>
            <a:r>
              <a:rPr lang="en-US" sz="1800" b="1" dirty="0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</a:rPr>
              <a:t>GRANT ALL </a:t>
            </a:r>
            <a:r>
              <a:rPr lang="en-US" sz="1800" dirty="0">
                <a:solidFill>
                  <a:schemeClr val="tx1"/>
                </a:solidFill>
                <a:latin typeface="Nunito" panose="020B0604020202020204" charset="0"/>
                <a:cs typeface="Times New Roman" panose="02020603050405020304" pitchFamily="18" charset="0"/>
              </a:rPr>
              <a:t>PRIVILEGES</a:t>
            </a:r>
            <a:r>
              <a:rPr lang="en-US" sz="1800" b="1" dirty="0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</a:rPr>
              <a:t> ON </a:t>
            </a:r>
            <a:r>
              <a:rPr lang="en-US" sz="1800" dirty="0">
                <a:solidFill>
                  <a:schemeClr val="tx1"/>
                </a:solidFill>
                <a:latin typeface="Nunito" panose="020B0604020202020204" charset="0"/>
                <a:cs typeface="Times New Roman" panose="02020603050405020304" pitchFamily="18" charset="0"/>
              </a:rPr>
              <a:t>DATABASE</a:t>
            </a:r>
            <a:r>
              <a:rPr lang="en-US" sz="1800" b="1" dirty="0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meu_banco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</a:rPr>
              <a:t>TO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admin_role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;</a:t>
            </a:r>
          </a:p>
          <a:p>
            <a:pPr marL="457200" indent="-342900" algn="just">
              <a:buSzPts val="1800"/>
              <a:buFont typeface="Nunito"/>
              <a:buChar char="●"/>
            </a:pPr>
            <a:endParaRPr lang="pt-BR" sz="2000" dirty="0">
              <a:latin typeface="Nunito" panose="020B0604020202020204" charset="0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537683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GRANT</a:t>
            </a:r>
            <a:endParaRPr sz="2000" dirty="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0" name="Google Shape;110;p1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8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418200" y="960475"/>
            <a:ext cx="8279100" cy="357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342900" algn="just">
              <a:buSzPts val="1800"/>
              <a:buFont typeface="Nunito"/>
              <a:buChar char="●"/>
            </a:pPr>
            <a:r>
              <a:rPr lang="pt-BR" sz="2000" dirty="0">
                <a:latin typeface="Nunito" panose="020B0604020202020204" charset="0"/>
                <a:ea typeface="Nunito"/>
                <a:cs typeface="Nunito"/>
                <a:sym typeface="Nunito"/>
              </a:rPr>
              <a:t>Importante: conceder privilégios em nível de </a:t>
            </a:r>
            <a:r>
              <a:rPr lang="pt-BR" sz="2000" dirty="0" err="1">
                <a:latin typeface="Nunito" panose="020B0604020202020204" charset="0"/>
                <a:ea typeface="Nunito"/>
                <a:cs typeface="Nunito"/>
                <a:sym typeface="Nunito"/>
              </a:rPr>
              <a:t>DATABASE</a:t>
            </a:r>
            <a:r>
              <a:rPr lang="pt-BR" sz="2000" dirty="0">
                <a:latin typeface="Nunito" panose="020B0604020202020204" charset="0"/>
                <a:ea typeface="Nunito"/>
                <a:cs typeface="Nunito"/>
                <a:sym typeface="Nunito"/>
              </a:rPr>
              <a:t> (ex.: GRANT </a:t>
            </a:r>
            <a:r>
              <a:rPr lang="pt-BR" sz="2000" dirty="0" err="1">
                <a:latin typeface="Nunito" panose="020B0604020202020204" charset="0"/>
                <a:ea typeface="Nunito"/>
                <a:cs typeface="Nunito"/>
                <a:sym typeface="Nunito"/>
              </a:rPr>
              <a:t>ALL</a:t>
            </a:r>
            <a:r>
              <a:rPr lang="pt-BR" sz="2000" dirty="0">
                <a:latin typeface="Nunito" panose="020B0604020202020204" charset="0"/>
                <a:ea typeface="Nunito"/>
                <a:cs typeface="Nunito"/>
                <a:sym typeface="Nunito"/>
              </a:rPr>
              <a:t> ON </a:t>
            </a:r>
            <a:r>
              <a:rPr lang="pt-BR" sz="2000" dirty="0" err="1">
                <a:latin typeface="Nunito" panose="020B0604020202020204" charset="0"/>
                <a:ea typeface="Nunito"/>
                <a:cs typeface="Nunito"/>
                <a:sym typeface="Nunito"/>
              </a:rPr>
              <a:t>DATABASE</a:t>
            </a:r>
            <a:r>
              <a:rPr lang="pt-BR" sz="2000" dirty="0">
                <a:latin typeface="Nunito" panose="020B0604020202020204" charset="0"/>
                <a:ea typeface="Nunito"/>
                <a:cs typeface="Nunito"/>
                <a:sym typeface="Nunito"/>
              </a:rPr>
              <a:t> ...) não concede automaticamente permissões sobre as tabelas, </a:t>
            </a:r>
            <a:r>
              <a:rPr lang="pt-BR" sz="2000" dirty="0" err="1">
                <a:latin typeface="Nunito" panose="020B0604020202020204" charset="0"/>
                <a:ea typeface="Nunito"/>
                <a:cs typeface="Nunito"/>
                <a:sym typeface="Nunito"/>
              </a:rPr>
              <a:t>views</a:t>
            </a:r>
            <a:r>
              <a:rPr lang="pt-BR" sz="2000" dirty="0">
                <a:latin typeface="Nunito" panose="020B0604020202020204" charset="0"/>
                <a:ea typeface="Nunito"/>
                <a:cs typeface="Nunito"/>
                <a:sym typeface="Nunito"/>
              </a:rPr>
              <a:t> ou sequências existentes.</a:t>
            </a:r>
          </a:p>
          <a:p>
            <a:pPr marL="457200" indent="-342900" algn="just">
              <a:buSzPts val="1800"/>
              <a:buFont typeface="Nunito"/>
              <a:buChar char="●"/>
            </a:pPr>
            <a:endParaRPr lang="pt-BR" sz="2000" dirty="0">
              <a:latin typeface="Nunito" panose="020B0604020202020204" charset="0"/>
              <a:ea typeface="Nunito"/>
              <a:cs typeface="Nunito"/>
              <a:sym typeface="Nunito"/>
            </a:endParaRPr>
          </a:p>
          <a:p>
            <a:pPr marL="457200" indent="-342900" algn="just">
              <a:buSzPts val="1800"/>
              <a:buFont typeface="Nunito"/>
              <a:buChar char="●"/>
            </a:pPr>
            <a:r>
              <a:rPr lang="pt-BR" sz="2000" dirty="0">
                <a:latin typeface="Nunito" panose="020B0604020202020204" charset="0"/>
                <a:ea typeface="Nunito"/>
                <a:cs typeface="Nunito"/>
                <a:sym typeface="Nunito"/>
              </a:rPr>
              <a:t>Os privilégios dos níveis </a:t>
            </a:r>
            <a:r>
              <a:rPr lang="pt-BR" sz="2000" dirty="0" err="1">
                <a:latin typeface="Nunito" panose="020B0604020202020204" charset="0"/>
                <a:ea typeface="Nunito"/>
                <a:cs typeface="Nunito"/>
                <a:sym typeface="Nunito"/>
              </a:rPr>
              <a:t>DATABASE</a:t>
            </a:r>
            <a:r>
              <a:rPr lang="pt-BR" sz="2000" dirty="0">
                <a:latin typeface="Nunito" panose="020B0604020202020204" charset="0"/>
                <a:ea typeface="Nunito"/>
                <a:cs typeface="Nunito"/>
                <a:sym typeface="Nunito"/>
              </a:rPr>
              <a:t>, </a:t>
            </a:r>
            <a:r>
              <a:rPr lang="pt-BR" sz="2000" dirty="0" err="1">
                <a:latin typeface="Nunito" panose="020B0604020202020204" charset="0"/>
                <a:ea typeface="Nunito"/>
                <a:cs typeface="Nunito"/>
                <a:sym typeface="Nunito"/>
              </a:rPr>
              <a:t>TABLE</a:t>
            </a:r>
            <a:r>
              <a:rPr lang="pt-BR" sz="2000" dirty="0">
                <a:latin typeface="Nunito" panose="020B0604020202020204" charset="0"/>
                <a:ea typeface="Nunito"/>
                <a:cs typeface="Nunito"/>
                <a:sym typeface="Nunito"/>
              </a:rPr>
              <a:t>, </a:t>
            </a:r>
            <a:r>
              <a:rPr lang="pt-BR" sz="2000" dirty="0" err="1">
                <a:latin typeface="Nunito" panose="020B0604020202020204" charset="0"/>
                <a:ea typeface="Nunito"/>
                <a:cs typeface="Nunito"/>
                <a:sym typeface="Nunito"/>
              </a:rPr>
              <a:t>SCHEMA</a:t>
            </a:r>
            <a:r>
              <a:rPr lang="pt-BR" sz="2000" dirty="0">
                <a:latin typeface="Nunito" panose="020B0604020202020204" charset="0"/>
                <a:ea typeface="Nunito"/>
                <a:cs typeface="Nunito"/>
                <a:sym typeface="Nunito"/>
              </a:rPr>
              <a:t> e </a:t>
            </a:r>
            <a:r>
              <a:rPr lang="pt-BR" sz="2000" dirty="0" err="1">
                <a:latin typeface="Nunito" panose="020B0604020202020204" charset="0"/>
                <a:ea typeface="Nunito"/>
                <a:cs typeface="Nunito"/>
                <a:sym typeface="Nunito"/>
              </a:rPr>
              <a:t>SEQUENCE</a:t>
            </a:r>
            <a:r>
              <a:rPr lang="pt-BR" sz="2000" dirty="0">
                <a:latin typeface="Nunito" panose="020B0604020202020204" charset="0"/>
                <a:ea typeface="Nunito"/>
                <a:cs typeface="Nunito"/>
                <a:sym typeface="Nunito"/>
              </a:rPr>
              <a:t> devem ser atribuídos separadamente.</a:t>
            </a:r>
          </a:p>
          <a:p>
            <a:pPr marL="457200" indent="-342900" algn="just">
              <a:buSzPts val="1800"/>
              <a:buFont typeface="Nunito"/>
              <a:buChar char="●"/>
            </a:pPr>
            <a:endParaRPr lang="pt-BR" sz="2000" dirty="0">
              <a:latin typeface="Nunito" panose="020B0604020202020204" charset="0"/>
              <a:ea typeface="Nunito"/>
              <a:cs typeface="Nunito"/>
              <a:sym typeface="Nunito"/>
            </a:endParaRPr>
          </a:p>
          <a:p>
            <a:pPr marL="457200" indent="-342900" algn="just">
              <a:buSzPts val="1800"/>
              <a:buFont typeface="Nunito"/>
              <a:buChar char="●"/>
            </a:pPr>
            <a:r>
              <a:rPr lang="pt-BR" sz="2000" dirty="0">
                <a:latin typeface="Nunito" panose="020B0604020202020204" charset="0"/>
                <a:ea typeface="Nunito"/>
                <a:cs typeface="Nunito"/>
                <a:sym typeface="Nunito"/>
              </a:rPr>
              <a:t>Ou seja, os níveis de permissão são independentes: um usuário pode ter acesso ao banco, mas continuar sem permissão para consultar ou alterar tabelas.</a:t>
            </a:r>
            <a:endParaRPr lang="pt-BR" sz="1800" dirty="0">
              <a:effectLst/>
              <a:latin typeface="Nunito" panose="020B0604020202020204" charset="0"/>
              <a:ea typeface="Aptos"/>
              <a:cs typeface="Times New Roman" panose="02020603050405020304" pitchFamily="18" charset="0"/>
            </a:endParaRPr>
          </a:p>
          <a:p>
            <a:pPr marL="457200" indent="-342900" algn="just">
              <a:buSzPts val="1800"/>
              <a:buFont typeface="Nunito"/>
              <a:buChar char="●"/>
            </a:pPr>
            <a:endParaRPr lang="pt-BR" sz="2000" dirty="0">
              <a:latin typeface="Nunito" panose="020B0604020202020204" charset="0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875690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REVOKE</a:t>
            </a:r>
            <a:endParaRPr sz="2000" dirty="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0" name="Google Shape;110;p1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9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418200" y="960475"/>
            <a:ext cx="8279100" cy="3908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342900" algn="just">
              <a:buSzPts val="1800"/>
              <a:buFont typeface="Nunito"/>
              <a:buChar char="●"/>
            </a:pPr>
            <a:r>
              <a:rPr lang="pt-BR" sz="2200" dirty="0">
                <a:latin typeface="Nunito" panose="020B0604020202020204" charset="0"/>
                <a:ea typeface="Nunito"/>
                <a:cs typeface="Nunito"/>
                <a:sym typeface="Nunito"/>
              </a:rPr>
              <a:t>É utilizado para revogar (retirar) permissões anteriormente concedidas a usuários ou roles no banco de dados.</a:t>
            </a:r>
          </a:p>
          <a:p>
            <a:pPr marL="457200" indent="-342900" algn="just">
              <a:buSzPts val="1800"/>
              <a:buFont typeface="Nunito"/>
              <a:buChar char="●"/>
            </a:pPr>
            <a:endParaRPr lang="pt-BR" sz="2200" dirty="0">
              <a:latin typeface="Nunito" panose="020B0604020202020204" charset="0"/>
              <a:ea typeface="Nunito"/>
              <a:cs typeface="Nunito"/>
              <a:sym typeface="Nunito"/>
            </a:endParaRPr>
          </a:p>
          <a:p>
            <a:pPr marL="457200" indent="-342900" algn="just">
              <a:buSzPts val="1800"/>
              <a:buFont typeface="Nunito"/>
              <a:buChar char="●"/>
            </a:pPr>
            <a:r>
              <a:rPr lang="pt-BR" sz="2200" dirty="0">
                <a:latin typeface="Nunito" panose="020B0604020202020204" charset="0"/>
                <a:ea typeface="Nunito"/>
                <a:cs typeface="Nunito"/>
                <a:sym typeface="Nunito"/>
              </a:rPr>
              <a:t>Serve para restringir acessos ou ajustar privilégios, garantindo maior controle e segurança sobre os objetos do banco.</a:t>
            </a:r>
          </a:p>
          <a:p>
            <a:pPr marL="457200" indent="-342900" algn="just">
              <a:buSzPts val="1800"/>
              <a:buFont typeface="Nunito"/>
              <a:buChar char="●"/>
            </a:pPr>
            <a:endParaRPr lang="pt-BR" sz="2200" dirty="0">
              <a:effectLst/>
              <a:latin typeface="Nunito" panose="020B0604020202020204" charset="0"/>
              <a:ea typeface="Aptos"/>
              <a:cs typeface="Times New Roman" panose="02020603050405020304" pitchFamily="18" charset="0"/>
              <a:sym typeface="Nunito"/>
            </a:endParaRPr>
          </a:p>
          <a:p>
            <a:pPr marL="457200" indent="-342900" algn="just">
              <a:buSzPts val="1800"/>
              <a:buFont typeface="Nunito"/>
              <a:buChar char="●"/>
            </a:pPr>
            <a:r>
              <a:rPr lang="pt-BR" sz="22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Sintaxe básica:</a:t>
            </a:r>
          </a:p>
          <a:p>
            <a:pPr marL="114300" algn="just">
              <a:buSzPts val="1800"/>
            </a:pPr>
            <a:endParaRPr lang="pt-BR" sz="2200" dirty="0">
              <a:latin typeface="Nunito" panose="020B0604020202020204" charset="0"/>
              <a:ea typeface="Aptos"/>
              <a:cs typeface="Times New Roman" panose="02020603050405020304" pitchFamily="18" charset="0"/>
            </a:endParaRPr>
          </a:p>
          <a:p>
            <a:pPr marL="114300" algn="just">
              <a:buSzPts val="1800"/>
            </a:pPr>
            <a:r>
              <a:rPr lang="pt-BR" sz="22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REVOKE</a:t>
            </a:r>
            <a:r>
              <a:rPr lang="pt-BR" sz="22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&lt;PRIVILÉGIOS&gt; ON &lt;OBJETO&gt; </a:t>
            </a:r>
            <a:r>
              <a:rPr lang="pt-BR" sz="22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FROM</a:t>
            </a:r>
            <a:r>
              <a:rPr lang="pt-BR" sz="22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&lt;ROLE&gt;;</a:t>
            </a:r>
          </a:p>
          <a:p>
            <a:pPr marL="114300" algn="just">
              <a:buSzPts val="1800"/>
            </a:pPr>
            <a:endParaRPr lang="pt-BR" sz="2200" dirty="0">
              <a:effectLst/>
              <a:latin typeface="Nunito" panose="020B0604020202020204" charset="0"/>
              <a:ea typeface="Aptos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862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REVOKE</a:t>
            </a:r>
            <a:endParaRPr sz="2000" dirty="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0" name="Google Shape;110;p1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10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418200" y="960475"/>
            <a:ext cx="8279100" cy="381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algn="just">
              <a:buSzPts val="1800"/>
            </a:pP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REVOKE INSERT, UPDATE ON </a:t>
            </a:r>
            <a:r>
              <a:rPr lang="en-US" sz="1800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clientes</a:t>
            </a: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FROM </a:t>
            </a:r>
            <a:r>
              <a:rPr lang="en-US" sz="1800" dirty="0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john</a:t>
            </a: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;</a:t>
            </a:r>
          </a:p>
          <a:p>
            <a:pPr marL="114300" algn="just">
              <a:buSzPts val="1800"/>
            </a:pPr>
            <a:endParaRPr lang="en-US" sz="1800" b="1" dirty="0">
              <a:solidFill>
                <a:srgbClr val="007020"/>
              </a:solidFill>
              <a:effectLst/>
              <a:latin typeface="Nunito" panose="020B0604020202020204" charset="0"/>
              <a:ea typeface="Aptos"/>
              <a:cs typeface="Times New Roman" panose="02020603050405020304" pitchFamily="18" charset="0"/>
            </a:endParaRPr>
          </a:p>
          <a:p>
            <a:pPr marL="114300" algn="just">
              <a:buSzPts val="1800"/>
            </a:pPr>
            <a:endParaRPr lang="en-US" sz="1800" b="1" dirty="0">
              <a:solidFill>
                <a:srgbClr val="007020"/>
              </a:solidFill>
              <a:effectLst/>
              <a:latin typeface="Nunito" panose="020B0604020202020204" charset="0"/>
              <a:ea typeface="Aptos"/>
              <a:cs typeface="Times New Roman" panose="02020603050405020304" pitchFamily="18" charset="0"/>
            </a:endParaRPr>
          </a:p>
          <a:p>
            <a:pPr marL="114300" algn="just">
              <a:buSzPts val="1800"/>
            </a:pP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REVOKE ALL PRIVILEGES ON </a:t>
            </a:r>
            <a:r>
              <a:rPr lang="en-US" sz="1800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produtos</a:t>
            </a: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FROM </a:t>
            </a:r>
            <a:r>
              <a:rPr lang="en-US" sz="1800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readonly</a:t>
            </a: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;</a:t>
            </a:r>
          </a:p>
          <a:p>
            <a:pPr marL="114300" algn="just">
              <a:buSzPts val="1800"/>
            </a:pPr>
            <a:endParaRPr lang="en-US" sz="1800" b="1" dirty="0">
              <a:solidFill>
                <a:srgbClr val="007020"/>
              </a:solidFill>
              <a:effectLst/>
              <a:latin typeface="Nunito" panose="020B0604020202020204" charset="0"/>
              <a:ea typeface="Aptos"/>
              <a:cs typeface="Times New Roman" panose="02020603050405020304" pitchFamily="18" charset="0"/>
            </a:endParaRPr>
          </a:p>
          <a:p>
            <a:pPr marL="114300" algn="just">
              <a:buSzPts val="1800"/>
            </a:pPr>
            <a:endParaRPr lang="en-US" sz="1800" b="1" dirty="0">
              <a:solidFill>
                <a:srgbClr val="007020"/>
              </a:solidFill>
              <a:effectLst/>
              <a:latin typeface="Nunito" panose="020B0604020202020204" charset="0"/>
              <a:ea typeface="Aptos"/>
              <a:cs typeface="Times New Roman" panose="02020603050405020304" pitchFamily="18" charset="0"/>
            </a:endParaRPr>
          </a:p>
          <a:p>
            <a:pPr marL="114300" algn="just">
              <a:buSzPts val="1800"/>
            </a:pP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REVOKE SELECT ON </a:t>
            </a:r>
            <a:r>
              <a:rPr lang="en-US" sz="1800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vendas</a:t>
            </a: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FROM </a:t>
            </a:r>
            <a:r>
              <a:rPr lang="en-US" sz="1800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operador</a:t>
            </a:r>
            <a:r>
              <a:rPr lang="en-US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;</a:t>
            </a:r>
          </a:p>
          <a:p>
            <a:pPr marL="114300" algn="just">
              <a:buSzPts val="1800"/>
            </a:pPr>
            <a:endParaRPr lang="en-US" sz="1800" b="1" dirty="0">
              <a:solidFill>
                <a:srgbClr val="007020"/>
              </a:solidFill>
              <a:effectLst/>
              <a:latin typeface="Nunito" panose="020B0604020202020204" charset="0"/>
              <a:ea typeface="Aptos"/>
              <a:cs typeface="Times New Roman" panose="02020603050405020304" pitchFamily="18" charset="0"/>
            </a:endParaRPr>
          </a:p>
          <a:p>
            <a:pPr marL="114300" algn="just">
              <a:buSzPts val="1800"/>
            </a:pPr>
            <a:endParaRPr lang="pt-BR" sz="1800" b="1" dirty="0">
              <a:solidFill>
                <a:srgbClr val="007020"/>
              </a:solidFill>
              <a:latin typeface="Nunito" panose="020B0604020202020204" charset="0"/>
              <a:cs typeface="Times New Roman" panose="02020603050405020304" pitchFamily="18" charset="0"/>
            </a:endParaRPr>
          </a:p>
          <a:p>
            <a:pPr marL="114300" algn="just">
              <a:buSzPts val="1800"/>
            </a:pPr>
            <a:r>
              <a:rPr lang="pt-BR" sz="1800" b="1" dirty="0" err="1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</a:rPr>
              <a:t>REVOKE</a:t>
            </a:r>
            <a:r>
              <a:rPr lang="pt-BR" sz="1800" b="1" dirty="0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</a:rPr>
              <a:t> </a:t>
            </a:r>
            <a:r>
              <a:rPr lang="pt-BR" sz="1800" b="1" dirty="0" err="1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</a:rPr>
              <a:t>ALL</a:t>
            </a:r>
            <a:r>
              <a:rPr lang="pt-BR" sz="1800" b="1" dirty="0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</a:rPr>
              <a:t> </a:t>
            </a:r>
            <a:r>
              <a:rPr lang="pt-BR" sz="1800" b="1" dirty="0" err="1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</a:rPr>
              <a:t>PRIVILEGES</a:t>
            </a:r>
            <a:r>
              <a:rPr lang="pt-BR" sz="1800" b="1" dirty="0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</a:rPr>
              <a:t> ON </a:t>
            </a:r>
            <a:r>
              <a:rPr lang="pt-BR" sz="1800" b="1" dirty="0" err="1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</a:rPr>
              <a:t>DATABASE</a:t>
            </a:r>
            <a:r>
              <a:rPr lang="pt-BR" sz="1800" b="1" dirty="0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meu_banco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</a:rPr>
              <a:t>FROM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admin_role</a:t>
            </a:r>
            <a:r>
              <a:rPr lang="en-US" sz="18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;</a:t>
            </a:r>
          </a:p>
          <a:p>
            <a:pPr marL="114300" algn="just">
              <a:buSzPts val="1800"/>
            </a:pPr>
            <a:endParaRPr lang="pt-BR" sz="1800" dirty="0">
              <a:effectLst/>
              <a:latin typeface="Nunito" panose="020B0604020202020204" charset="0"/>
              <a:ea typeface="Aptos"/>
              <a:cs typeface="Times New Roman" panose="02020603050405020304" pitchFamily="18" charset="0"/>
            </a:endParaRPr>
          </a:p>
          <a:p>
            <a:pPr marL="114300" algn="just">
              <a:buSzPts val="1800"/>
            </a:pPr>
            <a:endParaRPr lang="pt-BR" sz="1800" dirty="0">
              <a:effectLst/>
              <a:latin typeface="Nunito" panose="020B0604020202020204" charset="0"/>
              <a:ea typeface="Aptos"/>
              <a:cs typeface="Times New Roman" panose="02020603050405020304" pitchFamily="18" charset="0"/>
            </a:endParaRPr>
          </a:p>
          <a:p>
            <a:pPr marL="457200" indent="-342900" algn="just">
              <a:buSzPts val="1800"/>
              <a:buFont typeface="Nunito"/>
              <a:buChar char="●"/>
            </a:pPr>
            <a:endParaRPr lang="pt-BR" sz="2000" dirty="0">
              <a:latin typeface="Nunito" panose="020B0604020202020204" charset="0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067713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ALTER ROLE</a:t>
            </a:r>
            <a:endParaRPr sz="2000" dirty="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0" name="Google Shape;110;p1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11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418200" y="960475"/>
            <a:ext cx="8279100" cy="424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342900" algn="just">
              <a:buSzPts val="1800"/>
              <a:buFont typeface="Nunito"/>
              <a:buChar char="●"/>
            </a:pPr>
            <a:r>
              <a:rPr lang="pt-BR" sz="22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O comando ALTER ROLE é utilizado para modificar propriedades de uma role (usuário ou grupo) já existente no PostgreSQL.</a:t>
            </a:r>
          </a:p>
          <a:p>
            <a:pPr marL="457200" indent="-342900" algn="just">
              <a:buSzPts val="1800"/>
              <a:buFont typeface="Nunito"/>
              <a:buChar char="●"/>
            </a:pPr>
            <a:endParaRPr lang="pt-BR" sz="2200" dirty="0">
              <a:effectLst/>
              <a:latin typeface="Nunito" panose="020B0604020202020204" charset="0"/>
              <a:ea typeface="Aptos"/>
              <a:cs typeface="Times New Roman" panose="02020603050405020304" pitchFamily="18" charset="0"/>
              <a:sym typeface="Nunito"/>
            </a:endParaRPr>
          </a:p>
          <a:p>
            <a:pPr marL="457200" indent="-342900" algn="just">
              <a:buSzPts val="1800"/>
              <a:buFont typeface="Nunito"/>
              <a:buChar char="●"/>
            </a:pPr>
            <a:r>
              <a:rPr lang="pt-BR" sz="22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Ele pode alterar permissões gerais do usuário, como:</a:t>
            </a:r>
          </a:p>
          <a:p>
            <a:pPr marL="114300" algn="just">
              <a:buSzPts val="1800"/>
            </a:pPr>
            <a:r>
              <a:rPr lang="pt-BR" sz="22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LOGIN ou </a:t>
            </a:r>
            <a:r>
              <a:rPr lang="pt-BR" sz="22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NOLOGIN</a:t>
            </a:r>
            <a:r>
              <a:rPr lang="pt-BR" sz="22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 – permitir ou impedir acesso ao banco</a:t>
            </a:r>
          </a:p>
          <a:p>
            <a:pPr marL="114300" algn="just">
              <a:buSzPts val="1800"/>
            </a:pPr>
            <a:r>
              <a:rPr lang="pt-BR" sz="22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SUPERUSER</a:t>
            </a:r>
            <a:r>
              <a:rPr lang="pt-BR" sz="22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 – conceder privilégios administrativos totais</a:t>
            </a:r>
          </a:p>
          <a:p>
            <a:pPr marL="114300" algn="just">
              <a:buSzPts val="1800"/>
            </a:pPr>
            <a:r>
              <a:rPr lang="pt-BR" sz="22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CREATEDB</a:t>
            </a:r>
            <a:r>
              <a:rPr lang="pt-BR" sz="22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 – permitir criar bancos de dados</a:t>
            </a:r>
          </a:p>
          <a:p>
            <a:pPr marL="114300" algn="just">
              <a:buSzPts val="1800"/>
            </a:pPr>
            <a:r>
              <a:rPr lang="pt-BR" sz="22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CREATEROLE</a:t>
            </a:r>
            <a:r>
              <a:rPr lang="pt-BR" sz="22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 – permitir criar novas roles</a:t>
            </a:r>
          </a:p>
          <a:p>
            <a:pPr marL="114300" algn="just">
              <a:buSzPts val="1800"/>
            </a:pPr>
            <a:r>
              <a:rPr lang="pt-BR" sz="22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PASSWORD</a:t>
            </a:r>
            <a:r>
              <a:rPr lang="pt-BR" sz="22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 – alterar a senha de acesso</a:t>
            </a:r>
          </a:p>
          <a:p>
            <a:pPr marL="114300" algn="just">
              <a:buSzPts val="1800"/>
            </a:pPr>
            <a:r>
              <a:rPr lang="pt-BR" sz="22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VALID</a:t>
            </a:r>
            <a:r>
              <a:rPr lang="pt-BR" sz="22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 </a:t>
            </a:r>
            <a:r>
              <a:rPr lang="pt-BR" sz="22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UNTIL</a:t>
            </a:r>
            <a:r>
              <a:rPr lang="pt-BR" sz="22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 – definir data de expiração</a:t>
            </a:r>
          </a:p>
          <a:p>
            <a:pPr marL="457200" indent="-342900" algn="just">
              <a:buSzPts val="1800"/>
              <a:buFont typeface="Nunito"/>
              <a:buChar char="●"/>
            </a:pPr>
            <a:endParaRPr lang="pt-BR" sz="2200" dirty="0">
              <a:effectLst/>
              <a:latin typeface="Nunito" panose="020B0604020202020204" charset="0"/>
              <a:ea typeface="Aptos"/>
              <a:cs typeface="Times New Roman" panose="02020603050405020304" pitchFamily="18" charset="0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890378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ALTER ROLE</a:t>
            </a:r>
            <a:endParaRPr sz="2000" dirty="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0" name="Google Shape;110;p1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418200" y="960475"/>
            <a:ext cx="8279100" cy="2554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342900" algn="just">
              <a:buSzPts val="1800"/>
              <a:buFont typeface="Nunito"/>
              <a:buChar char="●"/>
            </a:pPr>
            <a:r>
              <a:rPr lang="pt-BR" sz="2200" b="1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Importante: </a:t>
            </a:r>
            <a:r>
              <a:rPr lang="pt-BR" sz="22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ALTER ROLE não altera privilégios sobre objetos existentes (tabelas, esquemas, bancos). Para isso, ainda é necessário usar GRANT / </a:t>
            </a:r>
            <a:r>
              <a:rPr lang="pt-BR" sz="22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REVOKE</a:t>
            </a:r>
            <a:r>
              <a:rPr lang="pt-BR" sz="22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.</a:t>
            </a:r>
          </a:p>
          <a:p>
            <a:pPr marL="457200" indent="-342900" algn="just">
              <a:buSzPts val="1800"/>
              <a:buFont typeface="Nunito"/>
              <a:buChar char="●"/>
            </a:pPr>
            <a:endParaRPr lang="pt-BR" sz="2200" dirty="0">
              <a:effectLst/>
              <a:latin typeface="Nunito" panose="020B0604020202020204" charset="0"/>
              <a:ea typeface="Aptos"/>
              <a:cs typeface="Times New Roman" panose="02020603050405020304" pitchFamily="18" charset="0"/>
              <a:sym typeface="Nunito"/>
            </a:endParaRPr>
          </a:p>
          <a:p>
            <a:pPr marL="457200" indent="-342900" algn="just">
              <a:buSzPts val="1800"/>
              <a:buFont typeface="Nunito"/>
              <a:buChar char="●"/>
            </a:pPr>
            <a:endParaRPr lang="pt-BR" sz="2200" dirty="0">
              <a:effectLst/>
              <a:latin typeface="Nunito" panose="020B0604020202020204" charset="0"/>
              <a:ea typeface="Aptos"/>
              <a:cs typeface="Times New Roman" panose="02020603050405020304" pitchFamily="18" charset="0"/>
              <a:sym typeface="Nunito"/>
            </a:endParaRPr>
          </a:p>
          <a:p>
            <a:pPr marL="457200" indent="-342900" algn="just">
              <a:buSzPts val="1800"/>
              <a:buFont typeface="Nunito"/>
              <a:buChar char="●"/>
            </a:pPr>
            <a:r>
              <a:rPr lang="pt-BR" sz="2200" b="1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Sintaxe básica:</a:t>
            </a:r>
          </a:p>
          <a:p>
            <a:pPr marL="114300" algn="just">
              <a:buSzPts val="1800"/>
            </a:pPr>
            <a:r>
              <a:rPr lang="pt-BR" sz="22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ALTER ROLE </a:t>
            </a:r>
            <a:r>
              <a:rPr lang="pt-BR" sz="22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nome_da_role</a:t>
            </a:r>
            <a:r>
              <a:rPr lang="pt-BR" sz="22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[ </a:t>
            </a:r>
            <a:r>
              <a:rPr lang="pt-BR" sz="22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WITH</a:t>
            </a:r>
            <a:r>
              <a:rPr lang="pt-BR" sz="22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] </a:t>
            </a:r>
            <a:r>
              <a:rPr lang="pt-BR" sz="22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opção1</a:t>
            </a:r>
            <a:r>
              <a:rPr lang="pt-BR" sz="22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opção2</a:t>
            </a:r>
            <a:r>
              <a:rPr lang="pt-BR" sz="22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... ;</a:t>
            </a:r>
          </a:p>
        </p:txBody>
      </p:sp>
    </p:spTree>
    <p:extLst>
      <p:ext uri="{BB962C8B-B14F-4D97-AF65-F5344CB8AC3E}">
        <p14:creationId xmlns:p14="http://schemas.microsoft.com/office/powerpoint/2010/main" val="3265155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REVOKE</a:t>
            </a:r>
            <a:endParaRPr sz="2000" dirty="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0" name="Google Shape;110;p1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418200" y="960475"/>
            <a:ext cx="8279100" cy="406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algn="just">
              <a:buSzPts val="1800"/>
            </a:pPr>
            <a:r>
              <a:rPr lang="pt-BR" sz="1800" dirty="0">
                <a:solidFill>
                  <a:schemeClr val="bg2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-- Alterar a senha de uma role existente.</a:t>
            </a:r>
          </a:p>
          <a:p>
            <a:pPr marL="114300" algn="just">
              <a:buSzPts val="1800"/>
            </a:pPr>
            <a:r>
              <a:rPr lang="pt-BR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ALTER ROLE </a:t>
            </a:r>
            <a:r>
              <a:rPr lang="pt-BR" sz="1800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leo</a:t>
            </a:r>
            <a:r>
              <a:rPr lang="pt-BR" sz="1800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WITH</a:t>
            </a:r>
            <a:r>
              <a:rPr lang="pt-BR" sz="1800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PASSWORD</a:t>
            </a:r>
            <a:r>
              <a:rPr lang="pt-BR" sz="1800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pt-BR" sz="1800" dirty="0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'</a:t>
            </a:r>
            <a:r>
              <a:rPr lang="pt-BR" sz="1800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nova_senha</a:t>
            </a:r>
            <a:r>
              <a:rPr lang="pt-BR" sz="1800" dirty="0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';</a:t>
            </a:r>
          </a:p>
          <a:p>
            <a:pPr marL="114300" algn="just">
              <a:buSzPts val="1800"/>
            </a:pPr>
            <a:endParaRPr lang="pt-BR" sz="1800" dirty="0">
              <a:solidFill>
                <a:srgbClr val="007020"/>
              </a:solidFill>
              <a:effectLst/>
              <a:latin typeface="Nunito" panose="020B0604020202020204" charset="0"/>
              <a:ea typeface="Aptos"/>
              <a:cs typeface="Times New Roman" panose="02020603050405020304" pitchFamily="18" charset="0"/>
            </a:endParaRPr>
          </a:p>
          <a:p>
            <a:pPr marL="114300" algn="just">
              <a:buSzPts val="1800"/>
            </a:pPr>
            <a:r>
              <a:rPr lang="pt-BR" sz="1800" dirty="0">
                <a:solidFill>
                  <a:schemeClr val="bg2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-- Eleva o usuário '</a:t>
            </a:r>
            <a:r>
              <a:rPr lang="pt-BR" sz="1800" dirty="0" err="1">
                <a:solidFill>
                  <a:schemeClr val="bg2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leo</a:t>
            </a:r>
            <a:r>
              <a:rPr lang="pt-BR" sz="1800" dirty="0">
                <a:solidFill>
                  <a:schemeClr val="bg2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' ao nível de </a:t>
            </a:r>
            <a:r>
              <a:rPr lang="pt-BR" sz="1800" dirty="0" err="1">
                <a:solidFill>
                  <a:schemeClr val="bg2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SUPERUSER</a:t>
            </a:r>
            <a:r>
              <a:rPr lang="pt-BR" sz="1800" dirty="0">
                <a:solidFill>
                  <a:schemeClr val="bg2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.</a:t>
            </a:r>
          </a:p>
          <a:p>
            <a:pPr marL="114300" algn="just">
              <a:buSzPts val="1800"/>
            </a:pPr>
            <a:r>
              <a:rPr lang="pt-BR" sz="1800" dirty="0">
                <a:solidFill>
                  <a:schemeClr val="bg2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-- Um </a:t>
            </a:r>
            <a:r>
              <a:rPr lang="pt-BR" sz="1800" dirty="0" err="1">
                <a:solidFill>
                  <a:schemeClr val="bg2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SUPERUSER</a:t>
            </a:r>
            <a:r>
              <a:rPr lang="pt-BR" sz="1800" dirty="0">
                <a:solidFill>
                  <a:schemeClr val="bg2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no PostgreSQL ignora todas as regras de permissões (GRANT/</a:t>
            </a:r>
            <a:r>
              <a:rPr lang="pt-BR" sz="1800" dirty="0" err="1">
                <a:solidFill>
                  <a:schemeClr val="bg2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REVOKE</a:t>
            </a:r>
            <a:r>
              <a:rPr lang="pt-BR" sz="1800" dirty="0">
                <a:solidFill>
                  <a:schemeClr val="bg2"/>
                </a:solidFill>
                <a:latin typeface="Nunito" panose="020B0604020202020204" charset="0"/>
                <a:cs typeface="Times New Roman" panose="02020603050405020304" pitchFamily="18" charset="0"/>
              </a:rPr>
              <a:t>), passando a ter acesso irrestrito a todos os bancos, </a:t>
            </a:r>
            <a:r>
              <a:rPr lang="pt-BR" sz="1800" dirty="0" err="1">
                <a:solidFill>
                  <a:schemeClr val="bg2"/>
                </a:solidFill>
                <a:latin typeface="Nunito" panose="020B0604020202020204" charset="0"/>
                <a:cs typeface="Times New Roman" panose="02020603050405020304" pitchFamily="18" charset="0"/>
              </a:rPr>
              <a:t>schemas</a:t>
            </a:r>
            <a:r>
              <a:rPr lang="pt-BR" sz="1800" dirty="0">
                <a:solidFill>
                  <a:schemeClr val="bg2"/>
                </a:solidFill>
                <a:latin typeface="Nunito" panose="020B0604020202020204" charset="0"/>
                <a:cs typeface="Times New Roman" panose="02020603050405020304" pitchFamily="18" charset="0"/>
              </a:rPr>
              <a:t> e tabelas.</a:t>
            </a:r>
          </a:p>
          <a:p>
            <a:pPr marL="114300" algn="just">
              <a:buSzPts val="1800"/>
            </a:pPr>
            <a:r>
              <a:rPr lang="pt-BR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ALTER ROLE </a:t>
            </a:r>
            <a:r>
              <a:rPr lang="pt-BR" sz="1800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leo</a:t>
            </a:r>
            <a:r>
              <a:rPr lang="pt-BR" sz="1800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WITH</a:t>
            </a:r>
            <a:r>
              <a:rPr lang="pt-BR" sz="1800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SUPERUSER</a:t>
            </a:r>
            <a:r>
              <a:rPr lang="pt-BR" sz="1800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;</a:t>
            </a:r>
          </a:p>
          <a:p>
            <a:pPr marL="114300" algn="just">
              <a:buSzPts val="1800"/>
            </a:pPr>
            <a:endParaRPr lang="pt-BR" sz="1800" dirty="0">
              <a:solidFill>
                <a:srgbClr val="007020"/>
              </a:solidFill>
              <a:effectLst/>
              <a:latin typeface="Nunito" panose="020B0604020202020204" charset="0"/>
              <a:ea typeface="Aptos"/>
              <a:cs typeface="Times New Roman" panose="02020603050405020304" pitchFamily="18" charset="0"/>
            </a:endParaRPr>
          </a:p>
          <a:p>
            <a:pPr marL="114300" algn="just">
              <a:buSzPts val="1800"/>
            </a:pPr>
            <a:r>
              <a:rPr lang="pt-BR" sz="1800" dirty="0">
                <a:solidFill>
                  <a:schemeClr val="bg2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-- Alterar validade da role.</a:t>
            </a:r>
          </a:p>
          <a:p>
            <a:pPr marL="114300" algn="just">
              <a:buSzPts val="1800"/>
            </a:pPr>
            <a:r>
              <a:rPr lang="pt-BR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ALTER ROLE </a:t>
            </a:r>
            <a:r>
              <a:rPr lang="pt-BR" sz="1800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leo</a:t>
            </a:r>
            <a:r>
              <a:rPr lang="pt-BR" sz="1800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VALID</a:t>
            </a:r>
            <a:r>
              <a:rPr lang="pt-BR" sz="1800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UNTIL</a:t>
            </a:r>
            <a:r>
              <a:rPr lang="pt-BR" sz="1800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pt-BR" sz="1800" dirty="0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'2026-12-31';</a:t>
            </a:r>
          </a:p>
          <a:p>
            <a:pPr marL="114300" algn="just">
              <a:buSzPts val="1800"/>
            </a:pPr>
            <a:endParaRPr lang="pt-BR" sz="1800" dirty="0">
              <a:solidFill>
                <a:srgbClr val="007020"/>
              </a:solidFill>
              <a:effectLst/>
              <a:latin typeface="Nunito" panose="020B0604020202020204" charset="0"/>
              <a:ea typeface="Aptos"/>
              <a:cs typeface="Times New Roman" panose="02020603050405020304" pitchFamily="18" charset="0"/>
            </a:endParaRPr>
          </a:p>
          <a:p>
            <a:pPr marL="114300" algn="just">
              <a:buSzPts val="1800"/>
            </a:pPr>
            <a:r>
              <a:rPr lang="pt-BR" sz="1800" dirty="0">
                <a:solidFill>
                  <a:schemeClr val="bg2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-- Ajustar limite de conexões permitidas.</a:t>
            </a:r>
          </a:p>
          <a:p>
            <a:pPr marL="114300" algn="just">
              <a:buSzPts val="1800"/>
            </a:pPr>
            <a:r>
              <a:rPr lang="pt-BR" sz="1800" b="1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ALTER ROLE </a:t>
            </a:r>
            <a:r>
              <a:rPr lang="pt-BR" sz="1800" dirty="0" err="1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leo</a:t>
            </a:r>
            <a:r>
              <a:rPr lang="pt-BR" sz="1800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CONNECTION </a:t>
            </a:r>
            <a:r>
              <a:rPr lang="pt-BR" sz="1800" dirty="0" err="1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LIMIT</a:t>
            </a:r>
            <a:r>
              <a:rPr lang="pt-BR" sz="1800" dirty="0">
                <a:solidFill>
                  <a:srgbClr val="007020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pt-BR" sz="1800" dirty="0">
                <a:solidFill>
                  <a:schemeClr val="tx1"/>
                </a:solidFill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</a:rPr>
              <a:t>10;</a:t>
            </a:r>
          </a:p>
        </p:txBody>
      </p:sp>
    </p:spTree>
    <p:extLst>
      <p:ext uri="{BB962C8B-B14F-4D97-AF65-F5344CB8AC3E}">
        <p14:creationId xmlns:p14="http://schemas.microsoft.com/office/powerpoint/2010/main" val="1129358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DROP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ROLE</a:t>
            </a:r>
            <a:endParaRPr sz="2000" dirty="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0" name="Google Shape;110;p1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14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418200" y="960475"/>
            <a:ext cx="8279100" cy="357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342900" algn="just">
              <a:buSzPts val="1800"/>
              <a:buFont typeface="Nunito"/>
              <a:buChar char="●"/>
            </a:pPr>
            <a:r>
              <a:rPr lang="pt-BR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O comando </a:t>
            </a:r>
            <a:r>
              <a:rPr lang="pt-BR" sz="20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DROP</a:t>
            </a:r>
            <a:r>
              <a:rPr lang="pt-BR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 ROLE é usado para excluir uma role (usuário ou grupo) do PostgreSQL.</a:t>
            </a:r>
          </a:p>
          <a:p>
            <a:pPr marL="457200" indent="-342900" algn="just">
              <a:buSzPts val="1800"/>
              <a:buFont typeface="Nunito"/>
              <a:buChar char="●"/>
            </a:pPr>
            <a:endParaRPr lang="pt-BR" sz="2000" dirty="0">
              <a:latin typeface="Nunito" panose="020B0604020202020204" charset="0"/>
              <a:ea typeface="Aptos"/>
              <a:cs typeface="Times New Roman" panose="02020603050405020304" pitchFamily="18" charset="0"/>
              <a:sym typeface="Nunito"/>
            </a:endParaRPr>
          </a:p>
          <a:p>
            <a:pPr marL="457200" indent="-342900" algn="just">
              <a:buSzPts val="1800"/>
              <a:buFont typeface="Nunito"/>
              <a:buChar char="●"/>
            </a:pPr>
            <a:endParaRPr lang="pt-BR" sz="2000" dirty="0">
              <a:effectLst/>
              <a:latin typeface="Nunito" panose="020B0604020202020204" charset="0"/>
              <a:ea typeface="Aptos"/>
              <a:cs typeface="Times New Roman" panose="02020603050405020304" pitchFamily="18" charset="0"/>
              <a:sym typeface="Nunito"/>
            </a:endParaRPr>
          </a:p>
          <a:p>
            <a:pPr marL="457200" indent="-342900" algn="just">
              <a:buSzPts val="1800"/>
              <a:buFont typeface="Nunito"/>
              <a:buChar char="●"/>
            </a:pPr>
            <a:r>
              <a:rPr lang="pt-BR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Você só pode remover uma role se:</a:t>
            </a:r>
          </a:p>
          <a:p>
            <a:pPr marL="114300" algn="just">
              <a:buSzPts val="1800"/>
            </a:pPr>
            <a:r>
              <a:rPr lang="pt-BR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- Ela não tiver privilégios ativos</a:t>
            </a:r>
          </a:p>
          <a:p>
            <a:pPr marL="114300" algn="just">
              <a:buSzPts val="1800"/>
            </a:pPr>
            <a:r>
              <a:rPr lang="pt-BR" sz="2000" dirty="0"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- </a:t>
            </a:r>
            <a:r>
              <a:rPr lang="pt-BR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Ela não estiver atribuída a outra role</a:t>
            </a:r>
          </a:p>
          <a:p>
            <a:pPr marL="114300" algn="just">
              <a:buSzPts val="1800"/>
            </a:pPr>
            <a:endParaRPr lang="pt-BR" sz="2000" dirty="0">
              <a:effectLst/>
              <a:latin typeface="Nunito" panose="020B0604020202020204" charset="0"/>
              <a:ea typeface="Aptos"/>
              <a:cs typeface="Times New Roman" panose="02020603050405020304" pitchFamily="18" charset="0"/>
              <a:sym typeface="Nunito"/>
            </a:endParaRPr>
          </a:p>
          <a:p>
            <a:pPr marL="114300" algn="just">
              <a:buSzPts val="1800"/>
            </a:pPr>
            <a:endParaRPr lang="pt-BR" sz="2000" dirty="0">
              <a:latin typeface="Nunito" panose="020B0604020202020204" charset="0"/>
              <a:ea typeface="Aptos"/>
              <a:cs typeface="Times New Roman" panose="02020603050405020304" pitchFamily="18" charset="0"/>
              <a:sym typeface="Nunito"/>
            </a:endParaRPr>
          </a:p>
          <a:p>
            <a:pPr marL="114300" algn="just">
              <a:buSzPts val="1800"/>
            </a:pPr>
            <a:r>
              <a:rPr lang="pt-BR" sz="2000" b="1" dirty="0" err="1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  <a:sym typeface="Nunito"/>
              </a:rPr>
              <a:t>DROP</a:t>
            </a:r>
            <a:r>
              <a:rPr lang="pt-BR" sz="2000" b="1" dirty="0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  <a:sym typeface="Nunito"/>
              </a:rPr>
              <a:t> ROLE </a:t>
            </a:r>
            <a:r>
              <a:rPr lang="pt-BR" sz="20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sales_user</a:t>
            </a:r>
            <a:r>
              <a:rPr lang="pt-BR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;</a:t>
            </a:r>
          </a:p>
          <a:p>
            <a:pPr marL="114300" algn="just">
              <a:buSzPts val="1800"/>
            </a:pPr>
            <a:endParaRPr lang="pt-BR" sz="2000" dirty="0">
              <a:effectLst/>
              <a:latin typeface="Nunito" panose="020B0604020202020204" charset="0"/>
              <a:ea typeface="Aptos"/>
              <a:cs typeface="Times New Roman" panose="02020603050405020304" pitchFamily="18" charset="0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945921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 err="1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PG_ROLE</a:t>
            </a:r>
            <a:endParaRPr sz="2000" dirty="0">
              <a:solidFill>
                <a:schemeClr val="lt1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0" name="Google Shape;110;p18"/>
          <p:cNvSpPr txBox="1">
            <a:spLocks noGrp="1"/>
          </p:cNvSpPr>
          <p:nvPr>
            <p:ph type="sldNum" idx="12"/>
          </p:nvPr>
        </p:nvSpPr>
        <p:spPr>
          <a:xfrm>
            <a:off x="871776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15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418200" y="960475"/>
            <a:ext cx="8279100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indent="-342900" algn="just">
              <a:buSzPts val="1800"/>
              <a:buFont typeface="Nunito"/>
              <a:buChar char="●"/>
            </a:pPr>
            <a:r>
              <a:rPr lang="pt-BR" sz="20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pg_roles</a:t>
            </a:r>
            <a:r>
              <a:rPr lang="pt-BR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 é uma </a:t>
            </a:r>
            <a:r>
              <a:rPr lang="pt-BR" sz="20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view</a:t>
            </a:r>
            <a:r>
              <a:rPr lang="pt-BR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 que lista todas as roles existentes no PostgreSQL, incluindo usuários e grupos.</a:t>
            </a:r>
          </a:p>
          <a:p>
            <a:pPr marL="457200" indent="-342900" algn="just">
              <a:buSzPts val="1800"/>
              <a:buFont typeface="Nunito"/>
              <a:buChar char="●"/>
            </a:pPr>
            <a:endParaRPr lang="pt-BR" sz="2000" dirty="0">
              <a:effectLst/>
              <a:latin typeface="Nunito" panose="020B0604020202020204" charset="0"/>
              <a:ea typeface="Aptos"/>
              <a:cs typeface="Times New Roman" panose="02020603050405020304" pitchFamily="18" charset="0"/>
              <a:sym typeface="Nunito"/>
            </a:endParaRPr>
          </a:p>
          <a:p>
            <a:pPr marL="457200" indent="-342900" algn="just">
              <a:buSzPts val="1800"/>
              <a:buFont typeface="Nunito"/>
              <a:buChar char="●"/>
            </a:pPr>
            <a:r>
              <a:rPr lang="pt-BR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Ela mostra informações como:</a:t>
            </a:r>
          </a:p>
          <a:p>
            <a:pPr marL="114300" algn="just">
              <a:buSzPts val="1800"/>
            </a:pPr>
            <a:r>
              <a:rPr lang="pt-BR" sz="2000" dirty="0"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- </a:t>
            </a:r>
            <a:r>
              <a:rPr lang="pt-BR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Nome da role (</a:t>
            </a:r>
            <a:r>
              <a:rPr lang="pt-BR" sz="20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rolname</a:t>
            </a:r>
            <a:r>
              <a:rPr lang="pt-BR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)</a:t>
            </a:r>
          </a:p>
          <a:p>
            <a:pPr marL="114300" algn="just">
              <a:buSzPts val="1800"/>
            </a:pPr>
            <a:r>
              <a:rPr lang="pt-BR" sz="2000" dirty="0"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- </a:t>
            </a:r>
            <a:r>
              <a:rPr lang="pt-BR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Se pode fazer login (</a:t>
            </a:r>
            <a:r>
              <a:rPr lang="pt-BR" sz="20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rolcanlogin</a:t>
            </a:r>
            <a:r>
              <a:rPr lang="pt-BR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)</a:t>
            </a:r>
          </a:p>
          <a:p>
            <a:pPr marL="114300" algn="just">
              <a:buSzPts val="1800"/>
            </a:pPr>
            <a:r>
              <a:rPr lang="pt-BR" sz="2000" dirty="0"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- </a:t>
            </a:r>
            <a:r>
              <a:rPr lang="pt-BR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Se é </a:t>
            </a:r>
            <a:r>
              <a:rPr lang="pt-BR" sz="20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superusuário</a:t>
            </a:r>
            <a:r>
              <a:rPr lang="pt-BR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 (</a:t>
            </a:r>
            <a:r>
              <a:rPr lang="pt-BR" sz="20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rolsuper</a:t>
            </a:r>
            <a:r>
              <a:rPr lang="pt-BR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)</a:t>
            </a:r>
          </a:p>
          <a:p>
            <a:pPr marL="114300" algn="just">
              <a:buSzPts val="1800"/>
            </a:pPr>
            <a:r>
              <a:rPr lang="pt-BR" sz="2000" dirty="0"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- </a:t>
            </a:r>
            <a:r>
              <a:rPr lang="pt-BR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Se pode criar bancos (</a:t>
            </a:r>
            <a:r>
              <a:rPr lang="pt-BR" sz="20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rolcreatedb</a:t>
            </a:r>
            <a:r>
              <a:rPr lang="pt-BR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)</a:t>
            </a:r>
          </a:p>
          <a:p>
            <a:pPr marL="114300" algn="just">
              <a:buSzPts val="1800"/>
            </a:pPr>
            <a:r>
              <a:rPr lang="pt-BR" sz="2000" dirty="0"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- </a:t>
            </a:r>
            <a:r>
              <a:rPr lang="pt-BR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Se pode criar outras roles (</a:t>
            </a:r>
            <a:r>
              <a:rPr lang="pt-BR" sz="20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rolcreaterole</a:t>
            </a:r>
            <a:r>
              <a:rPr lang="pt-BR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)</a:t>
            </a:r>
          </a:p>
          <a:p>
            <a:pPr marL="114300" algn="just">
              <a:buSzPts val="1800"/>
            </a:pPr>
            <a:r>
              <a:rPr lang="pt-BR" sz="2000" dirty="0"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- </a:t>
            </a:r>
            <a:r>
              <a:rPr lang="pt-BR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Data de expiração (</a:t>
            </a:r>
            <a:r>
              <a:rPr lang="pt-BR" sz="2000" dirty="0" err="1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rolvaliduntil</a:t>
            </a:r>
            <a:r>
              <a:rPr lang="pt-BR" sz="2000" dirty="0">
                <a:effectLst/>
                <a:latin typeface="Nunito" panose="020B0604020202020204" charset="0"/>
                <a:ea typeface="Aptos"/>
                <a:cs typeface="Times New Roman" panose="02020603050405020304" pitchFamily="18" charset="0"/>
                <a:sym typeface="Nunito"/>
              </a:rPr>
              <a:t>)</a:t>
            </a:r>
            <a:endParaRPr lang="pt-BR" sz="2000" dirty="0">
              <a:latin typeface="Nunito" panose="020B0604020202020204" charset="0"/>
              <a:ea typeface="Aptos"/>
              <a:cs typeface="Times New Roman" panose="02020603050405020304" pitchFamily="18" charset="0"/>
              <a:sym typeface="Nunito"/>
            </a:endParaRPr>
          </a:p>
          <a:p>
            <a:pPr marL="114300" algn="just">
              <a:buSzPts val="1800"/>
            </a:pPr>
            <a:endParaRPr lang="pt-BR" sz="2000" dirty="0">
              <a:latin typeface="Nunito" panose="020B0604020202020204" charset="0"/>
              <a:ea typeface="Aptos"/>
              <a:cs typeface="Times New Roman" panose="02020603050405020304" pitchFamily="18" charset="0"/>
              <a:sym typeface="Nunito"/>
            </a:endParaRPr>
          </a:p>
          <a:p>
            <a:pPr marL="114300" algn="just">
              <a:buSzPts val="1800"/>
            </a:pPr>
            <a:r>
              <a:rPr lang="pt-BR" sz="2000" b="1" dirty="0" err="1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  <a:sym typeface="Nunito"/>
              </a:rPr>
              <a:t>SELECT</a:t>
            </a:r>
            <a:r>
              <a:rPr lang="pt-BR" sz="2000" dirty="0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Nunito" panose="020B0604020202020204" charset="0"/>
                <a:cs typeface="Times New Roman" panose="02020603050405020304" pitchFamily="18" charset="0"/>
                <a:sym typeface="Nunito"/>
              </a:rPr>
              <a:t>*</a:t>
            </a:r>
            <a:r>
              <a:rPr lang="pt-BR" sz="2000" dirty="0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pt-BR" sz="2000" b="1" dirty="0" err="1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  <a:sym typeface="Nunito"/>
              </a:rPr>
              <a:t>FROM</a:t>
            </a:r>
            <a:r>
              <a:rPr lang="pt-BR" sz="2000" b="1" dirty="0">
                <a:solidFill>
                  <a:srgbClr val="007020"/>
                </a:solidFill>
                <a:latin typeface="Nunito" panose="020B0604020202020204" charset="0"/>
                <a:cs typeface="Times New Roman" panose="02020603050405020304" pitchFamily="18" charset="0"/>
                <a:sym typeface="Nunito"/>
              </a:rPr>
              <a:t> </a:t>
            </a:r>
            <a:r>
              <a:rPr lang="pt-BR" sz="2000" dirty="0" err="1">
                <a:solidFill>
                  <a:schemeClr val="tx1"/>
                </a:solidFill>
                <a:latin typeface="Nunito" panose="020B0604020202020204" charset="0"/>
                <a:cs typeface="Times New Roman" panose="02020603050405020304" pitchFamily="18" charset="0"/>
                <a:sym typeface="Nunito"/>
              </a:rPr>
              <a:t>pg_roles</a:t>
            </a:r>
            <a:r>
              <a:rPr lang="pt-BR" sz="2000" dirty="0">
                <a:solidFill>
                  <a:schemeClr val="tx1"/>
                </a:solidFill>
                <a:latin typeface="Nunito" panose="020B0604020202020204" charset="0"/>
                <a:cs typeface="Times New Roman" panose="02020603050405020304" pitchFamily="18" charset="0"/>
                <a:sym typeface="Nunito"/>
              </a:rPr>
              <a:t>;</a:t>
            </a:r>
            <a:endParaRPr lang="pt-BR" sz="2000" dirty="0">
              <a:solidFill>
                <a:schemeClr val="tx1"/>
              </a:solidFill>
              <a:effectLst/>
              <a:latin typeface="Nunito" panose="020B0604020202020204" charset="0"/>
              <a:ea typeface="Aptos"/>
              <a:cs typeface="Times New Roman" panose="02020603050405020304" pitchFamily="18" charset="0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782766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7"/>
          <p:cNvSpPr/>
          <p:nvPr/>
        </p:nvSpPr>
        <p:spPr>
          <a:xfrm>
            <a:off x="643050" y="7662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0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Continua na próxima aula…</a:t>
            </a:r>
            <a:endParaRPr sz="3000" b="0" i="0" u="none" strike="noStrike" cap="none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312" name="Google Shape;312;p37"/>
          <p:cNvSpPr txBox="1"/>
          <p:nvPr/>
        </p:nvSpPr>
        <p:spPr>
          <a:xfrm>
            <a:off x="559950" y="3760700"/>
            <a:ext cx="8024100" cy="7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UNIVERSIDADE DE RIO VERDE (UniRV)</a:t>
            </a:r>
            <a:endParaRPr sz="15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5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Bacharelado em Engenharia de Software</a:t>
            </a:r>
            <a:endParaRPr sz="1500" b="0" i="0" u="none" strike="noStrike" cap="none">
              <a:solidFill>
                <a:srgbClr val="5E5E5E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14" name="Google Shape;314;p37" descr="Image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8207" y="3162901"/>
            <a:ext cx="1371774" cy="137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7" descr="Imagem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54548" y="3317763"/>
            <a:ext cx="1595574" cy="10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983</Words>
  <Application>Microsoft Office PowerPoint</Application>
  <PresentationFormat>Apresentação na tela (16:9)</PresentationFormat>
  <Paragraphs>158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3" baseType="lpstr">
      <vt:lpstr>Times New Roman</vt:lpstr>
      <vt:lpstr>Maven Pro SemiBold</vt:lpstr>
      <vt:lpstr>Helvetica Neue</vt:lpstr>
      <vt:lpstr>Arial</vt:lpstr>
      <vt:lpstr>Maven Pro Medium</vt:lpstr>
      <vt:lpstr>Nunito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Leandro</cp:lastModifiedBy>
  <cp:revision>7</cp:revision>
  <dcterms:modified xsi:type="dcterms:W3CDTF">2025-10-08T22:51:31Z</dcterms:modified>
</cp:coreProperties>
</file>