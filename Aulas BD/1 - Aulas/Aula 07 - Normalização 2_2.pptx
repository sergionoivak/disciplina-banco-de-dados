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8"/>
  </p:notesMasterIdLst>
  <p:sldIdLst>
    <p:sldId id="257" r:id="rId2"/>
    <p:sldId id="258" r:id="rId3"/>
    <p:sldId id="267" r:id="rId4"/>
    <p:sldId id="268" r:id="rId5"/>
    <p:sldId id="259" r:id="rId6"/>
    <p:sldId id="260" r:id="rId7"/>
    <p:sldId id="270" r:id="rId8"/>
    <p:sldId id="261" r:id="rId9"/>
    <p:sldId id="262" r:id="rId10"/>
    <p:sldId id="269" r:id="rId11"/>
    <p:sldId id="263" r:id="rId12"/>
    <p:sldId id="271" r:id="rId13"/>
    <p:sldId id="264" r:id="rId14"/>
    <p:sldId id="265" r:id="rId15"/>
    <p:sldId id="266" r:id="rId16"/>
    <p:sldId id="272" r:id="rId17"/>
  </p:sldIdLst>
  <p:sldSz cx="9144000" cy="5143500" type="screen16x9"/>
  <p:notesSz cx="6858000" cy="9144000"/>
  <p:embeddedFontLst>
    <p:embeddedFont>
      <p:font typeface="Helvetica Neue" panose="020B0604020202020204" charset="0"/>
      <p:regular r:id="rId19"/>
      <p:bold r:id="rId20"/>
      <p:italic r:id="rId21"/>
      <p:boldItalic r:id="rId22"/>
    </p:embeddedFont>
    <p:embeddedFont>
      <p:font typeface="Maven Pro Medium" panose="020B0604020202020204" charset="0"/>
      <p:regular r:id="rId23"/>
      <p:bold r:id="rId24"/>
    </p:embeddedFont>
    <p:embeddedFont>
      <p:font typeface="Maven Pro SemiBold" panose="020B0604020202020204" charset="0"/>
      <p:regular r:id="rId25"/>
      <p:bold r:id="rId26"/>
    </p:embeddedFont>
    <p:embeddedFont>
      <p:font typeface="Nunito" panose="020B0604020202020204" charset="0"/>
      <p:regular r:id="rId27"/>
      <p:bold r:id="rId28"/>
      <p:italic r:id="rId29"/>
      <p:boldItalic r:id="rId30"/>
    </p:embeddedFont>
    <p:embeddedFont>
      <p:font typeface="Nunito Medium" panose="020B0604020202020204" charset="0"/>
      <p:regular r:id="rId31"/>
      <p:bold r:id="rId32"/>
      <p:italic r:id="rId33"/>
      <p:boldItalic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C799B32-B8F3-4BFF-BD6D-73B61F65EC06}">
  <a:tblStyle styleId="{7C799B32-B8F3-4BFF-BD6D-73B61F65EC0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0482" autoAdjust="0"/>
  </p:normalViewPr>
  <p:slideViewPr>
    <p:cSldViewPr snapToGrid="0">
      <p:cViewPr varScale="1">
        <p:scale>
          <a:sx n="91" d="100"/>
          <a:sy n="91" d="100"/>
        </p:scale>
        <p:origin x="1210" y="5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34" Type="http://schemas.openxmlformats.org/officeDocument/2006/relationships/font" Target="fonts/font1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33" Type="http://schemas.openxmlformats.org/officeDocument/2006/relationships/font" Target="fonts/font15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font" Target="fonts/font14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font" Target="fonts/font1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font" Target="fonts/font12.fntdata"/><Relationship Id="rId35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3" name="Google Shape;63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1f573f7c119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2" name="Google Shape;72;g1f573f7c119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1f573f7c119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2" name="Google Shape;152;g1f573f7c119_0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1f573f7c119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2" name="Google Shape;152;g1f573f7c119_0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309408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1f573f7c119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1" name="Google Shape;81;g1f573f7c119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pt-BR" sz="1100" dirty="0">
                <a:latin typeface="Nunito"/>
                <a:ea typeface="Nunito"/>
                <a:cs typeface="Nunito"/>
                <a:sym typeface="Nunito"/>
              </a:rPr>
              <a:t>Isto significa que qualquer atributo não chave não pode determinar outro atributo. </a:t>
            </a:r>
            <a:endParaRPr lang="pt-BR" sz="100" dirty="0"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2cbbb4073ec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" name="Google Shape;91;g2cbbb4073ec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2cbbb4073ec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g2cbbb4073ec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991803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2cbbb4073ec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g2cbbb4073ec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2cbbb4073ec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3" name="Google Shape;113;g2cbbb4073ec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2cbbb4073ec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3" name="Google Shape;113;g2cbbb4073ec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8352208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2cbbb4073ec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" name="Google Shape;124;g2cbbb4073ec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2cbbb4073ec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" name="Google Shape;124;g2cbbb4073ec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9564262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cbbb4073ec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5" name="Google Shape;135;g2cbbb4073ec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2cbbb4073ec_0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6" name="Google Shape;146;g2cbbb4073ec_0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61be311bf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7" name="Google Shape;157;g361be311bf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61be311bfd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7" name="Google Shape;167;g361be311bfd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66" name="Google Shape;66;p14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67" name="Google Shape;67;p14"/>
          <p:cNvSpPr txBox="1">
            <a:spLocks noGrp="1"/>
          </p:cNvSpPr>
          <p:nvPr>
            <p:ph type="sldNum" idx="12"/>
          </p:nvPr>
        </p:nvSpPr>
        <p:spPr>
          <a:xfrm>
            <a:off x="867373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1</a:t>
            </a:fld>
            <a:endParaRPr b="1">
              <a:solidFill>
                <a:schemeClr val="lt1"/>
              </a:solidFill>
            </a:endParaRPr>
          </a:p>
        </p:txBody>
      </p:sp>
      <p:pic>
        <p:nvPicPr>
          <p:cNvPr id="68" name="Google Shape;68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23425" y="56679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4"/>
          <p:cNvSpPr/>
          <p:nvPr/>
        </p:nvSpPr>
        <p:spPr>
          <a:xfrm>
            <a:off x="508325" y="1719500"/>
            <a:ext cx="7857900" cy="17736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rPr lang="pt-BR" sz="3200">
                <a:solidFill>
                  <a:srgbClr val="FFFFFF"/>
                </a:solidFill>
                <a:latin typeface="Maven Pro SemiBold"/>
                <a:ea typeface="Maven Pro SemiBold"/>
                <a:cs typeface="Maven Pro SemiBold"/>
                <a:sym typeface="Maven Pro SemiBold"/>
              </a:rPr>
              <a:t> Normalização 2/2</a:t>
            </a:r>
            <a:endParaRPr sz="3200">
              <a:solidFill>
                <a:srgbClr val="FFFFFF"/>
              </a:solidFill>
              <a:latin typeface="Maven Pro SemiBold"/>
              <a:ea typeface="Maven Pro SemiBold"/>
              <a:cs typeface="Maven Pro SemiBold"/>
              <a:sym typeface="Maven Pro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75" name="Google Shape;75;p15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76" name="Google Shape;76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23425" y="56679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5"/>
          <p:cNvSpPr/>
          <p:nvPr/>
        </p:nvSpPr>
        <p:spPr>
          <a:xfrm>
            <a:off x="508325" y="1719500"/>
            <a:ext cx="7857900" cy="17736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rPr lang="pt-BR" sz="3200">
                <a:solidFill>
                  <a:srgbClr val="FFFFFF"/>
                </a:solidFill>
                <a:latin typeface="Maven Pro SemiBold"/>
                <a:ea typeface="Maven Pro SemiBold"/>
                <a:cs typeface="Maven Pro SemiBold"/>
                <a:sym typeface="Maven Pro SemiBold"/>
              </a:rPr>
              <a:t> Forma Normal de Boyce-Codd</a:t>
            </a:r>
            <a:endParaRPr sz="3200">
              <a:solidFill>
                <a:srgbClr val="FFFFFF"/>
              </a:solidFill>
              <a:latin typeface="Maven Pro SemiBold"/>
              <a:ea typeface="Maven Pro SemiBold"/>
              <a:cs typeface="Maven Pro SemiBold"/>
              <a:sym typeface="Maven Pro SemiBold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rPr lang="pt-BR" sz="3200">
                <a:solidFill>
                  <a:srgbClr val="FFFFFF"/>
                </a:solidFill>
                <a:latin typeface="Maven Pro SemiBold"/>
                <a:ea typeface="Maven Pro SemiBold"/>
                <a:cs typeface="Maven Pro SemiBold"/>
                <a:sym typeface="Maven Pro SemiBold"/>
              </a:rPr>
              <a:t>(FNBC)</a:t>
            </a:r>
            <a:endParaRPr sz="3200">
              <a:solidFill>
                <a:srgbClr val="FFFFFF"/>
              </a:solidFill>
              <a:latin typeface="Maven Pro SemiBold"/>
              <a:ea typeface="Maven Pro SemiBold"/>
              <a:cs typeface="Maven Pro SemiBold"/>
              <a:sym typeface="Maven Pro SemiBold"/>
            </a:endParaRPr>
          </a:p>
        </p:txBody>
      </p:sp>
      <p:sp>
        <p:nvSpPr>
          <p:cNvPr id="78" name="Google Shape;78;p15"/>
          <p:cNvSpPr txBox="1">
            <a:spLocks noGrp="1"/>
          </p:cNvSpPr>
          <p:nvPr>
            <p:ph type="sldNum" idx="12"/>
          </p:nvPr>
        </p:nvSpPr>
        <p:spPr>
          <a:xfrm>
            <a:off x="871776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2</a:t>
            </a:fld>
            <a:endParaRPr b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2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Dependência Funcional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155" name="Google Shape;155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22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57" name="Google Shape;157;p22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58" name="Google Shape;158;p22"/>
          <p:cNvSpPr txBox="1"/>
          <p:nvPr/>
        </p:nvSpPr>
        <p:spPr>
          <a:xfrm>
            <a:off x="418200" y="884275"/>
            <a:ext cx="8279100" cy="28622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Em uma tabela relacional, diz-se que uma coluna Y depende funcionalmente de uma coluna X quando, em todas as linhas da tabela, para cada valor de X que aparece na tabela, o mesmo valor de Y.</a:t>
            </a:r>
            <a:endParaRPr sz="2000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300" b="1" dirty="0">
                <a:latin typeface="Nunito"/>
                <a:ea typeface="Nunito"/>
                <a:cs typeface="Nunito"/>
                <a:sym typeface="Nunito"/>
              </a:rPr>
              <a:t>X → Y</a:t>
            </a:r>
          </a:p>
          <a:p>
            <a:pPr marL="45720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300" dirty="0">
                <a:latin typeface="Nunito"/>
                <a:ea typeface="Nunito"/>
                <a:cs typeface="Nunito"/>
                <a:sym typeface="Nunito"/>
              </a:rPr>
              <a:t>Lê-se que X determina funcionalmente Y</a:t>
            </a:r>
          </a:p>
          <a:p>
            <a:pPr marL="45720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pt-BR" sz="500" b="1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300" b="1" dirty="0">
                <a:latin typeface="Nunito"/>
                <a:ea typeface="Nunito"/>
                <a:cs typeface="Nunito"/>
                <a:sym typeface="Nunito"/>
              </a:rPr>
              <a:t>Exemplo: </a:t>
            </a:r>
            <a:r>
              <a:rPr lang="pt-BR" sz="2300" b="1" dirty="0" err="1">
                <a:latin typeface="Nunito"/>
                <a:ea typeface="Nunito"/>
                <a:cs typeface="Nunito"/>
                <a:sym typeface="Nunito"/>
              </a:rPr>
              <a:t>cod_produto</a:t>
            </a:r>
            <a:r>
              <a:rPr lang="pt-BR" sz="2300" b="1" dirty="0"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pt-BR" sz="2300" b="1" dirty="0">
                <a:latin typeface="Nunito"/>
                <a:ea typeface="Nunito"/>
                <a:cs typeface="Nunito"/>
                <a:sym typeface="Wingdings" panose="05000000000000000000" pitchFamily="2" charset="2"/>
              </a:rPr>
              <a:t></a:t>
            </a:r>
            <a:r>
              <a:rPr lang="pt-BR" sz="2300" b="1" dirty="0"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pt-BR" sz="2300" b="1" dirty="0" err="1">
                <a:latin typeface="Nunito"/>
                <a:ea typeface="Nunito"/>
                <a:cs typeface="Nunito"/>
                <a:sym typeface="Nunito"/>
              </a:rPr>
              <a:t>nome_produto</a:t>
            </a:r>
            <a:endParaRPr sz="2300" b="1" dirty="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59" name="Google Shape;159;p22"/>
          <p:cNvSpPr txBox="1">
            <a:spLocks noGrp="1"/>
          </p:cNvSpPr>
          <p:nvPr>
            <p:ph type="sldNum" idx="12"/>
          </p:nvPr>
        </p:nvSpPr>
        <p:spPr>
          <a:xfrm>
            <a:off x="871776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3</a:t>
            </a:fld>
            <a:endParaRPr b="1">
              <a:solidFill>
                <a:schemeClr val="lt1"/>
              </a:solidFill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6B7C488A-A55B-49A3-B390-5E55FE05AA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45498" y="3659699"/>
            <a:ext cx="4922227" cy="148380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2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Dependência Funcional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155" name="Google Shape;155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22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57" name="Google Shape;157;p22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58" name="Google Shape;158;p22"/>
          <p:cNvSpPr txBox="1"/>
          <p:nvPr/>
        </p:nvSpPr>
        <p:spPr>
          <a:xfrm>
            <a:off x="418200" y="884275"/>
            <a:ext cx="8279100" cy="3877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A </a:t>
            </a:r>
            <a:r>
              <a:rPr lang="pt-BR" sz="2000" b="1" dirty="0">
                <a:latin typeface="Nunito"/>
                <a:ea typeface="Nunito"/>
                <a:cs typeface="Nunito"/>
                <a:sym typeface="Nunito"/>
              </a:rPr>
              <a:t>dependência funcional trivial </a:t>
            </a: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fala que um determinante com mais de um atributo pode determinar seus próprios membros quando isolados. Um exemplo:</a:t>
            </a:r>
          </a:p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[banco, agência] --&gt; banco (DF trivial, pois banco é parte do determinante)</a:t>
            </a:r>
          </a:p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[banco, agência] --&gt; agência (DF trivial, pois agência é parte do determinante)</a:t>
            </a:r>
          </a:p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endParaRPr lang="pt-BR" sz="2000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Quando um determinante identifica outro atributo qualquer, temos uma dependência </a:t>
            </a:r>
            <a:r>
              <a:rPr lang="pt-BR" sz="2000" b="1" dirty="0">
                <a:latin typeface="Nunito"/>
                <a:ea typeface="Nunito"/>
                <a:cs typeface="Nunito"/>
                <a:sym typeface="Nunito"/>
              </a:rPr>
              <a:t>funcional não trivial</a:t>
            </a: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. Um exemplo:</a:t>
            </a:r>
          </a:p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[banco, agência] --&gt; cidade (DF não trivial, pois cidade não faz parte do determinante)</a:t>
            </a:r>
            <a:endParaRPr lang="pt-BR" sz="2300" b="1" dirty="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59" name="Google Shape;159;p22"/>
          <p:cNvSpPr txBox="1">
            <a:spLocks noGrp="1"/>
          </p:cNvSpPr>
          <p:nvPr>
            <p:ph type="sldNum" idx="12"/>
          </p:nvPr>
        </p:nvSpPr>
        <p:spPr>
          <a:xfrm>
            <a:off x="871776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4</a:t>
            </a:fld>
            <a:endParaRPr b="1">
              <a:solidFill>
                <a:schemeClr val="l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5883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6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Forma Normal de Boyce-Codd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84" name="Google Shape;84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6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87" name="Google Shape;87;p16"/>
          <p:cNvSpPr txBox="1"/>
          <p:nvPr/>
        </p:nvSpPr>
        <p:spPr>
          <a:xfrm>
            <a:off x="418200" y="960475"/>
            <a:ext cx="8279100" cy="4185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A formal normal de </a:t>
            </a:r>
            <a:r>
              <a:rPr lang="pt-BR" sz="2000" dirty="0" err="1">
                <a:latin typeface="Nunito"/>
                <a:ea typeface="Nunito"/>
                <a:cs typeface="Nunito"/>
                <a:sym typeface="Nunito"/>
              </a:rPr>
              <a:t>Boyce-Codd</a:t>
            </a: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 (</a:t>
            </a:r>
            <a:r>
              <a:rPr lang="pt-BR" sz="2000" dirty="0" err="1">
                <a:latin typeface="Nunito"/>
                <a:ea typeface="Nunito"/>
                <a:cs typeface="Nunito"/>
                <a:sym typeface="Nunito"/>
              </a:rPr>
              <a:t>FNBC</a:t>
            </a: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) foi proposta como uma forma mais simples da </a:t>
            </a:r>
            <a:r>
              <a:rPr lang="pt-BR" sz="2000" dirty="0" err="1">
                <a:latin typeface="Nunito"/>
                <a:ea typeface="Nunito"/>
                <a:cs typeface="Nunito"/>
                <a:sym typeface="Nunito"/>
              </a:rPr>
              <a:t>3FN</a:t>
            </a: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, entretanto, essa forma normal acaba sendo mais rigorosa do que </a:t>
            </a:r>
            <a:r>
              <a:rPr lang="pt-BR" sz="2000" dirty="0" err="1">
                <a:latin typeface="Nunito"/>
                <a:ea typeface="Nunito"/>
                <a:cs typeface="Nunito"/>
                <a:sym typeface="Nunito"/>
              </a:rPr>
              <a:t>3FN</a:t>
            </a: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;</a:t>
            </a:r>
            <a:endParaRPr sz="2000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Um esquema de relação está na </a:t>
            </a:r>
            <a:r>
              <a:rPr lang="pt-BR" sz="2000" dirty="0" err="1">
                <a:latin typeface="Nunito"/>
                <a:ea typeface="Nunito"/>
                <a:cs typeface="Nunito"/>
                <a:sym typeface="Nunito"/>
              </a:rPr>
              <a:t>FNBC</a:t>
            </a: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 Para toda dependência funcional não trivial X → Y, o conjunto de atributos X deve ser uma </a:t>
            </a:r>
            <a:r>
              <a:rPr lang="pt-BR" sz="2000" dirty="0" err="1">
                <a:latin typeface="Nunito"/>
                <a:ea typeface="Nunito"/>
                <a:cs typeface="Nunito"/>
                <a:sym typeface="Nunito"/>
              </a:rPr>
              <a:t>superchave</a:t>
            </a: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 da relação.</a:t>
            </a:r>
          </a:p>
          <a:p>
            <a:pPr marL="101600" lvl="0" algn="just" rtl="0">
              <a:spcBef>
                <a:spcPts val="0"/>
              </a:spcBef>
              <a:spcAft>
                <a:spcPts val="0"/>
              </a:spcAft>
              <a:buSzPts val="2000"/>
            </a:pPr>
            <a:endParaRPr sz="2000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r>
              <a:rPr lang="pt-BR" sz="2000" b="1" dirty="0" err="1">
                <a:latin typeface="Nunito"/>
                <a:ea typeface="Nunito"/>
                <a:cs typeface="Nunito"/>
                <a:sym typeface="Nunito"/>
              </a:rPr>
              <a:t>Superchave</a:t>
            </a: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 = conjunto de atributos que identifica unicamente cada linha da tabela.</a:t>
            </a:r>
          </a:p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endParaRPr lang="pt-BR" sz="2000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Em outras palavras: nenhum atributo que não seja chave pode determinar outro atributo.</a:t>
            </a:r>
          </a:p>
        </p:txBody>
      </p:sp>
      <p:sp>
        <p:nvSpPr>
          <p:cNvPr id="88" name="Google Shape;88;p16"/>
          <p:cNvSpPr txBox="1">
            <a:spLocks noGrp="1"/>
          </p:cNvSpPr>
          <p:nvPr>
            <p:ph type="sldNum" idx="12"/>
          </p:nvPr>
        </p:nvSpPr>
        <p:spPr>
          <a:xfrm>
            <a:off x="871776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5</a:t>
            </a:fld>
            <a:endParaRPr b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7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Forma Normal de Boyce-Codd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94" name="Google Shape;94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7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96" name="Google Shape;96;p17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97" name="Google Shape;97;p17"/>
          <p:cNvSpPr txBox="1"/>
          <p:nvPr/>
        </p:nvSpPr>
        <p:spPr>
          <a:xfrm>
            <a:off x="3785375" y="960475"/>
            <a:ext cx="49548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0200" algn="just" rtl="0">
              <a:spcBef>
                <a:spcPts val="0"/>
              </a:spcBef>
              <a:spcAft>
                <a:spcPts val="0"/>
              </a:spcAft>
              <a:buSzPts val="1600"/>
              <a:buFont typeface="Nunito"/>
              <a:buChar char="●"/>
            </a:pPr>
            <a:r>
              <a:rPr lang="pt-BR" sz="1600" b="1">
                <a:latin typeface="Nunito"/>
                <a:ea typeface="Nunito"/>
                <a:cs typeface="Nunito"/>
                <a:sym typeface="Nunito"/>
              </a:rPr>
              <a:t>Chave primária</a:t>
            </a:r>
            <a:r>
              <a:rPr lang="pt-BR" sz="1600">
                <a:latin typeface="Nunito"/>
                <a:ea typeface="Nunito"/>
                <a:cs typeface="Nunito"/>
                <a:sym typeface="Nunito"/>
              </a:rPr>
              <a:t>: Pizza e Tipo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98" name="Google Shape;98;p17"/>
          <p:cNvSpPr txBox="1">
            <a:spLocks noGrp="1"/>
          </p:cNvSpPr>
          <p:nvPr>
            <p:ph type="sldNum" idx="12"/>
          </p:nvPr>
        </p:nvSpPr>
        <p:spPr>
          <a:xfrm>
            <a:off x="871776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6</a:t>
            </a:fld>
            <a:endParaRPr b="1">
              <a:solidFill>
                <a:schemeClr val="lt1"/>
              </a:solidFill>
            </a:endParaRPr>
          </a:p>
        </p:txBody>
      </p:sp>
      <p:graphicFrame>
        <p:nvGraphicFramePr>
          <p:cNvPr id="99" name="Google Shape;99;p17"/>
          <p:cNvGraphicFramePr/>
          <p:nvPr/>
        </p:nvGraphicFramePr>
        <p:xfrm>
          <a:off x="509350" y="1245213"/>
          <a:ext cx="3127500" cy="3453630"/>
        </p:xfrm>
        <a:graphic>
          <a:graphicData uri="http://schemas.openxmlformats.org/drawingml/2006/table">
            <a:tbl>
              <a:tblPr>
                <a:noFill/>
                <a:tableStyleId>{7C799B32-B8F3-4BFF-BD6D-73B61F65EC06}</a:tableStyleId>
              </a:tblPr>
              <a:tblGrid>
                <a:gridCol w="751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4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0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23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b="1" u="sng">
                          <a:latin typeface="Nunito"/>
                          <a:ea typeface="Nunito"/>
                          <a:cs typeface="Nunito"/>
                          <a:sym typeface="Nunito"/>
                        </a:rPr>
                        <a:t>Pizza</a:t>
                      </a:r>
                      <a:endParaRPr b="1" u="sng">
                        <a:solidFill>
                          <a:srgbClr val="000000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b="1" u="sng">
                          <a:latin typeface="Nunito"/>
                          <a:ea typeface="Nunito"/>
                          <a:cs typeface="Nunito"/>
                          <a:sym typeface="Nunito"/>
                        </a:rPr>
                        <a:t>Tipo</a:t>
                      </a:r>
                      <a:endParaRPr b="1" u="sng">
                        <a:solidFill>
                          <a:srgbClr val="000000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b="1">
                          <a:solidFill>
                            <a:srgbClr val="FFFFFF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Ingrediente</a:t>
                      </a:r>
                      <a:endParaRPr b="1">
                        <a:solidFill>
                          <a:srgbClr val="FFFFFF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23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1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Queijo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Mussarela</a:t>
                      </a:r>
                      <a:endParaRPr/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23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1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Carne</a:t>
                      </a:r>
                      <a:endParaRPr/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Frango</a:t>
                      </a:r>
                      <a:endParaRPr/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23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1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Vegetal</a:t>
                      </a:r>
                      <a:endParaRPr/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Azeitona</a:t>
                      </a:r>
                      <a:endParaRPr/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23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2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Queijo</a:t>
                      </a:r>
                      <a:endParaRPr/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Provolone</a:t>
                      </a:r>
                      <a:endParaRPr/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23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2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Carne</a:t>
                      </a:r>
                      <a:endParaRPr/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Calabresa</a:t>
                      </a:r>
                      <a:endParaRPr/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23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2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Vegetal</a:t>
                      </a:r>
                      <a:endParaRPr/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Manjericão</a:t>
                      </a:r>
                      <a:endParaRPr/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23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3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Queijo</a:t>
                      </a:r>
                      <a:endParaRPr/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Mussarela</a:t>
                      </a:r>
                      <a:endParaRPr/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23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3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Carne</a:t>
                      </a:r>
                      <a:endParaRPr/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Calabresa</a:t>
                      </a:r>
                      <a:endParaRPr/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23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3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Vegetal</a:t>
                      </a:r>
                      <a:endParaRPr/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Azeitona</a:t>
                      </a:r>
                      <a:endParaRPr/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8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Forma Normal de Boyce-Codd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105" name="Google Shape;105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8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07" name="Google Shape;107;p18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08" name="Google Shape;108;p18"/>
          <p:cNvSpPr txBox="1"/>
          <p:nvPr/>
        </p:nvSpPr>
        <p:spPr>
          <a:xfrm>
            <a:off x="3785375" y="960475"/>
            <a:ext cx="4954800" cy="1661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0200" algn="just" rtl="0">
              <a:spcBef>
                <a:spcPts val="0"/>
              </a:spcBef>
              <a:spcAft>
                <a:spcPts val="0"/>
              </a:spcAft>
              <a:buSzPts val="1600"/>
              <a:buFont typeface="Nunito"/>
              <a:buChar char="●"/>
            </a:pPr>
            <a:r>
              <a:rPr lang="pt-BR" sz="1600" b="1" dirty="0">
                <a:latin typeface="Nunito"/>
                <a:ea typeface="Nunito"/>
                <a:cs typeface="Nunito"/>
                <a:sym typeface="Nunito"/>
              </a:rPr>
              <a:t>Chave primária</a:t>
            </a:r>
            <a:r>
              <a:rPr lang="pt-BR" sz="1600" dirty="0">
                <a:latin typeface="Nunito"/>
                <a:ea typeface="Nunito"/>
                <a:cs typeface="Nunito"/>
                <a:sym typeface="Nunito"/>
              </a:rPr>
              <a:t>: Pizza e Tipo</a:t>
            </a:r>
            <a:endParaRPr sz="1600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30200" algn="just" rtl="0">
              <a:spcBef>
                <a:spcPts val="0"/>
              </a:spcBef>
              <a:spcAft>
                <a:spcPts val="0"/>
              </a:spcAft>
              <a:buSzPts val="1600"/>
              <a:buFont typeface="Nunito"/>
              <a:buChar char="●"/>
            </a:pPr>
            <a:r>
              <a:rPr lang="pt-BR" sz="1600" b="1" dirty="0">
                <a:latin typeface="Nunito"/>
                <a:ea typeface="Nunito"/>
                <a:cs typeface="Nunito"/>
                <a:sym typeface="Nunito"/>
              </a:rPr>
              <a:t>Está na </a:t>
            </a:r>
            <a:r>
              <a:rPr lang="pt-BR" sz="1600" b="1" dirty="0" err="1">
                <a:latin typeface="Nunito"/>
                <a:ea typeface="Nunito"/>
                <a:cs typeface="Nunito"/>
                <a:sym typeface="Nunito"/>
              </a:rPr>
              <a:t>1FN</a:t>
            </a:r>
            <a:endParaRPr sz="1600" b="1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600" b="1" dirty="0">
              <a:latin typeface="Nunito"/>
              <a:ea typeface="Nunito"/>
              <a:cs typeface="Nunito"/>
              <a:sym typeface="Nunito"/>
            </a:endParaRPr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Nunito"/>
              <a:buChar char="○"/>
            </a:pPr>
            <a:r>
              <a:rPr lang="pt-BR" sz="1600" i="1" dirty="0">
                <a:latin typeface="Nunito"/>
                <a:ea typeface="Nunito"/>
                <a:cs typeface="Nunito"/>
                <a:sym typeface="Nunito"/>
              </a:rPr>
              <a:t>Não há atributos multivalorados</a:t>
            </a:r>
          </a:p>
          <a:p>
            <a:pPr marL="1371600" lvl="2" indent="-330200" algn="just" rtl="0">
              <a:spcBef>
                <a:spcPts val="0"/>
              </a:spcBef>
              <a:spcAft>
                <a:spcPts val="0"/>
              </a:spcAft>
              <a:buSzPts val="1600"/>
              <a:buFont typeface="Nunito"/>
              <a:buChar char="■"/>
            </a:pPr>
            <a:endParaRPr sz="1600" dirty="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09" name="Google Shape;109;p18"/>
          <p:cNvSpPr txBox="1">
            <a:spLocks noGrp="1"/>
          </p:cNvSpPr>
          <p:nvPr>
            <p:ph type="sldNum" idx="12"/>
          </p:nvPr>
        </p:nvSpPr>
        <p:spPr>
          <a:xfrm>
            <a:off x="871776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7</a:t>
            </a:fld>
            <a:endParaRPr b="1">
              <a:solidFill>
                <a:schemeClr val="lt1"/>
              </a:solidFill>
            </a:endParaRPr>
          </a:p>
        </p:txBody>
      </p:sp>
      <p:graphicFrame>
        <p:nvGraphicFramePr>
          <p:cNvPr id="110" name="Google Shape;110;p18"/>
          <p:cNvGraphicFramePr/>
          <p:nvPr/>
        </p:nvGraphicFramePr>
        <p:xfrm>
          <a:off x="509350" y="1245213"/>
          <a:ext cx="3127500" cy="3453630"/>
        </p:xfrm>
        <a:graphic>
          <a:graphicData uri="http://schemas.openxmlformats.org/drawingml/2006/table">
            <a:tbl>
              <a:tblPr>
                <a:noFill/>
                <a:tableStyleId>{7C799B32-B8F3-4BFF-BD6D-73B61F65EC06}</a:tableStyleId>
              </a:tblPr>
              <a:tblGrid>
                <a:gridCol w="751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4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0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23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b="1" u="sng">
                          <a:latin typeface="Nunito"/>
                          <a:ea typeface="Nunito"/>
                          <a:cs typeface="Nunito"/>
                          <a:sym typeface="Nunito"/>
                        </a:rPr>
                        <a:t>Pizza</a:t>
                      </a:r>
                      <a:endParaRPr b="1" u="sng">
                        <a:solidFill>
                          <a:srgbClr val="000000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b="1" u="sng">
                          <a:latin typeface="Nunito"/>
                          <a:ea typeface="Nunito"/>
                          <a:cs typeface="Nunito"/>
                          <a:sym typeface="Nunito"/>
                        </a:rPr>
                        <a:t>Tipo</a:t>
                      </a:r>
                      <a:endParaRPr b="1" u="sng">
                        <a:solidFill>
                          <a:srgbClr val="000000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b="1">
                          <a:solidFill>
                            <a:srgbClr val="FFFFFF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Ingrediente</a:t>
                      </a:r>
                      <a:endParaRPr b="1">
                        <a:solidFill>
                          <a:srgbClr val="FFFFFF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23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1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Queijo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Mussarela</a:t>
                      </a:r>
                      <a:endParaRPr/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23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1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Carne</a:t>
                      </a:r>
                      <a:endParaRPr/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Frango</a:t>
                      </a:r>
                      <a:endParaRPr/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23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1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Vegetal</a:t>
                      </a:r>
                      <a:endParaRPr/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Azeitona</a:t>
                      </a:r>
                      <a:endParaRPr/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23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2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Queijo</a:t>
                      </a:r>
                      <a:endParaRPr/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Provolone</a:t>
                      </a:r>
                      <a:endParaRPr/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23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2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Carne</a:t>
                      </a:r>
                      <a:endParaRPr/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Calabresa</a:t>
                      </a:r>
                      <a:endParaRPr/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23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2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Vegetal</a:t>
                      </a:r>
                      <a:endParaRPr/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Manjericão</a:t>
                      </a:r>
                      <a:endParaRPr/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23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3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Queijo</a:t>
                      </a:r>
                      <a:endParaRPr/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Mussarela</a:t>
                      </a:r>
                      <a:endParaRPr/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23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3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Carne</a:t>
                      </a:r>
                      <a:endParaRPr/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Calabresa</a:t>
                      </a:r>
                      <a:endParaRPr/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23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3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Vegetal</a:t>
                      </a:r>
                      <a:endParaRPr/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Azeitona</a:t>
                      </a:r>
                      <a:endParaRPr/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956421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8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Forma Normal de Boyce-Codd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105" name="Google Shape;105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8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07" name="Google Shape;107;p18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08" name="Google Shape;108;p18"/>
          <p:cNvSpPr txBox="1"/>
          <p:nvPr/>
        </p:nvSpPr>
        <p:spPr>
          <a:xfrm>
            <a:off x="3785375" y="960475"/>
            <a:ext cx="4954800" cy="3385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0200" algn="just" rtl="0">
              <a:spcBef>
                <a:spcPts val="0"/>
              </a:spcBef>
              <a:spcAft>
                <a:spcPts val="0"/>
              </a:spcAft>
              <a:buSzPts val="1600"/>
              <a:buFont typeface="Nunito"/>
              <a:buChar char="●"/>
            </a:pPr>
            <a:r>
              <a:rPr lang="pt-BR" sz="1600" b="1" dirty="0">
                <a:latin typeface="Nunito"/>
                <a:ea typeface="Nunito"/>
                <a:cs typeface="Nunito"/>
                <a:sym typeface="Nunito"/>
              </a:rPr>
              <a:t>Chave primária</a:t>
            </a:r>
            <a:r>
              <a:rPr lang="pt-BR" sz="1600" dirty="0">
                <a:latin typeface="Nunito"/>
                <a:ea typeface="Nunito"/>
                <a:cs typeface="Nunito"/>
                <a:sym typeface="Nunito"/>
              </a:rPr>
              <a:t>: Pizza e Tipo</a:t>
            </a:r>
            <a:endParaRPr sz="1600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30200" algn="just" rtl="0">
              <a:spcBef>
                <a:spcPts val="0"/>
              </a:spcBef>
              <a:spcAft>
                <a:spcPts val="0"/>
              </a:spcAft>
              <a:buSzPts val="1600"/>
              <a:buFont typeface="Nunito"/>
              <a:buChar char="●"/>
            </a:pPr>
            <a:r>
              <a:rPr lang="pt-BR" sz="1600" b="1" dirty="0">
                <a:latin typeface="Nunito"/>
                <a:ea typeface="Nunito"/>
                <a:cs typeface="Nunito"/>
                <a:sym typeface="Nunito"/>
              </a:rPr>
              <a:t>Está na </a:t>
            </a:r>
            <a:r>
              <a:rPr lang="pt-BR" sz="1600" b="1" dirty="0" err="1">
                <a:latin typeface="Nunito"/>
                <a:ea typeface="Nunito"/>
                <a:cs typeface="Nunito"/>
                <a:sym typeface="Nunito"/>
              </a:rPr>
              <a:t>2FN</a:t>
            </a:r>
            <a:endParaRPr sz="1600" b="1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600" b="1" dirty="0">
              <a:latin typeface="Nunito"/>
              <a:ea typeface="Nunito"/>
              <a:cs typeface="Nunito"/>
              <a:sym typeface="Nunito"/>
            </a:endParaRPr>
          </a:p>
          <a:p>
            <a:pPr marL="914400" lvl="1" indent="-330200">
              <a:buSzPts val="1600"/>
              <a:buFont typeface="Nunito"/>
              <a:buChar char="○"/>
            </a:pPr>
            <a:r>
              <a:rPr lang="pt-BR" sz="1600" i="1" dirty="0">
                <a:latin typeface="Nunito"/>
                <a:ea typeface="Nunito"/>
                <a:cs typeface="Nunito"/>
                <a:sym typeface="Nunito"/>
              </a:rPr>
              <a:t>Não há dependências funcionais parciais;</a:t>
            </a:r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Nunito"/>
              <a:buChar char="○"/>
            </a:pPr>
            <a:r>
              <a:rPr lang="pt-BR" sz="1600" i="1" dirty="0">
                <a:latin typeface="Nunito"/>
                <a:ea typeface="Nunito"/>
                <a:cs typeface="Nunito"/>
                <a:sym typeface="Nunito"/>
              </a:rPr>
              <a:t>O atributo </a:t>
            </a:r>
            <a:r>
              <a:rPr lang="pt-BR" sz="1600" i="1" u="sng" dirty="0">
                <a:latin typeface="Nunito"/>
                <a:ea typeface="Nunito"/>
                <a:cs typeface="Nunito"/>
                <a:sym typeface="Nunito"/>
              </a:rPr>
              <a:t>Ingrediente</a:t>
            </a:r>
            <a:r>
              <a:rPr lang="pt-BR" sz="1600" i="1" dirty="0">
                <a:latin typeface="Nunito"/>
                <a:ea typeface="Nunito"/>
                <a:cs typeface="Nunito"/>
                <a:sym typeface="Nunito"/>
              </a:rPr>
              <a:t> depende totalmente da chave primária;</a:t>
            </a:r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Nunito"/>
              <a:buChar char="○"/>
            </a:pPr>
            <a:endParaRPr sz="1600" i="1" dirty="0">
              <a:latin typeface="Nunito"/>
              <a:ea typeface="Nunito"/>
              <a:cs typeface="Nunito"/>
              <a:sym typeface="Nunito"/>
            </a:endParaRPr>
          </a:p>
          <a:p>
            <a:pPr marL="914400" lvl="1" indent="-330200" algn="just" rtl="0">
              <a:spcBef>
                <a:spcPts val="0"/>
              </a:spcBef>
              <a:spcAft>
                <a:spcPts val="0"/>
              </a:spcAft>
              <a:buSzPts val="1600"/>
              <a:buFont typeface="Nunito"/>
              <a:buChar char="○"/>
            </a:pPr>
            <a:r>
              <a:rPr lang="pt-BR" sz="1600" dirty="0">
                <a:latin typeface="Nunito"/>
                <a:ea typeface="Nunito"/>
                <a:cs typeface="Nunito"/>
                <a:sym typeface="Nunito"/>
              </a:rPr>
              <a:t>Dependências Funcionais:</a:t>
            </a:r>
          </a:p>
          <a:p>
            <a:pPr marL="1371600" lvl="2" indent="-330200" algn="just" rtl="0">
              <a:spcBef>
                <a:spcPts val="0"/>
              </a:spcBef>
              <a:spcAft>
                <a:spcPts val="0"/>
              </a:spcAft>
              <a:buSzPts val="1600"/>
              <a:buFont typeface="Nunito"/>
              <a:buChar char="■"/>
            </a:pPr>
            <a:r>
              <a:rPr lang="pt-BR" sz="1600" dirty="0">
                <a:latin typeface="Nunito"/>
                <a:ea typeface="Nunito"/>
                <a:cs typeface="Nunito"/>
                <a:sym typeface="Nunito"/>
              </a:rPr>
              <a:t>{Pizza, Tipo} → Ingrediente</a:t>
            </a:r>
          </a:p>
          <a:p>
            <a:pPr marL="1041400" lvl="4" algn="just">
              <a:buSzPts val="1600"/>
            </a:pPr>
            <a:r>
              <a:rPr lang="pt-BR" sz="1600" i="1" dirty="0">
                <a:latin typeface="Nunito"/>
                <a:ea typeface="Nunito"/>
                <a:cs typeface="Nunito"/>
                <a:sym typeface="Nunito"/>
              </a:rPr>
              <a:t>(para cada pizza e tipo, existe um único ingrediente)</a:t>
            </a:r>
            <a:endParaRPr lang="pt-BR" sz="1600" dirty="0">
              <a:latin typeface="Nunito"/>
              <a:ea typeface="Nunito"/>
              <a:cs typeface="Nunito"/>
              <a:sym typeface="Nunito"/>
            </a:endParaRPr>
          </a:p>
          <a:p>
            <a:pPr marL="1371600" lvl="2" indent="-330200" algn="just" rtl="0">
              <a:spcBef>
                <a:spcPts val="0"/>
              </a:spcBef>
              <a:spcAft>
                <a:spcPts val="0"/>
              </a:spcAft>
              <a:buSzPts val="1600"/>
              <a:buFont typeface="Nunito"/>
              <a:buChar char="■"/>
            </a:pPr>
            <a:endParaRPr sz="1600" dirty="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09" name="Google Shape;109;p18"/>
          <p:cNvSpPr txBox="1">
            <a:spLocks noGrp="1"/>
          </p:cNvSpPr>
          <p:nvPr>
            <p:ph type="sldNum" idx="12"/>
          </p:nvPr>
        </p:nvSpPr>
        <p:spPr>
          <a:xfrm>
            <a:off x="871776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8</a:t>
            </a:fld>
            <a:endParaRPr b="1">
              <a:solidFill>
                <a:schemeClr val="lt1"/>
              </a:solidFill>
            </a:endParaRPr>
          </a:p>
        </p:txBody>
      </p:sp>
      <p:graphicFrame>
        <p:nvGraphicFramePr>
          <p:cNvPr id="110" name="Google Shape;110;p18"/>
          <p:cNvGraphicFramePr/>
          <p:nvPr/>
        </p:nvGraphicFramePr>
        <p:xfrm>
          <a:off x="509350" y="1245213"/>
          <a:ext cx="3127500" cy="3453630"/>
        </p:xfrm>
        <a:graphic>
          <a:graphicData uri="http://schemas.openxmlformats.org/drawingml/2006/table">
            <a:tbl>
              <a:tblPr>
                <a:noFill/>
                <a:tableStyleId>{7C799B32-B8F3-4BFF-BD6D-73B61F65EC06}</a:tableStyleId>
              </a:tblPr>
              <a:tblGrid>
                <a:gridCol w="751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4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0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23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b="1" u="sng">
                          <a:latin typeface="Nunito"/>
                          <a:ea typeface="Nunito"/>
                          <a:cs typeface="Nunito"/>
                          <a:sym typeface="Nunito"/>
                        </a:rPr>
                        <a:t>Pizza</a:t>
                      </a:r>
                      <a:endParaRPr b="1" u="sng">
                        <a:solidFill>
                          <a:srgbClr val="000000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b="1" u="sng">
                          <a:latin typeface="Nunito"/>
                          <a:ea typeface="Nunito"/>
                          <a:cs typeface="Nunito"/>
                          <a:sym typeface="Nunito"/>
                        </a:rPr>
                        <a:t>Tipo</a:t>
                      </a:r>
                      <a:endParaRPr b="1" u="sng">
                        <a:solidFill>
                          <a:srgbClr val="000000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b="1">
                          <a:solidFill>
                            <a:srgbClr val="FFFFFF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Ingrediente</a:t>
                      </a:r>
                      <a:endParaRPr b="1">
                        <a:solidFill>
                          <a:srgbClr val="FFFFFF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23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1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Queijo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Mussarela</a:t>
                      </a:r>
                      <a:endParaRPr/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23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1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Carne</a:t>
                      </a:r>
                      <a:endParaRPr/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Frango</a:t>
                      </a:r>
                      <a:endParaRPr/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23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1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Vegetal</a:t>
                      </a:r>
                      <a:endParaRPr/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Azeitona</a:t>
                      </a:r>
                      <a:endParaRPr/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23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2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Queijo</a:t>
                      </a:r>
                      <a:endParaRPr/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Provolone</a:t>
                      </a:r>
                      <a:endParaRPr/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23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2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Carne</a:t>
                      </a:r>
                      <a:endParaRPr/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Calabresa</a:t>
                      </a:r>
                      <a:endParaRPr/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23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2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Vegetal</a:t>
                      </a:r>
                      <a:endParaRPr/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Manjericão</a:t>
                      </a:r>
                      <a:endParaRPr/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23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3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Queijo</a:t>
                      </a:r>
                      <a:endParaRPr/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Mussarela</a:t>
                      </a:r>
                      <a:endParaRPr/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23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3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Carne</a:t>
                      </a:r>
                      <a:endParaRPr/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Calabresa</a:t>
                      </a:r>
                      <a:endParaRPr/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23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3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Vegetal</a:t>
                      </a:r>
                      <a:endParaRPr/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Azeitona</a:t>
                      </a:r>
                      <a:endParaRPr/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9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Forma Normal de Boyce-Codd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116" name="Google Shape;116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9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18" name="Google Shape;118;p19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19" name="Google Shape;119;p19"/>
          <p:cNvSpPr txBox="1"/>
          <p:nvPr/>
        </p:nvSpPr>
        <p:spPr>
          <a:xfrm>
            <a:off x="3785375" y="960475"/>
            <a:ext cx="4954800" cy="313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0200" algn="just" rtl="0">
              <a:spcBef>
                <a:spcPts val="0"/>
              </a:spcBef>
              <a:spcAft>
                <a:spcPts val="0"/>
              </a:spcAft>
              <a:buSzPts val="1600"/>
              <a:buFont typeface="Nunito"/>
              <a:buChar char="●"/>
            </a:pPr>
            <a:r>
              <a:rPr lang="pt-BR" sz="1600" b="1" dirty="0">
                <a:latin typeface="Nunito"/>
                <a:ea typeface="Nunito"/>
                <a:cs typeface="Nunito"/>
                <a:sym typeface="Nunito"/>
              </a:rPr>
              <a:t>Está na </a:t>
            </a:r>
            <a:r>
              <a:rPr lang="pt-BR" sz="1600" b="1" dirty="0" err="1">
                <a:latin typeface="Nunito"/>
                <a:ea typeface="Nunito"/>
                <a:cs typeface="Nunito"/>
                <a:sym typeface="Nunito"/>
              </a:rPr>
              <a:t>3FN</a:t>
            </a:r>
            <a:endParaRPr sz="1600" b="1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600" b="1" dirty="0">
              <a:latin typeface="Nunito"/>
              <a:ea typeface="Nunito"/>
              <a:cs typeface="Nunito"/>
              <a:sym typeface="Nunito"/>
            </a:endParaRPr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Nunito"/>
              <a:buChar char="○"/>
            </a:pPr>
            <a:r>
              <a:rPr lang="pt-BR" sz="1600" i="1" dirty="0">
                <a:latin typeface="Nunito"/>
                <a:ea typeface="Nunito"/>
                <a:cs typeface="Nunito"/>
                <a:sym typeface="Nunito"/>
              </a:rPr>
              <a:t>Não há dependências funcionais transitivas;</a:t>
            </a:r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Nunito"/>
              <a:buChar char="○"/>
            </a:pPr>
            <a:endParaRPr lang="pt-BR" sz="1600" i="1" dirty="0">
              <a:latin typeface="Nunito"/>
              <a:ea typeface="Nunito"/>
              <a:cs typeface="Nunito"/>
              <a:sym typeface="Nunito"/>
            </a:endParaRPr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Nunito"/>
              <a:buChar char="○"/>
            </a:pPr>
            <a:r>
              <a:rPr lang="pt-BR" sz="1600" i="1" u="sng" dirty="0">
                <a:latin typeface="Nunito"/>
                <a:ea typeface="Nunito"/>
                <a:cs typeface="Nunito"/>
                <a:sym typeface="Nunito"/>
              </a:rPr>
              <a:t>Dependência funcional transitiva: </a:t>
            </a:r>
            <a:r>
              <a:rPr lang="pt-BR" sz="1600" i="1" dirty="0">
                <a:latin typeface="Nunito"/>
                <a:ea typeface="Nunito"/>
                <a:cs typeface="Nunito"/>
                <a:sym typeface="Nunito"/>
              </a:rPr>
              <a:t>ocorre quando um atributo não chave depende de outro atributo não chave, que por sua vez depende da chave primária.</a:t>
            </a:r>
            <a:endParaRPr sz="1600" i="1" dirty="0">
              <a:latin typeface="Nunito"/>
              <a:ea typeface="Nunito"/>
              <a:cs typeface="Nunito"/>
              <a:sym typeface="Nunito"/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i="1" u="sng" dirty="0">
              <a:latin typeface="Nunito"/>
              <a:ea typeface="Nunito"/>
              <a:cs typeface="Nunito"/>
              <a:sym typeface="Nunito"/>
            </a:endParaRPr>
          </a:p>
          <a:p>
            <a:pPr marL="914400" lvl="1" indent="-330200" algn="just" rtl="0">
              <a:spcBef>
                <a:spcPts val="0"/>
              </a:spcBef>
              <a:spcAft>
                <a:spcPts val="0"/>
              </a:spcAft>
              <a:buSzPts val="1600"/>
              <a:buFont typeface="Nunito"/>
              <a:buChar char="○"/>
            </a:pPr>
            <a:r>
              <a:rPr lang="pt-BR" sz="1600" u="sng" dirty="0">
                <a:latin typeface="Nunito"/>
                <a:ea typeface="Nunito"/>
                <a:cs typeface="Nunito"/>
                <a:sym typeface="Nunito"/>
              </a:rPr>
              <a:t>Dependências Funcionais:</a:t>
            </a:r>
            <a:endParaRPr sz="1600" u="sng" dirty="0">
              <a:latin typeface="Nunito"/>
              <a:ea typeface="Nunito"/>
              <a:cs typeface="Nunito"/>
              <a:sym typeface="Nunito"/>
            </a:endParaRPr>
          </a:p>
          <a:p>
            <a:pPr marL="1371600" lvl="2" indent="-330200" algn="just" rtl="0">
              <a:spcBef>
                <a:spcPts val="0"/>
              </a:spcBef>
              <a:spcAft>
                <a:spcPts val="0"/>
              </a:spcAft>
              <a:buSzPts val="1600"/>
              <a:buFont typeface="Nunito"/>
              <a:buChar char="■"/>
            </a:pPr>
            <a:r>
              <a:rPr lang="pt-BR" sz="1600" dirty="0">
                <a:latin typeface="Nunito"/>
                <a:ea typeface="Nunito"/>
                <a:cs typeface="Nunito"/>
                <a:sym typeface="Nunito"/>
              </a:rPr>
              <a:t>{Pizza, Tipo} → Ingrediente</a:t>
            </a:r>
          </a:p>
        </p:txBody>
      </p:sp>
      <p:sp>
        <p:nvSpPr>
          <p:cNvPr id="120" name="Google Shape;120;p19"/>
          <p:cNvSpPr txBox="1">
            <a:spLocks noGrp="1"/>
          </p:cNvSpPr>
          <p:nvPr>
            <p:ph type="sldNum" idx="12"/>
          </p:nvPr>
        </p:nvSpPr>
        <p:spPr>
          <a:xfrm>
            <a:off x="871776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9</a:t>
            </a:fld>
            <a:endParaRPr b="1">
              <a:solidFill>
                <a:schemeClr val="lt1"/>
              </a:solidFill>
            </a:endParaRPr>
          </a:p>
        </p:txBody>
      </p:sp>
      <p:graphicFrame>
        <p:nvGraphicFramePr>
          <p:cNvPr id="121" name="Google Shape;121;p19"/>
          <p:cNvGraphicFramePr/>
          <p:nvPr/>
        </p:nvGraphicFramePr>
        <p:xfrm>
          <a:off x="509350" y="1245213"/>
          <a:ext cx="3127500" cy="3453630"/>
        </p:xfrm>
        <a:graphic>
          <a:graphicData uri="http://schemas.openxmlformats.org/drawingml/2006/table">
            <a:tbl>
              <a:tblPr>
                <a:noFill/>
                <a:tableStyleId>{7C799B32-B8F3-4BFF-BD6D-73B61F65EC06}</a:tableStyleId>
              </a:tblPr>
              <a:tblGrid>
                <a:gridCol w="751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4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0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23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b="1" u="sng">
                          <a:latin typeface="Nunito"/>
                          <a:ea typeface="Nunito"/>
                          <a:cs typeface="Nunito"/>
                          <a:sym typeface="Nunito"/>
                        </a:rPr>
                        <a:t>Pizza</a:t>
                      </a:r>
                      <a:endParaRPr b="1" u="sng">
                        <a:solidFill>
                          <a:srgbClr val="000000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b="1" u="sng">
                          <a:latin typeface="Nunito"/>
                          <a:ea typeface="Nunito"/>
                          <a:cs typeface="Nunito"/>
                          <a:sym typeface="Nunito"/>
                        </a:rPr>
                        <a:t>Tipo</a:t>
                      </a:r>
                      <a:endParaRPr b="1" u="sng">
                        <a:solidFill>
                          <a:srgbClr val="000000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b="1">
                          <a:solidFill>
                            <a:srgbClr val="FFFFFF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Ingrediente</a:t>
                      </a:r>
                      <a:endParaRPr b="1">
                        <a:solidFill>
                          <a:srgbClr val="FFFFFF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23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1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Queijo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Mussarela</a:t>
                      </a:r>
                      <a:endParaRPr/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23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1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Carne</a:t>
                      </a:r>
                      <a:endParaRPr/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Frango</a:t>
                      </a:r>
                      <a:endParaRPr/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23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1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Vegetal</a:t>
                      </a:r>
                      <a:endParaRPr/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Azeitona</a:t>
                      </a:r>
                      <a:endParaRPr/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23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2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Queijo</a:t>
                      </a:r>
                      <a:endParaRPr/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Provolone</a:t>
                      </a:r>
                      <a:endParaRPr/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23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2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Carne</a:t>
                      </a:r>
                      <a:endParaRPr/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Calabresa</a:t>
                      </a:r>
                      <a:endParaRPr/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23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2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Vegetal</a:t>
                      </a:r>
                      <a:endParaRPr/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Manjericão</a:t>
                      </a:r>
                      <a:endParaRPr/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23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3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Queijo</a:t>
                      </a:r>
                      <a:endParaRPr/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Mussarela</a:t>
                      </a:r>
                      <a:endParaRPr/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23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3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Carne</a:t>
                      </a:r>
                      <a:endParaRPr/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Calabresa</a:t>
                      </a:r>
                      <a:endParaRPr/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23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3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Vegetal</a:t>
                      </a:r>
                      <a:endParaRPr/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Azeitona</a:t>
                      </a:r>
                      <a:endParaRPr/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9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Forma Normal de Boyce-Codd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116" name="Google Shape;116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9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18" name="Google Shape;118;p19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19" name="Google Shape;119;p19"/>
          <p:cNvSpPr txBox="1"/>
          <p:nvPr/>
        </p:nvSpPr>
        <p:spPr>
          <a:xfrm>
            <a:off x="3785375" y="960475"/>
            <a:ext cx="4954800" cy="2893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0200" algn="just" rtl="0">
              <a:spcBef>
                <a:spcPts val="0"/>
              </a:spcBef>
              <a:spcAft>
                <a:spcPts val="0"/>
              </a:spcAft>
              <a:buSzPts val="1600"/>
              <a:buFont typeface="Nunito"/>
              <a:buChar char="●"/>
            </a:pPr>
            <a:r>
              <a:rPr lang="pt-BR" sz="1600" b="1" dirty="0">
                <a:latin typeface="Nunito"/>
                <a:ea typeface="Nunito"/>
                <a:cs typeface="Nunito"/>
                <a:sym typeface="Nunito"/>
              </a:rPr>
              <a:t>Está na </a:t>
            </a:r>
            <a:r>
              <a:rPr lang="pt-BR" sz="1600" b="1" dirty="0" err="1">
                <a:latin typeface="Nunito"/>
                <a:ea typeface="Nunito"/>
                <a:cs typeface="Nunito"/>
                <a:sym typeface="Nunito"/>
              </a:rPr>
              <a:t>FNBC</a:t>
            </a:r>
            <a:r>
              <a:rPr lang="pt-BR" sz="1600" b="1" dirty="0">
                <a:latin typeface="Nunito"/>
                <a:ea typeface="Nunito"/>
                <a:cs typeface="Nunito"/>
                <a:sym typeface="Nunito"/>
              </a:rPr>
              <a:t>?</a:t>
            </a:r>
            <a:endParaRPr sz="1600" b="1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600" b="1" dirty="0">
              <a:latin typeface="Nunito"/>
              <a:ea typeface="Nunito"/>
              <a:cs typeface="Nunito"/>
              <a:sym typeface="Nunito"/>
            </a:endParaRPr>
          </a:p>
          <a:p>
            <a:pPr marL="914400" lvl="1" indent="-330200" algn="just" rtl="0">
              <a:spcBef>
                <a:spcPts val="0"/>
              </a:spcBef>
              <a:spcAft>
                <a:spcPts val="0"/>
              </a:spcAft>
              <a:buSzPts val="1600"/>
              <a:buFont typeface="Nunito"/>
              <a:buChar char="○"/>
            </a:pPr>
            <a:r>
              <a:rPr lang="pt-BR" sz="1600" dirty="0">
                <a:latin typeface="Nunito"/>
                <a:ea typeface="Nunito"/>
                <a:cs typeface="Nunito"/>
                <a:sym typeface="Nunito"/>
              </a:rPr>
              <a:t>Dependências Funcionais:</a:t>
            </a:r>
            <a:endParaRPr sz="1600" dirty="0">
              <a:latin typeface="Nunito"/>
              <a:ea typeface="Nunito"/>
              <a:cs typeface="Nunito"/>
              <a:sym typeface="Nunito"/>
            </a:endParaRPr>
          </a:p>
          <a:p>
            <a:pPr marL="1371600" lvl="2" indent="-330200" algn="just" rtl="0">
              <a:spcBef>
                <a:spcPts val="0"/>
              </a:spcBef>
              <a:spcAft>
                <a:spcPts val="0"/>
              </a:spcAft>
              <a:buSzPts val="1600"/>
              <a:buFont typeface="Nunito"/>
              <a:buChar char="■"/>
            </a:pPr>
            <a:r>
              <a:rPr lang="pt-BR" sz="1600" dirty="0">
                <a:latin typeface="Nunito"/>
                <a:ea typeface="Nunito"/>
                <a:cs typeface="Nunito"/>
                <a:sym typeface="Nunito"/>
              </a:rPr>
              <a:t>{Pizza, Tipo} → Ingrediente</a:t>
            </a:r>
          </a:p>
          <a:p>
            <a:pPr marL="1041400" lvl="4" algn="just">
              <a:buSzPts val="1600"/>
            </a:pPr>
            <a:r>
              <a:rPr lang="pt-BR" sz="1600" i="1" dirty="0">
                <a:latin typeface="Nunito"/>
                <a:ea typeface="Nunito"/>
                <a:cs typeface="Nunito"/>
                <a:sym typeface="Nunito"/>
              </a:rPr>
              <a:t>(para cada pizza e tipo, existe um único ingrediente)</a:t>
            </a:r>
          </a:p>
          <a:p>
            <a:pPr marL="1041400" lvl="2" algn="just" rtl="0">
              <a:spcBef>
                <a:spcPts val="0"/>
              </a:spcBef>
              <a:spcAft>
                <a:spcPts val="0"/>
              </a:spcAft>
              <a:buSzPts val="1600"/>
            </a:pPr>
            <a:endParaRPr lang="pt-BR" sz="1600" dirty="0">
              <a:latin typeface="Nunito"/>
              <a:ea typeface="Nunito"/>
              <a:cs typeface="Nunito"/>
              <a:sym typeface="Nunito"/>
            </a:endParaRPr>
          </a:p>
          <a:p>
            <a:pPr marL="1371600" lvl="2" indent="-330200" algn="just" rtl="0">
              <a:spcBef>
                <a:spcPts val="0"/>
              </a:spcBef>
              <a:spcAft>
                <a:spcPts val="0"/>
              </a:spcAft>
              <a:buSzPts val="1600"/>
              <a:buFont typeface="Nunito"/>
              <a:buChar char="■"/>
            </a:pPr>
            <a:r>
              <a:rPr lang="pt-BR" sz="16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{Ingrediente} → Tipo </a:t>
            </a:r>
            <a:r>
              <a:rPr lang="pt-BR" sz="1600" b="1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(Extra)</a:t>
            </a:r>
          </a:p>
          <a:p>
            <a:pPr marL="1041400" lvl="2" algn="just" rtl="0">
              <a:spcBef>
                <a:spcPts val="0"/>
              </a:spcBef>
              <a:spcAft>
                <a:spcPts val="0"/>
              </a:spcAft>
              <a:buSzPts val="1600"/>
            </a:pPr>
            <a:r>
              <a:rPr lang="pt-BR" sz="1600" i="1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(cada ingrediente está associado a apenas um tipo)</a:t>
            </a:r>
          </a:p>
          <a:p>
            <a:pPr marL="13716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pt-BR" sz="1600" dirty="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20" name="Google Shape;120;p19"/>
          <p:cNvSpPr txBox="1">
            <a:spLocks noGrp="1"/>
          </p:cNvSpPr>
          <p:nvPr>
            <p:ph type="sldNum" idx="12"/>
          </p:nvPr>
        </p:nvSpPr>
        <p:spPr>
          <a:xfrm>
            <a:off x="871776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10</a:t>
            </a:fld>
            <a:endParaRPr b="1">
              <a:solidFill>
                <a:schemeClr val="lt1"/>
              </a:solidFill>
            </a:endParaRPr>
          </a:p>
        </p:txBody>
      </p:sp>
      <p:graphicFrame>
        <p:nvGraphicFramePr>
          <p:cNvPr id="121" name="Google Shape;121;p19"/>
          <p:cNvGraphicFramePr/>
          <p:nvPr/>
        </p:nvGraphicFramePr>
        <p:xfrm>
          <a:off x="509350" y="1245213"/>
          <a:ext cx="3127500" cy="3453630"/>
        </p:xfrm>
        <a:graphic>
          <a:graphicData uri="http://schemas.openxmlformats.org/drawingml/2006/table">
            <a:tbl>
              <a:tblPr>
                <a:noFill/>
                <a:tableStyleId>{7C799B32-B8F3-4BFF-BD6D-73B61F65EC06}</a:tableStyleId>
              </a:tblPr>
              <a:tblGrid>
                <a:gridCol w="751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4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0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23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b="1" u="sng">
                          <a:latin typeface="Nunito"/>
                          <a:ea typeface="Nunito"/>
                          <a:cs typeface="Nunito"/>
                          <a:sym typeface="Nunito"/>
                        </a:rPr>
                        <a:t>Pizza</a:t>
                      </a:r>
                      <a:endParaRPr b="1" u="sng">
                        <a:solidFill>
                          <a:srgbClr val="000000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b="1" u="sng">
                          <a:latin typeface="Nunito"/>
                          <a:ea typeface="Nunito"/>
                          <a:cs typeface="Nunito"/>
                          <a:sym typeface="Nunito"/>
                        </a:rPr>
                        <a:t>Tipo</a:t>
                      </a:r>
                      <a:endParaRPr b="1" u="sng">
                        <a:solidFill>
                          <a:srgbClr val="000000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b="1">
                          <a:solidFill>
                            <a:srgbClr val="FFFFFF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Ingrediente</a:t>
                      </a:r>
                      <a:endParaRPr b="1">
                        <a:solidFill>
                          <a:srgbClr val="FFFFFF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23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1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Queijo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Mussarela</a:t>
                      </a:r>
                      <a:endParaRPr/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23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1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Carne</a:t>
                      </a:r>
                      <a:endParaRPr/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Frango</a:t>
                      </a:r>
                      <a:endParaRPr/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23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1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Vegetal</a:t>
                      </a:r>
                      <a:endParaRPr/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Azeitona</a:t>
                      </a:r>
                      <a:endParaRPr/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23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2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Queijo</a:t>
                      </a:r>
                      <a:endParaRPr/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Provolone</a:t>
                      </a:r>
                      <a:endParaRPr/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23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2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Carne</a:t>
                      </a:r>
                      <a:endParaRPr/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Calabresa</a:t>
                      </a:r>
                      <a:endParaRPr/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23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2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Vegetal</a:t>
                      </a:r>
                      <a:endParaRPr/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Manjericão</a:t>
                      </a:r>
                      <a:endParaRPr/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23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3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Queijo</a:t>
                      </a:r>
                      <a:endParaRPr/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Mussarela</a:t>
                      </a:r>
                      <a:endParaRPr/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23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3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Carne</a:t>
                      </a:r>
                      <a:endParaRPr/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Calabresa</a:t>
                      </a:r>
                      <a:endParaRPr/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23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3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Vegetal</a:t>
                      </a:r>
                      <a:endParaRPr/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Azeitona</a:t>
                      </a:r>
                      <a:endParaRPr/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114621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0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Forma Normal de Boyce-Codd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127" name="Google Shape;127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20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29" name="Google Shape;129;p20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30" name="Google Shape;130;p20"/>
          <p:cNvSpPr txBox="1"/>
          <p:nvPr/>
        </p:nvSpPr>
        <p:spPr>
          <a:xfrm>
            <a:off x="3785375" y="960475"/>
            <a:ext cx="4954800" cy="2646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0200" algn="just" rtl="0">
              <a:spcBef>
                <a:spcPts val="0"/>
              </a:spcBef>
              <a:spcAft>
                <a:spcPts val="0"/>
              </a:spcAft>
              <a:buSzPts val="1600"/>
              <a:buFont typeface="Nunito"/>
              <a:buChar char="●"/>
            </a:pPr>
            <a:r>
              <a:rPr lang="pt-BR" sz="1600" b="1" dirty="0">
                <a:latin typeface="Nunito"/>
                <a:ea typeface="Nunito"/>
                <a:cs typeface="Nunito"/>
                <a:sym typeface="Nunito"/>
              </a:rPr>
              <a:t>Dependências Funcionais:</a:t>
            </a:r>
            <a:endParaRPr sz="1600" b="1" dirty="0">
              <a:latin typeface="Nunito"/>
              <a:ea typeface="Nunito"/>
              <a:cs typeface="Nunito"/>
              <a:sym typeface="Nunito"/>
            </a:endParaRPr>
          </a:p>
          <a:p>
            <a:pPr marL="914400" lvl="1" indent="-330200" algn="just" rtl="0">
              <a:spcBef>
                <a:spcPts val="0"/>
              </a:spcBef>
              <a:spcAft>
                <a:spcPts val="0"/>
              </a:spcAft>
              <a:buSzPts val="1600"/>
              <a:buFont typeface="Nunito"/>
              <a:buChar char="○"/>
            </a:pPr>
            <a:r>
              <a:rPr lang="pt-BR" sz="1600" b="1" dirty="0">
                <a:latin typeface="Nunito"/>
                <a:ea typeface="Nunito"/>
                <a:cs typeface="Nunito"/>
                <a:sym typeface="Nunito"/>
              </a:rPr>
              <a:t>{Pizza, Tipo} → Ingrediente</a:t>
            </a:r>
            <a:endParaRPr sz="1600" b="1" dirty="0">
              <a:latin typeface="Nunito"/>
              <a:ea typeface="Nunito"/>
              <a:cs typeface="Nunito"/>
              <a:sym typeface="Nunito"/>
            </a:endParaRPr>
          </a:p>
          <a:p>
            <a:pPr marL="914400" lvl="1" indent="-330200" algn="just" rtl="0">
              <a:spcBef>
                <a:spcPts val="0"/>
              </a:spcBef>
              <a:spcAft>
                <a:spcPts val="0"/>
              </a:spcAft>
              <a:buSzPts val="1600"/>
              <a:buFont typeface="Nunito"/>
              <a:buChar char="○"/>
            </a:pPr>
            <a:r>
              <a:rPr lang="pt-BR" sz="16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{Ingrediente} → Tipo (Extra)</a:t>
            </a:r>
            <a:endParaRPr sz="1600" dirty="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13716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lvl="0" indent="-3302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unito"/>
              <a:buChar char="●"/>
            </a:pPr>
            <a:r>
              <a:rPr lang="pt-BR" sz="16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A primeira dependência funcional não viola a </a:t>
            </a:r>
            <a:r>
              <a:rPr lang="pt-BR" sz="1600" dirty="0" err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FNBC</a:t>
            </a:r>
            <a:r>
              <a:rPr lang="pt-BR" sz="16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;</a:t>
            </a:r>
          </a:p>
          <a:p>
            <a:pPr marL="457200" lvl="0" indent="-3302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unito"/>
              <a:buChar char="●"/>
            </a:pPr>
            <a:endParaRPr lang="pt-BR" sz="1600" dirty="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lvl="0" indent="-3302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unito"/>
              <a:buChar char="●"/>
            </a:pPr>
            <a:r>
              <a:rPr lang="pt-BR" sz="16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Os atributos do lado X pertencem à chave primária da relação;</a:t>
            </a:r>
          </a:p>
          <a:p>
            <a:pPr marL="9144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31" name="Google Shape;131;p20"/>
          <p:cNvSpPr txBox="1">
            <a:spLocks noGrp="1"/>
          </p:cNvSpPr>
          <p:nvPr>
            <p:ph type="sldNum" idx="12"/>
          </p:nvPr>
        </p:nvSpPr>
        <p:spPr>
          <a:xfrm>
            <a:off x="871776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11</a:t>
            </a:fld>
            <a:endParaRPr b="1">
              <a:solidFill>
                <a:schemeClr val="lt1"/>
              </a:solidFill>
            </a:endParaRPr>
          </a:p>
        </p:txBody>
      </p:sp>
      <p:graphicFrame>
        <p:nvGraphicFramePr>
          <p:cNvPr id="132" name="Google Shape;132;p20"/>
          <p:cNvGraphicFramePr/>
          <p:nvPr/>
        </p:nvGraphicFramePr>
        <p:xfrm>
          <a:off x="509350" y="1245213"/>
          <a:ext cx="3127500" cy="3453630"/>
        </p:xfrm>
        <a:graphic>
          <a:graphicData uri="http://schemas.openxmlformats.org/drawingml/2006/table">
            <a:tbl>
              <a:tblPr>
                <a:noFill/>
                <a:tableStyleId>{7C799B32-B8F3-4BFF-BD6D-73B61F65EC06}</a:tableStyleId>
              </a:tblPr>
              <a:tblGrid>
                <a:gridCol w="751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4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0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23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b="1" u="sng">
                          <a:latin typeface="Nunito"/>
                          <a:ea typeface="Nunito"/>
                          <a:cs typeface="Nunito"/>
                          <a:sym typeface="Nunito"/>
                        </a:rPr>
                        <a:t>Pizza</a:t>
                      </a:r>
                      <a:endParaRPr b="1" u="sng">
                        <a:solidFill>
                          <a:srgbClr val="000000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b="1" u="sng">
                          <a:latin typeface="Nunito"/>
                          <a:ea typeface="Nunito"/>
                          <a:cs typeface="Nunito"/>
                          <a:sym typeface="Nunito"/>
                        </a:rPr>
                        <a:t>Tipo</a:t>
                      </a:r>
                      <a:endParaRPr b="1" u="sng">
                        <a:solidFill>
                          <a:srgbClr val="000000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b="1">
                          <a:solidFill>
                            <a:srgbClr val="FFFFFF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Ingrediente</a:t>
                      </a:r>
                      <a:endParaRPr b="1">
                        <a:solidFill>
                          <a:srgbClr val="FFFFFF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23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1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Queijo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Mussarela</a:t>
                      </a:r>
                      <a:endParaRPr/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23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1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Carne</a:t>
                      </a:r>
                      <a:endParaRPr/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Frango</a:t>
                      </a:r>
                      <a:endParaRPr/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23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1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Vegetal</a:t>
                      </a:r>
                      <a:endParaRPr/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Azeitona</a:t>
                      </a:r>
                      <a:endParaRPr/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23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2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Queijo</a:t>
                      </a:r>
                      <a:endParaRPr/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Provolone</a:t>
                      </a:r>
                      <a:endParaRPr/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23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2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Carne</a:t>
                      </a:r>
                      <a:endParaRPr/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Calabresa</a:t>
                      </a:r>
                      <a:endParaRPr/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23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2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Vegetal</a:t>
                      </a:r>
                      <a:endParaRPr/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Manjericão</a:t>
                      </a:r>
                      <a:endParaRPr/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23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3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Queijo</a:t>
                      </a:r>
                      <a:endParaRPr/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Mussarela</a:t>
                      </a:r>
                      <a:endParaRPr/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23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3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Carne</a:t>
                      </a:r>
                      <a:endParaRPr/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Calabresa</a:t>
                      </a:r>
                      <a:endParaRPr/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23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3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Vegetal</a:t>
                      </a:r>
                      <a:endParaRPr/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Azeitona</a:t>
                      </a:r>
                      <a:endParaRPr/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0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Forma Normal de Boyce-Codd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127" name="Google Shape;127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20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29" name="Google Shape;129;p20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30" name="Google Shape;130;p20"/>
          <p:cNvSpPr txBox="1"/>
          <p:nvPr/>
        </p:nvSpPr>
        <p:spPr>
          <a:xfrm>
            <a:off x="3785375" y="960475"/>
            <a:ext cx="4954800" cy="2893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0200" algn="just" rtl="0">
              <a:spcBef>
                <a:spcPts val="0"/>
              </a:spcBef>
              <a:spcAft>
                <a:spcPts val="0"/>
              </a:spcAft>
              <a:buSzPts val="1600"/>
              <a:buFont typeface="Nunito"/>
              <a:buChar char="●"/>
            </a:pPr>
            <a:r>
              <a:rPr lang="pt-BR" sz="1600" b="1" dirty="0">
                <a:latin typeface="Nunito"/>
                <a:ea typeface="Nunito"/>
                <a:cs typeface="Nunito"/>
                <a:sym typeface="Nunito"/>
              </a:rPr>
              <a:t>Dependências Funcionais:</a:t>
            </a:r>
            <a:endParaRPr sz="1600" b="1" dirty="0">
              <a:latin typeface="Nunito"/>
              <a:ea typeface="Nunito"/>
              <a:cs typeface="Nunito"/>
              <a:sym typeface="Nunito"/>
            </a:endParaRPr>
          </a:p>
          <a:p>
            <a:pPr marL="914400" lvl="1" indent="-330200" algn="just" rtl="0">
              <a:spcBef>
                <a:spcPts val="0"/>
              </a:spcBef>
              <a:spcAft>
                <a:spcPts val="0"/>
              </a:spcAft>
              <a:buSzPts val="1600"/>
              <a:buFont typeface="Nunito"/>
              <a:buChar char="○"/>
            </a:pPr>
            <a:r>
              <a:rPr lang="pt-BR" sz="1600" dirty="0">
                <a:latin typeface="Nunito"/>
                <a:ea typeface="Nunito"/>
                <a:cs typeface="Nunito"/>
                <a:sym typeface="Nunito"/>
              </a:rPr>
              <a:t>{Pizza, Tipo} → Ingrediente</a:t>
            </a:r>
            <a:endParaRPr sz="1600" dirty="0">
              <a:latin typeface="Nunito"/>
              <a:ea typeface="Nunito"/>
              <a:cs typeface="Nunito"/>
              <a:sym typeface="Nunito"/>
            </a:endParaRPr>
          </a:p>
          <a:p>
            <a:pPr marL="914400" lvl="1" indent="-330200" algn="just" rtl="0">
              <a:spcBef>
                <a:spcPts val="0"/>
              </a:spcBef>
              <a:spcAft>
                <a:spcPts val="0"/>
              </a:spcAft>
              <a:buSzPts val="1600"/>
              <a:buFont typeface="Nunito"/>
              <a:buChar char="○"/>
            </a:pPr>
            <a:r>
              <a:rPr lang="pt-BR" sz="1600" b="1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{Ingrediente} → Tipo</a:t>
            </a:r>
            <a:r>
              <a:rPr lang="pt-BR" sz="16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pt-BR" sz="1600" b="1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(Extra)</a:t>
            </a:r>
            <a:endParaRPr sz="1600" b="1" dirty="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13716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lvl="0" indent="-3302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unito"/>
              <a:buChar char="●"/>
            </a:pPr>
            <a:r>
              <a:rPr lang="pt-BR" sz="16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Entretanto, a segunda dependência funcional viola a </a:t>
            </a:r>
            <a:r>
              <a:rPr lang="pt-BR" sz="1600" dirty="0" err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FNBC</a:t>
            </a:r>
            <a:r>
              <a:rPr lang="pt-BR" sz="16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;</a:t>
            </a:r>
          </a:p>
          <a:p>
            <a:pPr marL="457200" lvl="0" indent="-3302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unito"/>
              <a:buChar char="●"/>
            </a:pPr>
            <a:endParaRPr lang="pt-BR" sz="1600" dirty="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lvl="0" indent="-3302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unito"/>
              <a:buChar char="●"/>
            </a:pPr>
            <a:r>
              <a:rPr lang="pt-BR" sz="16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O atributo </a:t>
            </a:r>
            <a:r>
              <a:rPr lang="pt-BR" sz="1600" b="1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Ingrediente</a:t>
            </a:r>
            <a:r>
              <a:rPr lang="pt-BR" sz="16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, que está no lado X da dependência funcional, </a:t>
            </a:r>
            <a:r>
              <a:rPr lang="pt-BR" sz="1600" b="1" u="sng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não é um atributo chave da relação</a:t>
            </a:r>
            <a:r>
              <a:rPr lang="pt-BR" sz="16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;</a:t>
            </a:r>
            <a:endParaRPr sz="1600" dirty="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9144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31" name="Google Shape;131;p20"/>
          <p:cNvSpPr txBox="1">
            <a:spLocks noGrp="1"/>
          </p:cNvSpPr>
          <p:nvPr>
            <p:ph type="sldNum" idx="12"/>
          </p:nvPr>
        </p:nvSpPr>
        <p:spPr>
          <a:xfrm>
            <a:off x="871776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12</a:t>
            </a:fld>
            <a:endParaRPr b="1">
              <a:solidFill>
                <a:schemeClr val="lt1"/>
              </a:solidFill>
            </a:endParaRPr>
          </a:p>
        </p:txBody>
      </p:sp>
      <p:graphicFrame>
        <p:nvGraphicFramePr>
          <p:cNvPr id="132" name="Google Shape;132;p20"/>
          <p:cNvGraphicFramePr/>
          <p:nvPr/>
        </p:nvGraphicFramePr>
        <p:xfrm>
          <a:off x="509350" y="1245213"/>
          <a:ext cx="3127500" cy="3453630"/>
        </p:xfrm>
        <a:graphic>
          <a:graphicData uri="http://schemas.openxmlformats.org/drawingml/2006/table">
            <a:tbl>
              <a:tblPr>
                <a:noFill/>
                <a:tableStyleId>{7C799B32-B8F3-4BFF-BD6D-73B61F65EC06}</a:tableStyleId>
              </a:tblPr>
              <a:tblGrid>
                <a:gridCol w="751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4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0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23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b="1" u="sng">
                          <a:latin typeface="Nunito"/>
                          <a:ea typeface="Nunito"/>
                          <a:cs typeface="Nunito"/>
                          <a:sym typeface="Nunito"/>
                        </a:rPr>
                        <a:t>Pizza</a:t>
                      </a:r>
                      <a:endParaRPr b="1" u="sng">
                        <a:solidFill>
                          <a:srgbClr val="000000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b="1" u="sng">
                          <a:latin typeface="Nunito"/>
                          <a:ea typeface="Nunito"/>
                          <a:cs typeface="Nunito"/>
                          <a:sym typeface="Nunito"/>
                        </a:rPr>
                        <a:t>Tipo</a:t>
                      </a:r>
                      <a:endParaRPr b="1" u="sng">
                        <a:solidFill>
                          <a:srgbClr val="000000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b="1">
                          <a:solidFill>
                            <a:srgbClr val="FFFFFF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Ingrediente</a:t>
                      </a:r>
                      <a:endParaRPr b="1">
                        <a:solidFill>
                          <a:srgbClr val="FFFFFF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23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1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Queijo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Mussarela</a:t>
                      </a:r>
                      <a:endParaRPr/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23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1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Carne</a:t>
                      </a:r>
                      <a:endParaRPr/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Frango</a:t>
                      </a:r>
                      <a:endParaRPr/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23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1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Vegetal</a:t>
                      </a:r>
                      <a:endParaRPr/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Azeitona</a:t>
                      </a:r>
                      <a:endParaRPr/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23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2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Queijo</a:t>
                      </a:r>
                      <a:endParaRPr/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Provolone</a:t>
                      </a:r>
                      <a:endParaRPr/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23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2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Carne</a:t>
                      </a:r>
                      <a:endParaRPr/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Calabresa</a:t>
                      </a:r>
                      <a:endParaRPr/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23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2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Vegetal</a:t>
                      </a:r>
                      <a:endParaRPr/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Manjericão</a:t>
                      </a:r>
                      <a:endParaRPr/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23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3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Queijo</a:t>
                      </a:r>
                      <a:endParaRPr/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Mussarela</a:t>
                      </a:r>
                      <a:endParaRPr/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23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3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Carne</a:t>
                      </a:r>
                      <a:endParaRPr/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Calabresa</a:t>
                      </a:r>
                      <a:endParaRPr/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23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3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Vegetal</a:t>
                      </a:r>
                      <a:endParaRPr/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Azeitona</a:t>
                      </a:r>
                      <a:endParaRPr/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747082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1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Forma Normal de Boyce-Codd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138" name="Google Shape;138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21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40" name="Google Shape;140;p21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41" name="Google Shape;141;p21"/>
          <p:cNvSpPr txBox="1"/>
          <p:nvPr/>
        </p:nvSpPr>
        <p:spPr>
          <a:xfrm>
            <a:off x="3785375" y="960475"/>
            <a:ext cx="4954800" cy="28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0200" algn="just" rtl="0">
              <a:spcBef>
                <a:spcPts val="0"/>
              </a:spcBef>
              <a:spcAft>
                <a:spcPts val="0"/>
              </a:spcAft>
              <a:buSzPts val="1600"/>
              <a:buFont typeface="Nunito"/>
              <a:buChar char="●"/>
            </a:pPr>
            <a:r>
              <a:rPr lang="pt-BR" sz="1600" b="1">
                <a:latin typeface="Nunito"/>
                <a:ea typeface="Nunito"/>
                <a:cs typeface="Nunito"/>
                <a:sym typeface="Nunito"/>
              </a:rPr>
              <a:t>Dependências Funcionais:</a:t>
            </a:r>
            <a:endParaRPr sz="1600" b="1">
              <a:latin typeface="Nunito"/>
              <a:ea typeface="Nunito"/>
              <a:cs typeface="Nunito"/>
              <a:sym typeface="Nunito"/>
            </a:endParaRPr>
          </a:p>
          <a:p>
            <a:pPr marL="914400" lvl="1" indent="-330200" algn="just" rtl="0">
              <a:spcBef>
                <a:spcPts val="0"/>
              </a:spcBef>
              <a:spcAft>
                <a:spcPts val="0"/>
              </a:spcAft>
              <a:buSzPts val="1600"/>
              <a:buFont typeface="Nunito"/>
              <a:buChar char="○"/>
            </a:pPr>
            <a:r>
              <a:rPr lang="pt-BR" sz="1600">
                <a:latin typeface="Nunito"/>
                <a:ea typeface="Nunito"/>
                <a:cs typeface="Nunito"/>
                <a:sym typeface="Nunito"/>
              </a:rPr>
              <a:t>{Pizza, Tipo} → Ingrediente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  <a:p>
            <a:pPr marL="914400" lvl="1" indent="-330200" algn="just" rtl="0">
              <a:spcBef>
                <a:spcPts val="0"/>
              </a:spcBef>
              <a:spcAft>
                <a:spcPts val="0"/>
              </a:spcAft>
              <a:buSzPts val="1600"/>
              <a:buFont typeface="Nunito"/>
              <a:buChar char="○"/>
            </a:pPr>
            <a:r>
              <a:rPr lang="pt-BR" sz="1600" b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{Ingrediente} → Tipo</a:t>
            </a:r>
            <a:r>
              <a:rPr lang="pt-BR" sz="16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pt-BR" sz="1600" b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(Extra)</a:t>
            </a:r>
            <a:endParaRPr sz="1600" b="1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13716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lvl="0" indent="-3302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unito"/>
              <a:buChar char="●"/>
            </a:pPr>
            <a:r>
              <a:rPr lang="pt-BR" sz="16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Para resolver isso, criamos outra relação contendo os atributos da dependência funcional que viola a forma normal;</a:t>
            </a:r>
            <a:endParaRPr sz="16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lvl="0" indent="-3302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unito"/>
              <a:buChar char="●"/>
            </a:pPr>
            <a:r>
              <a:rPr lang="pt-BR" sz="16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O atributo do lado Y da dependência deve ser removido da relação original;</a:t>
            </a:r>
            <a:endParaRPr sz="16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9144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42" name="Google Shape;142;p21"/>
          <p:cNvSpPr txBox="1">
            <a:spLocks noGrp="1"/>
          </p:cNvSpPr>
          <p:nvPr>
            <p:ph type="sldNum" idx="12"/>
          </p:nvPr>
        </p:nvSpPr>
        <p:spPr>
          <a:xfrm>
            <a:off x="871776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13</a:t>
            </a:fld>
            <a:endParaRPr b="1">
              <a:solidFill>
                <a:schemeClr val="lt1"/>
              </a:solidFill>
            </a:endParaRPr>
          </a:p>
        </p:txBody>
      </p:sp>
      <p:graphicFrame>
        <p:nvGraphicFramePr>
          <p:cNvPr id="143" name="Google Shape;143;p21"/>
          <p:cNvGraphicFramePr/>
          <p:nvPr/>
        </p:nvGraphicFramePr>
        <p:xfrm>
          <a:off x="509350" y="1245213"/>
          <a:ext cx="3127500" cy="3453630"/>
        </p:xfrm>
        <a:graphic>
          <a:graphicData uri="http://schemas.openxmlformats.org/drawingml/2006/table">
            <a:tbl>
              <a:tblPr>
                <a:noFill/>
                <a:tableStyleId>{7C799B32-B8F3-4BFF-BD6D-73B61F65EC06}</a:tableStyleId>
              </a:tblPr>
              <a:tblGrid>
                <a:gridCol w="751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4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0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23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b="1" u="sng">
                          <a:latin typeface="Nunito"/>
                          <a:ea typeface="Nunito"/>
                          <a:cs typeface="Nunito"/>
                          <a:sym typeface="Nunito"/>
                        </a:rPr>
                        <a:t>Pizza</a:t>
                      </a:r>
                      <a:endParaRPr b="1" u="sng">
                        <a:solidFill>
                          <a:srgbClr val="000000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b="1" u="sng">
                          <a:latin typeface="Nunito"/>
                          <a:ea typeface="Nunito"/>
                          <a:cs typeface="Nunito"/>
                          <a:sym typeface="Nunito"/>
                        </a:rPr>
                        <a:t>Tipo</a:t>
                      </a:r>
                      <a:endParaRPr b="1" u="sng">
                        <a:solidFill>
                          <a:srgbClr val="000000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b="1">
                          <a:solidFill>
                            <a:srgbClr val="FFFFFF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Ingrediente</a:t>
                      </a:r>
                      <a:endParaRPr b="1">
                        <a:solidFill>
                          <a:srgbClr val="FFFFFF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23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1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Queijo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Mussarela</a:t>
                      </a:r>
                      <a:endParaRPr/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23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1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Carne</a:t>
                      </a:r>
                      <a:endParaRPr/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Frango</a:t>
                      </a:r>
                      <a:endParaRPr/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23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1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Vegetal</a:t>
                      </a:r>
                      <a:endParaRPr/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Azeitona</a:t>
                      </a:r>
                      <a:endParaRPr/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23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2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Queijo</a:t>
                      </a:r>
                      <a:endParaRPr/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Provolone</a:t>
                      </a:r>
                      <a:endParaRPr/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23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2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Carne</a:t>
                      </a:r>
                      <a:endParaRPr/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Calabresa</a:t>
                      </a:r>
                      <a:endParaRPr/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23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2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Vegetal</a:t>
                      </a:r>
                      <a:endParaRPr/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Manjericão</a:t>
                      </a:r>
                      <a:endParaRPr/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23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3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Queijo</a:t>
                      </a:r>
                      <a:endParaRPr/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Mussarela</a:t>
                      </a:r>
                      <a:endParaRPr/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23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3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Carne</a:t>
                      </a:r>
                      <a:endParaRPr/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Calabresa</a:t>
                      </a:r>
                      <a:endParaRPr/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23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3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Vegetal</a:t>
                      </a:r>
                      <a:endParaRPr/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Azeitona</a:t>
                      </a:r>
                      <a:endParaRPr/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2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Forma Normal de Boyce-Codd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149" name="Google Shape;149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2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51" name="Google Shape;151;p22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52" name="Google Shape;152;p22"/>
          <p:cNvSpPr txBox="1">
            <a:spLocks noGrp="1"/>
          </p:cNvSpPr>
          <p:nvPr>
            <p:ph type="sldNum" idx="12"/>
          </p:nvPr>
        </p:nvSpPr>
        <p:spPr>
          <a:xfrm>
            <a:off x="871776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14</a:t>
            </a:fld>
            <a:endParaRPr b="1">
              <a:solidFill>
                <a:schemeClr val="lt1"/>
              </a:solidFill>
            </a:endParaRPr>
          </a:p>
        </p:txBody>
      </p:sp>
      <p:graphicFrame>
        <p:nvGraphicFramePr>
          <p:cNvPr id="153" name="Google Shape;153;p22"/>
          <p:cNvGraphicFramePr/>
          <p:nvPr/>
        </p:nvGraphicFramePr>
        <p:xfrm>
          <a:off x="1691775" y="1245200"/>
          <a:ext cx="2053225" cy="3453630"/>
        </p:xfrm>
        <a:graphic>
          <a:graphicData uri="http://schemas.openxmlformats.org/drawingml/2006/table">
            <a:tbl>
              <a:tblPr>
                <a:noFill/>
                <a:tableStyleId>{7C799B32-B8F3-4BFF-BD6D-73B61F65EC06}</a:tableStyleId>
              </a:tblPr>
              <a:tblGrid>
                <a:gridCol w="751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0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23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b="1" u="sng">
                          <a:latin typeface="Nunito"/>
                          <a:ea typeface="Nunito"/>
                          <a:cs typeface="Nunito"/>
                          <a:sym typeface="Nunito"/>
                        </a:rPr>
                        <a:t>Pizza</a:t>
                      </a:r>
                      <a:endParaRPr b="1" u="sng">
                        <a:solidFill>
                          <a:srgbClr val="000000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b="1" u="sng">
                          <a:solidFill>
                            <a:schemeClr val="dk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Ingrediente</a:t>
                      </a:r>
                      <a:endParaRPr b="1" u="sng">
                        <a:solidFill>
                          <a:schemeClr val="dk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23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1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Mussarela</a:t>
                      </a:r>
                      <a:endParaRPr/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23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1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Frango</a:t>
                      </a:r>
                      <a:endParaRPr/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23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1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Azeitona</a:t>
                      </a:r>
                      <a:endParaRPr/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23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2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Provolone</a:t>
                      </a:r>
                      <a:endParaRPr/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23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2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Calabresa</a:t>
                      </a:r>
                      <a:endParaRPr/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23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2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Manjericão</a:t>
                      </a:r>
                      <a:endParaRPr/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23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3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Mussarela</a:t>
                      </a:r>
                      <a:endParaRPr/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23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3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Calabresa</a:t>
                      </a:r>
                      <a:endParaRPr/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23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3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Azeitona</a:t>
                      </a:r>
                      <a:endParaRPr/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154" name="Google Shape;154;p22"/>
          <p:cNvGraphicFramePr/>
          <p:nvPr/>
        </p:nvGraphicFramePr>
        <p:xfrm>
          <a:off x="4989050" y="1245213"/>
          <a:ext cx="2652550" cy="2297526"/>
        </p:xfrm>
        <a:graphic>
          <a:graphicData uri="http://schemas.openxmlformats.org/drawingml/2006/table">
            <a:tbl>
              <a:tblPr>
                <a:noFill/>
                <a:tableStyleId>{7C799B32-B8F3-4BFF-BD6D-73B61F65EC06}</a:tableStyleId>
              </a:tblPr>
              <a:tblGrid>
                <a:gridCol w="1326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6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23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b="1" u="sng">
                          <a:solidFill>
                            <a:schemeClr val="dk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Ingrediente</a:t>
                      </a:r>
                      <a:endParaRPr b="1" u="sng">
                        <a:solidFill>
                          <a:schemeClr val="dk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b="1">
                          <a:solidFill>
                            <a:schemeClr val="lt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Tipo</a:t>
                      </a:r>
                      <a:endParaRPr b="1">
                        <a:solidFill>
                          <a:schemeClr val="lt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23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Mussarela</a:t>
                      </a:r>
                      <a:endParaRPr/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Queijo</a:t>
                      </a:r>
                      <a:endParaRPr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23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Frango</a:t>
                      </a:r>
                      <a:endParaRPr/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Carne</a:t>
                      </a:r>
                      <a:endParaRPr/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23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Azeitona</a:t>
                      </a:r>
                      <a:endParaRPr/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Vegetal</a:t>
                      </a:r>
                      <a:endParaRPr/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23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Provolone</a:t>
                      </a:r>
                      <a:endParaRPr/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Queijo</a:t>
                      </a:r>
                      <a:endParaRPr/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23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Calabresa</a:t>
                      </a:r>
                      <a:endParaRPr/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Carne</a:t>
                      </a:r>
                      <a:endParaRPr/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23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Manjericão</a:t>
                      </a:r>
                      <a:endParaRPr/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Vegetal</a:t>
                      </a:r>
                      <a:endParaRPr/>
                    </a:p>
                  </a:txBody>
                  <a:tcPr marL="54000" marR="54000" marT="54000" marB="54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3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Ainda na Modelagem Lógica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160" name="Google Shape;160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23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62" name="Google Shape;162;p23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63" name="Google Shape;163;p23"/>
          <p:cNvSpPr txBox="1"/>
          <p:nvPr/>
        </p:nvSpPr>
        <p:spPr>
          <a:xfrm>
            <a:off x="418200" y="960475"/>
            <a:ext cx="8279100" cy="35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>
                <a:latin typeface="Nunito"/>
                <a:ea typeface="Nunito"/>
                <a:cs typeface="Nunito"/>
                <a:sym typeface="Nunito"/>
              </a:rPr>
              <a:t>Análise Crítica das Chaves Primárias</a:t>
            </a:r>
            <a:endParaRPr sz="2000" b="1"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000" b="1">
              <a:latin typeface="Nunito"/>
              <a:ea typeface="Nunito"/>
              <a:cs typeface="Nunito"/>
              <a:sym typeface="Nunito"/>
            </a:endParaRPr>
          </a:p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r>
              <a:rPr lang="pt-BR" sz="2000">
                <a:latin typeface="Nunito"/>
                <a:ea typeface="Nunito"/>
                <a:cs typeface="Nunito"/>
                <a:sym typeface="Nunito"/>
              </a:rPr>
              <a:t>Questões para refletirem:</a:t>
            </a:r>
            <a:endParaRPr sz="200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latin typeface="Nunito"/>
              <a:ea typeface="Nunito"/>
              <a:cs typeface="Nunito"/>
              <a:sym typeface="Nunito"/>
            </a:endParaRPr>
          </a:p>
          <a:p>
            <a:pPr marL="914400" lvl="1" indent="-355600" algn="just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○"/>
            </a:pPr>
            <a:r>
              <a:rPr lang="pt-BR" sz="2000">
                <a:latin typeface="Nunito"/>
                <a:ea typeface="Nunito"/>
                <a:cs typeface="Nunito"/>
                <a:sym typeface="Nunito"/>
              </a:rPr>
              <a:t>"O CPF pode mudar? É estável?"</a:t>
            </a:r>
            <a:endParaRPr sz="2000">
              <a:latin typeface="Nunito"/>
              <a:ea typeface="Nunito"/>
              <a:cs typeface="Nunito"/>
              <a:sym typeface="Nunito"/>
            </a:endParaRPr>
          </a:p>
          <a:p>
            <a:pPr marL="9144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latin typeface="Nunito"/>
              <a:ea typeface="Nunito"/>
              <a:cs typeface="Nunito"/>
              <a:sym typeface="Nunito"/>
            </a:endParaRPr>
          </a:p>
          <a:p>
            <a:pPr marL="914400" lvl="1" indent="-355600" algn="just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○"/>
            </a:pPr>
            <a:r>
              <a:rPr lang="pt-BR" sz="2000">
                <a:latin typeface="Nunito"/>
                <a:ea typeface="Nunito"/>
                <a:cs typeface="Nunito"/>
                <a:sym typeface="Nunito"/>
              </a:rPr>
              <a:t>"A matrícula pode ser alterada pela empresa?"</a:t>
            </a:r>
            <a:endParaRPr sz="2000">
              <a:latin typeface="Nunito"/>
              <a:ea typeface="Nunito"/>
              <a:cs typeface="Nunito"/>
              <a:sym typeface="Nunito"/>
            </a:endParaRPr>
          </a:p>
          <a:p>
            <a:pPr marL="9144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latin typeface="Nunito"/>
              <a:ea typeface="Nunito"/>
              <a:cs typeface="Nunito"/>
              <a:sym typeface="Nunito"/>
            </a:endParaRPr>
          </a:p>
          <a:p>
            <a:pPr marL="914400" lvl="1" indent="-355600" algn="just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○"/>
            </a:pPr>
            <a:r>
              <a:rPr lang="pt-BR" sz="2000">
                <a:latin typeface="Nunito"/>
                <a:ea typeface="Nunito"/>
                <a:cs typeface="Nunito"/>
                <a:sym typeface="Nunito"/>
              </a:rPr>
              <a:t>"Essa chave composta é muito grande para performance?"</a:t>
            </a:r>
            <a:endParaRPr sz="2000">
              <a:latin typeface="Nunito"/>
              <a:ea typeface="Nunito"/>
              <a:cs typeface="Nunito"/>
              <a:sym typeface="Nunito"/>
            </a:endParaRPr>
          </a:p>
          <a:p>
            <a:pPr marL="9144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latin typeface="Nunito"/>
              <a:ea typeface="Nunito"/>
              <a:cs typeface="Nunito"/>
              <a:sym typeface="Nunito"/>
            </a:endParaRPr>
          </a:p>
          <a:p>
            <a:pPr marL="914400" lvl="1" indent="-355600" algn="just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○"/>
            </a:pPr>
            <a:r>
              <a:rPr lang="pt-BR" sz="2000">
                <a:latin typeface="Nunito"/>
                <a:ea typeface="Nunito"/>
                <a:cs typeface="Nunito"/>
                <a:sym typeface="Nunito"/>
              </a:rPr>
              <a:t>"Dados sensíveis devem ser chaves primárias?"</a:t>
            </a:r>
            <a:endParaRPr sz="20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64" name="Google Shape;164;p23"/>
          <p:cNvSpPr txBox="1">
            <a:spLocks noGrp="1"/>
          </p:cNvSpPr>
          <p:nvPr>
            <p:ph type="sldNum" idx="12"/>
          </p:nvPr>
        </p:nvSpPr>
        <p:spPr>
          <a:xfrm>
            <a:off x="871776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15</a:t>
            </a:fld>
            <a:endParaRPr b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4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Ainda na Modelagem Lógica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170" name="Google Shape;170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4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72" name="Google Shape;172;p24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73" name="Google Shape;173;p24"/>
          <p:cNvSpPr txBox="1"/>
          <p:nvPr/>
        </p:nvSpPr>
        <p:spPr>
          <a:xfrm>
            <a:off x="418200" y="884275"/>
            <a:ext cx="8279100" cy="387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>
                <a:latin typeface="Nunito"/>
                <a:ea typeface="Nunito"/>
                <a:cs typeface="Nunito"/>
                <a:sym typeface="Nunito"/>
              </a:rPr>
              <a:t>Análise Crítica das Chaves Primárias</a:t>
            </a:r>
            <a:endParaRPr sz="2000" b="1">
              <a:latin typeface="Nunito"/>
              <a:ea typeface="Nunito"/>
              <a:cs typeface="Nunito"/>
              <a:sym typeface="Nunito"/>
            </a:endParaRPr>
          </a:p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r>
              <a:rPr lang="pt-BR" sz="2000">
                <a:latin typeface="Nunito"/>
                <a:ea typeface="Nunito"/>
                <a:cs typeface="Nunito"/>
                <a:sym typeface="Nunito"/>
              </a:rPr>
              <a:t>Refazer o modelo incorporando IDs onde necessário:</a:t>
            </a:r>
            <a:endParaRPr sz="200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latin typeface="Nunito"/>
              <a:ea typeface="Nunito"/>
              <a:cs typeface="Nunito"/>
              <a:sym typeface="Nunito"/>
            </a:endParaRPr>
          </a:p>
          <a:p>
            <a:pPr marL="914400" lvl="1" indent="-355600" algn="just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○"/>
            </a:pPr>
            <a:r>
              <a:rPr lang="pt-BR" sz="2000" b="1">
                <a:latin typeface="Nunito"/>
                <a:ea typeface="Nunito"/>
                <a:cs typeface="Nunito"/>
                <a:sym typeface="Nunito"/>
              </a:rPr>
              <a:t>Antes</a:t>
            </a:r>
            <a:endParaRPr sz="2000" b="1">
              <a:latin typeface="Nunito"/>
              <a:ea typeface="Nunito"/>
              <a:cs typeface="Nunito"/>
              <a:sym typeface="Nunito"/>
            </a:endParaRPr>
          </a:p>
          <a:p>
            <a:pPr marL="9144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000" b="1">
              <a:latin typeface="Nunito"/>
              <a:ea typeface="Nunito"/>
              <a:cs typeface="Nunito"/>
              <a:sym typeface="Nunito"/>
            </a:endParaRPr>
          </a:p>
          <a:p>
            <a:pPr marL="1371600" lvl="2" indent="-355600" algn="just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■"/>
            </a:pPr>
            <a:r>
              <a:rPr lang="pt-BR" sz="2000">
                <a:latin typeface="Nunito"/>
                <a:ea typeface="Nunito"/>
                <a:cs typeface="Nunito"/>
                <a:sym typeface="Nunito"/>
              </a:rPr>
              <a:t>Funcionario(cpf, matricula, nome, cargo_codigo)</a:t>
            </a:r>
            <a:endParaRPr sz="2000">
              <a:latin typeface="Nunito"/>
              <a:ea typeface="Nunito"/>
              <a:cs typeface="Nunito"/>
              <a:sym typeface="Nunito"/>
            </a:endParaRPr>
          </a:p>
          <a:p>
            <a:pPr marL="13716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latin typeface="Nunito"/>
              <a:ea typeface="Nunito"/>
              <a:cs typeface="Nunito"/>
              <a:sym typeface="Nunito"/>
            </a:endParaRPr>
          </a:p>
          <a:p>
            <a:pPr marL="914400" lvl="1" indent="-355600" algn="just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○"/>
            </a:pPr>
            <a:r>
              <a:rPr lang="pt-BR" sz="2000" b="1">
                <a:latin typeface="Nunito"/>
                <a:ea typeface="Nunito"/>
                <a:cs typeface="Nunito"/>
                <a:sym typeface="Nunito"/>
              </a:rPr>
              <a:t>Depois</a:t>
            </a:r>
            <a:endParaRPr sz="2000" b="1">
              <a:latin typeface="Nunito"/>
              <a:ea typeface="Nunito"/>
              <a:cs typeface="Nunito"/>
              <a:sym typeface="Nunito"/>
            </a:endParaRPr>
          </a:p>
          <a:p>
            <a:pPr marL="9144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000" b="1">
              <a:latin typeface="Nunito"/>
              <a:ea typeface="Nunito"/>
              <a:cs typeface="Nunito"/>
              <a:sym typeface="Nunito"/>
            </a:endParaRPr>
          </a:p>
          <a:p>
            <a:pPr marL="1371600" lvl="2" indent="-355600" algn="just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■"/>
            </a:pPr>
            <a:r>
              <a:rPr lang="pt-BR" sz="2000">
                <a:latin typeface="Nunito"/>
                <a:ea typeface="Nunito"/>
                <a:cs typeface="Nunito"/>
                <a:sym typeface="Nunito"/>
              </a:rPr>
              <a:t> Funcionario(funcionario_id, cpf, matricula, nome, cargo_id)</a:t>
            </a:r>
            <a:endParaRPr sz="2000">
              <a:latin typeface="Nunito"/>
              <a:ea typeface="Nunito"/>
              <a:cs typeface="Nunito"/>
              <a:sym typeface="Nunito"/>
            </a:endParaRPr>
          </a:p>
          <a:p>
            <a:pPr marL="13716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r>
              <a:rPr lang="pt-BR" sz="2000">
                <a:latin typeface="Nunito"/>
                <a:ea typeface="Nunito"/>
                <a:cs typeface="Nunito"/>
                <a:sym typeface="Nunito"/>
              </a:rPr>
              <a:t>Gerar DDL com IDs já decididos</a:t>
            </a:r>
            <a:endParaRPr sz="20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74" name="Google Shape;174;p24"/>
          <p:cNvSpPr txBox="1">
            <a:spLocks noGrp="1"/>
          </p:cNvSpPr>
          <p:nvPr>
            <p:ph type="sldNum" idx="12"/>
          </p:nvPr>
        </p:nvSpPr>
        <p:spPr>
          <a:xfrm>
            <a:off x="871776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16</a:t>
            </a:fld>
            <a:endParaRPr b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1013</Words>
  <Application>Microsoft Office PowerPoint</Application>
  <PresentationFormat>Apresentação na tela (16:9)</PresentationFormat>
  <Paragraphs>403</Paragraphs>
  <Slides>16</Slides>
  <Notes>16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16</vt:i4>
      </vt:variant>
    </vt:vector>
  </HeadingPairs>
  <TitlesOfParts>
    <vt:vector size="23" baseType="lpstr">
      <vt:lpstr>Arial</vt:lpstr>
      <vt:lpstr>Maven Pro SemiBold</vt:lpstr>
      <vt:lpstr>Helvetica Neue</vt:lpstr>
      <vt:lpstr>Nunito Medium</vt:lpstr>
      <vt:lpstr>Maven Pro Medium</vt:lpstr>
      <vt:lpstr>Nunito</vt:lpstr>
      <vt:lpstr>Simple Light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cp:lastModifiedBy>Leandro</cp:lastModifiedBy>
  <cp:revision>6</cp:revision>
  <dcterms:modified xsi:type="dcterms:W3CDTF">2025-08-30T02:22:19Z</dcterms:modified>
</cp:coreProperties>
</file>