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7" r:id="rId2"/>
    <p:sldId id="258" r:id="rId3"/>
    <p:sldId id="28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3" r:id="rId13"/>
    <p:sldId id="282" r:id="rId14"/>
    <p:sldId id="267" r:id="rId15"/>
    <p:sldId id="268" r:id="rId16"/>
    <p:sldId id="269" r:id="rId17"/>
    <p:sldId id="270" r:id="rId18"/>
    <p:sldId id="284" r:id="rId19"/>
    <p:sldId id="271" r:id="rId20"/>
    <p:sldId id="272" r:id="rId21"/>
    <p:sldId id="273" r:id="rId22"/>
    <p:sldId id="274" r:id="rId23"/>
    <p:sldId id="285" r:id="rId24"/>
    <p:sldId id="286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16x9"/>
  <p:notesSz cx="6858000" cy="9144000"/>
  <p:embeddedFontLst>
    <p:embeddedFont>
      <p:font typeface="Maven Pro Medium" panose="020B0604020202020204" charset="0"/>
      <p:regular r:id="rId33"/>
      <p:bold r:id="rId34"/>
    </p:embeddedFont>
    <p:embeddedFont>
      <p:font typeface="Maven Pro SemiBold" panose="020B0604020202020204" charset="0"/>
      <p:regular r:id="rId35"/>
      <p:bold r:id="rId36"/>
    </p:embeddedFont>
    <p:embeddedFont>
      <p:font typeface="Nunito" panose="020B0604020202020204" charset="0"/>
      <p:regular r:id="rId37"/>
      <p:bold r:id="rId38"/>
      <p:italic r:id="rId39"/>
      <p:boldItalic r:id="rId40"/>
    </p:embeddedFont>
    <p:embeddedFont>
      <p:font typeface="Nunito ExtraBold" panose="020B0604020202020204" charset="0"/>
      <p:bold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832" autoAdjust="0"/>
  </p:normalViewPr>
  <p:slideViewPr>
    <p:cSldViewPr snapToGrid="0">
      <p:cViewPr varScale="1">
        <p:scale>
          <a:sx n="71" d="100"/>
          <a:sy n="71" d="100"/>
        </p:scale>
        <p:origin x="178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febcd91b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dfebcd91b7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Só um detalhe didático: na prática, </a:t>
            </a:r>
            <a:r>
              <a:rPr lang="pt-BR" b="1" dirty="0"/>
              <a:t>atualizar chaves primárias</a:t>
            </a:r>
            <a:r>
              <a:rPr lang="pt-BR" dirty="0"/>
              <a:t> é incomum (por isso o ON UPDATE é menos usado), mas faz sentido em cadastros que podem ter código alterado (ex.: código de produto ou matrícula).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febcd91b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2dfebcd91b7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febcd91b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dfebcd91b7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febcd91b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2dfebcd91b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febcd91b7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dfebcd91b7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febcd91b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2dfebcd91b7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febcd91b7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dfebcd91b7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febcd91b7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dfebcd91b7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0993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426e5c964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0426e5c964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febcd91b7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dfebcd91b7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febcd91b7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dfebcd91b7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febcd91b7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dfebcd91b7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febcd91b7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dfebcd91b7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371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febcd91b7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dfebcd91b7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febcd91b7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2dfebcd91b7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febcd91b7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2dfebcd91b7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febcd91b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dfebcd91b7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febcd91b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dfebcd91b7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7041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febcd91b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dfebcd91b7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6270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febcd91b7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2dfebcd91b7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dfebcd91b7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2dfebcd91b7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dfebcd91b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dfebcd91b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dfebcd91b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2dfebcd91b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dfebcd91b7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dfebcd91b7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Cláusulas Avançadas em SQL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(CREATE)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18200" y="960475"/>
            <a:ext cx="8293200" cy="1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Criar uma Table (Tabela):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Dentro de um schema, você pode criar tabelas para definir a estrutura onde os dados serão armazenados: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4">
            <a:alphaModFix/>
          </a:blip>
          <a:srcRect l="7022" t="20367" r="8159" b="10823"/>
          <a:stretch/>
        </p:blipFill>
        <p:spPr>
          <a:xfrm>
            <a:off x="104013" y="2373025"/>
            <a:ext cx="4163813" cy="22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5">
            <a:alphaModFix/>
          </a:blip>
          <a:srcRect l="1797" b="11847"/>
          <a:stretch/>
        </p:blipFill>
        <p:spPr>
          <a:xfrm>
            <a:off x="4183825" y="2307325"/>
            <a:ext cx="4868024" cy="227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4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Frequentemente criamos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relações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entre tabelas usando chaves estrangeiras (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FOREIGN KEY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). 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Essas relações são essenciais para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garantir a integridade referencial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, ou seja, assegurar que os dados relacionados permaneçam consistentes entre as tabelas.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100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Há situações em que devemos considerar </a:t>
            </a:r>
            <a:r>
              <a:rPr lang="pt-BR" sz="1800" u="sng">
                <a:latin typeface="Nunito"/>
                <a:ea typeface="Nunito"/>
                <a:cs typeface="Nunito"/>
                <a:sym typeface="Nunito"/>
              </a:rPr>
              <a:t>o que acontece quando os valores das chaves primárias (referenciadas por outras tabelas) mudam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O que são ON DELETE e ON UPDATE?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18200" y="1265275"/>
            <a:ext cx="82791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As cláusulas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ON DELETE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ON UPDATE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são usadas em conjunto com </a:t>
            </a:r>
            <a:r>
              <a:rPr lang="pt-BR" sz="1800" u="sng">
                <a:latin typeface="Nunito"/>
                <a:ea typeface="Nunito"/>
                <a:cs typeface="Nunito"/>
                <a:sym typeface="Nunito"/>
              </a:rPr>
              <a:t>chaves estrangeiras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FOREIGN KEY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 em SQL.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Elas definem o comportamento do banco de dados quando a linha referenciada por uma chave estrangeira é deletada (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ON DELETE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 ou atualizada (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ON UPDATE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Essas cláusulas ajudam a manter a </a:t>
            </a:r>
            <a:r>
              <a:rPr lang="pt-BR" sz="1800" b="1" u="sng">
                <a:latin typeface="Nunito"/>
                <a:ea typeface="Nunito"/>
                <a:cs typeface="Nunito"/>
                <a:sym typeface="Nunito"/>
              </a:rPr>
              <a:t>integridade referencial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e garantem que as relações entre tabelas permaneçam consistentes.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Quando usar ON DELETE e ON UPDATE?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18200" y="1265275"/>
            <a:ext cx="8279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ON DELETE: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define o que acontece com os registros dependentes (na “tabela filha”) quando uma linha da “tabela pai” (referenciada pela chave primária/única) é excluída.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ON UPDATE: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define o que acontece com os registros dependentes (na tabela filha) quando </a:t>
            </a:r>
            <a:r>
              <a:rPr lang="pt-BR" sz="1800" b="1" u="sng" dirty="0">
                <a:latin typeface="Nunito"/>
                <a:ea typeface="Nunito"/>
                <a:cs typeface="Nunito"/>
                <a:sym typeface="Nunito"/>
              </a:rPr>
              <a:t>atualizar o valor da chave primária na “tabela pai”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Sintaxe Básica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11800"/>
            <a:ext cx="8839204" cy="20803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Possibilidades para ON DELETE e ON UPDATE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418200" y="960475"/>
            <a:ext cx="8279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CASCADE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Descrição: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Quando uma linha referenciada é deletada ou atualizada, todas as linhas na tabela que possuem a chave estrangeira correspondente são deletadas ou atualizadas automaticamente.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Quando usar: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Use CASCADE quando a existência das linhas dependentes (referenciadas pela chave estrangeira) não fizer sentido sem a linha pai.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38" y="3473051"/>
            <a:ext cx="8534124" cy="11459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Possibilidades para ON DELETE e ON UPDATE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18200" y="960475"/>
            <a:ext cx="8279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SET NULL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Descrição: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Quando uma linha referenciada é deletada ou atualizada, as colunas de chave estrangeira nas linhas dependentes são definidas como NULL.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Quando usar: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Use SET NULL quando quiser manter as linhas dependentes, mas remover a referência à linha pai.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13" y="3462725"/>
            <a:ext cx="8804777" cy="1182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Possibilidades para ON DELETE e ON UPDATE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2" name="Google Shape;142;p2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18200" y="960475"/>
            <a:ext cx="8279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SET DEFAULT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Descrição: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Quando uma linha referenciada é deletada ou atualizada, as colunas de chave estrangeira nas linhas dependentes são definidas com um valor padrão especificado.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Quando usar: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Use SET DEFAULT quando quiser que as linhas dependentes assumam um valor padrão que indica uma condição especial.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650" y="3397459"/>
            <a:ext cx="8548198" cy="133981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Possibilidades para ON DELETE e ON UPDATE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418200" y="960475"/>
            <a:ext cx="82791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RESTRICT</a:t>
            </a:r>
            <a:endParaRPr sz="1800" dirty="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Descrição: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Impede a deleção ou atualização de uma linha referenciada se existem linhas dependentes que fazem referência a ela.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Quando usar: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Use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RESTRICT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para evitar a perda acidental de integridade referencial.</a:t>
            </a:r>
          </a:p>
          <a:p>
            <a:pPr marL="457200" lvl="1" indent="-342900" algn="just">
              <a:buSzPts val="1800"/>
              <a:buFont typeface="Nunito"/>
              <a:buChar char="●"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50" y="3361675"/>
            <a:ext cx="8349051" cy="112109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Possibilidades para ON DELETE e ON UPDATE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418200" y="960475"/>
            <a:ext cx="8279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NO 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ACTION</a:t>
            </a:r>
            <a:endParaRPr sz="1800" dirty="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Descrição: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Similar a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RESTRICT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 mas a verificação é diferida até o final da transação. É o comportamento padrão se nenhuma ação for especificada.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Quando usar: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Use NO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ACTION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quando quiser que as verificações de integridade referencial ocorram após a execução de outras operações na transação.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88" y="3350550"/>
            <a:ext cx="8352973" cy="13867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Possibilidades para ON DELETE e ON UPDATE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418200" y="960475"/>
            <a:ext cx="82791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NO 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ACTION</a:t>
            </a:r>
            <a:endParaRPr sz="1800" dirty="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No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PostgreSQL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(e na maioria dos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SGBDs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relacionais), quando você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não especifica nada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no ON DELETE ou ON UPDATE o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padrão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é NO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ACTION</a:t>
            </a:r>
            <a:endParaRPr lang="pt-BR" sz="1800" dirty="0">
              <a:latin typeface="Nunito" panose="020B0604020202020204" charset="0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 panose="020B0604020202020204" charset="0"/>
              <a:sym typeface="Arial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 panose="020B0604020202020204" charset="0"/>
              </a:rPr>
              <a:t>R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ESTRICT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→ A verificação é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imediata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: o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SGBD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barra a operação na hora que encontra o conflito.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 panose="020B0604020202020204" charset="0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NO 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ACTION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→ A verificação é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adiada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 panose="020B0604020202020204" charset="0"/>
                <a:sym typeface="Arial"/>
              </a:rPr>
              <a:t> até o final da instrução ou da transação.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018539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 dirty="0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2C16EB-49D0-4943-8C38-25145C5C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450" y="0"/>
            <a:ext cx="66471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Cláusulas Avançadas em SQL utilizadas com SELECT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Cláusulas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418200" y="960475"/>
            <a:ext cx="82791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●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HAVING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●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ORDER BY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●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LIMIT e OFFSET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●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DISTINCT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●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UNION, UNION ALL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●"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WINDOW FUNCTIONS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HAVING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418200" y="960475"/>
            <a:ext cx="82791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HAVING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é usada para filtrar grupos de linhas criados pela cláusula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GROUP BY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Funciona de maneira semelhante à cláusula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WHERE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, mas é aplicada após a agregação.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E7AD35C-6DCB-43F7-AEA9-A8172C80A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276" y="2827025"/>
            <a:ext cx="5294391" cy="19102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ORDER BY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418200" y="1265275"/>
            <a:ext cx="8279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ORDER BY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é usada para ordenar os resultados de uma consulta em ordem crescente (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ASC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 ou decrescente (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DESC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42DC420-A841-47A2-8382-9D46F8E28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231" y="2432659"/>
            <a:ext cx="2511767" cy="20541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LIMIT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3" name="Google Shape;21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418200" y="960475"/>
            <a:ext cx="8279100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LIMIT</a:t>
            </a: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é usada para limitar o número de linhas retornadas pela consulta.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7722A7-CEB6-43F4-971F-3035FACF7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204" y="2100757"/>
            <a:ext cx="1835811" cy="190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964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LIMIT e OFFSET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3" name="Google Shape;21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418200" y="960475"/>
            <a:ext cx="8279100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OFFSET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é usada para pular um número específico de linhas antes de começar a retornar as linhas da consulta, usada junto com 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limit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cria paginação</a:t>
            </a: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Esse comando retorna apenas 5 registros, começando a partir do 6º cliente.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86FC32-B6C9-4ED0-8631-FFFC77416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876" y="2905173"/>
            <a:ext cx="1872797" cy="16961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DISTINCT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418200" y="1189075"/>
            <a:ext cx="8279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DISTINCT</a:t>
            </a: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é usada para remover duplicatas das linhas retornadas pela consulta.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D11BCA1-D226-4FEC-BA33-7CE2EFC3B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852" y="2160903"/>
            <a:ext cx="4007837" cy="11293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UNION e UNION ALL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5" name="Google Shape;23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8" name="Google Shape;238;p3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418200" y="960475"/>
            <a:ext cx="82791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UNION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é usada para combinar os resultados de duas ou mais consultas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SELECT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u="sng">
                <a:latin typeface="Nunito"/>
                <a:ea typeface="Nunito"/>
                <a:cs typeface="Nunito"/>
                <a:sym typeface="Nunito"/>
              </a:rPr>
              <a:t>removendo duplicatas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 cláusula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UNION ALL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faz o mesmo, mas </a:t>
            </a:r>
            <a:r>
              <a:rPr lang="pt-BR" sz="1800" u="sng">
                <a:latin typeface="Nunito"/>
                <a:ea typeface="Nunito"/>
                <a:cs typeface="Nunito"/>
                <a:sym typeface="Nunito"/>
              </a:rPr>
              <a:t>mantém todas as duplicatas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476" y="2377975"/>
            <a:ext cx="3440799" cy="243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D1F43E5-FFD9-451C-9DDE-3824771DE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682" y="2765526"/>
            <a:ext cx="2299652" cy="16013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WINDOW FUNCTIONS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418200" y="960475"/>
            <a:ext cx="8279100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Funções de janela (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window</a:t>
            </a: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 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functions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 permitem que você realize cálculos sobre um conjunto de linhas relacionadas à linha atual. São usadas com a cláusula </a:t>
            </a: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OVER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Diferem das funções de agregação normais (SUM,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AVG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 etc.) porque não colapsam o resultado em uma única linha por grupo; elas mantêm cada linha original, mas adicionam uma coluna calculada.</a:t>
            </a: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WINDOW FUNCTIONS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418200" y="960475"/>
            <a:ext cx="8279100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exemplo abaixo calcula a idade média dos alunos para cada curso (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curso_id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 e adiciona essa média como uma coluna </a:t>
            </a:r>
            <a:r>
              <a:rPr lang="pt-BR" sz="1800" dirty="0" err="1">
                <a:latin typeface="Nunito ExtraBold"/>
                <a:ea typeface="Nunito ExtraBold"/>
                <a:cs typeface="Nunito ExtraBold"/>
                <a:sym typeface="Nunito ExtraBold"/>
              </a:rPr>
              <a:t>avg_idade</a:t>
            </a:r>
            <a:r>
              <a:rPr lang="pt-BR" sz="1800" dirty="0">
                <a:latin typeface="Nunito ExtraBold"/>
                <a:ea typeface="Nunito ExtraBold"/>
                <a:cs typeface="Nunito ExtraBold"/>
                <a:sym typeface="Nunito ExtraBold"/>
              </a:rPr>
              <a:t>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na tabela de resultados.</a:t>
            </a:r>
          </a:p>
        </p:txBody>
      </p:sp>
      <p:pic>
        <p:nvPicPr>
          <p:cNvPr id="251" name="Google Shape;25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686" y="2459724"/>
            <a:ext cx="7128627" cy="1635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427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WINDOW FUNCTIONS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C143959-CCBF-4297-ADD2-A5A53AD58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513" y="1574112"/>
            <a:ext cx="4849994" cy="227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74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8" name="Google Shape;258;p32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59" name="Google Shape;25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Views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O que são Views?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9" name="Google Shape;269;p3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418200" y="1112875"/>
            <a:ext cx="8279100" cy="3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Uma view é uma </a:t>
            </a:r>
            <a:r>
              <a:rPr lang="pt-BR" sz="1800" u="sng">
                <a:latin typeface="Nunito ExtraBold"/>
                <a:ea typeface="Nunito ExtraBold"/>
                <a:cs typeface="Nunito ExtraBold"/>
                <a:sym typeface="Nunito ExtraBold"/>
              </a:rPr>
              <a:t>tabela virtual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baseada no resultado de uma consulta SQL.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Ela não armazena dados fisicamente, mas sim a consulta que gera os dados.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As views permitem que você crie uma </a:t>
            </a: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camada de abstração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sobre suas tabelas, facilitando a consulta e a manipulação de dados.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Suponha as Seguintes Tabelas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9" name="Google Shape;279;p3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80" name="Google Shape;2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2999" y="1369412"/>
            <a:ext cx="6098001" cy="29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Suponha as seguintes Tabelas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6" name="Google Shape;28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8" name="Google Shape;288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9" name="Google Shape;289;p3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90" name="Google Shape;29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25" y="1890988"/>
            <a:ext cx="3786325" cy="13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7225" y="1963675"/>
            <a:ext cx="3528325" cy="121614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5"/>
          <p:cNvSpPr txBox="1"/>
          <p:nvPr/>
        </p:nvSpPr>
        <p:spPr>
          <a:xfrm>
            <a:off x="1696350" y="1360250"/>
            <a:ext cx="13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alunos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5853638" y="1360250"/>
            <a:ext cx="131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Nunito ExtraBold"/>
                <a:ea typeface="Nunito ExtraBold"/>
                <a:cs typeface="Nunito ExtraBold"/>
                <a:sym typeface="Nunito ExtraBold"/>
              </a:rPr>
              <a:t>cursos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Criando uma View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9" name="Google Shape;29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2" name="Google Shape;302;p3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03" name="Google Shape;3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13" y="1006276"/>
            <a:ext cx="8116372" cy="18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0875" y="3109350"/>
            <a:ext cx="5467925" cy="152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(UniRV)</a:t>
            </a: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4" name="Google Shape;314;p37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1087</Words>
  <Application>Microsoft Office PowerPoint</Application>
  <PresentationFormat>Apresentação na tela (16:9)</PresentationFormat>
  <Paragraphs>150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Helvetica Neue</vt:lpstr>
      <vt:lpstr>Maven Pro SemiBold</vt:lpstr>
      <vt:lpstr>Nunito ExtraBold</vt:lpstr>
      <vt:lpstr>Maven Pro Medium</vt:lpstr>
      <vt:lpstr>Nunito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5</cp:revision>
  <dcterms:modified xsi:type="dcterms:W3CDTF">2025-09-30T23:17:56Z</dcterms:modified>
</cp:coreProperties>
</file>