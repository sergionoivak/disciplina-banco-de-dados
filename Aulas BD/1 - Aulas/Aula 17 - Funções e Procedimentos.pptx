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306" r:id="rId2"/>
    <p:sldId id="307" r:id="rId3"/>
    <p:sldId id="309" r:id="rId4"/>
    <p:sldId id="310" r:id="rId5"/>
    <p:sldId id="311" r:id="rId6"/>
    <p:sldId id="312" r:id="rId7"/>
    <p:sldId id="269" r:id="rId8"/>
    <p:sldId id="270" r:id="rId9"/>
    <p:sldId id="271" r:id="rId10"/>
    <p:sldId id="297" r:id="rId11"/>
    <p:sldId id="272" r:id="rId12"/>
    <p:sldId id="273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99" r:id="rId22"/>
    <p:sldId id="300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301" r:id="rId32"/>
    <p:sldId id="291" r:id="rId33"/>
    <p:sldId id="302" r:id="rId34"/>
    <p:sldId id="274" r:id="rId35"/>
    <p:sldId id="303" r:id="rId36"/>
    <p:sldId id="304" r:id="rId37"/>
    <p:sldId id="305" r:id="rId38"/>
    <p:sldId id="292" r:id="rId39"/>
    <p:sldId id="293" r:id="rId40"/>
    <p:sldId id="294" r:id="rId41"/>
    <p:sldId id="295" r:id="rId42"/>
    <p:sldId id="296" r:id="rId43"/>
  </p:sldIdLst>
  <p:sldSz cx="9144000" cy="5143500" type="screen16x9"/>
  <p:notesSz cx="6858000" cy="9144000"/>
  <p:embeddedFontLst>
    <p:embeddedFont>
      <p:font typeface="Maven Pro Medium" panose="020B0604020202020204" charset="0"/>
      <p:regular r:id="rId45"/>
      <p:bold r:id="rId46"/>
    </p:embeddedFont>
    <p:embeddedFont>
      <p:font typeface="Maven Pro SemiBold" panose="020B0604020202020204" charset="0"/>
      <p:regular r:id="rId47"/>
      <p:bold r:id="rId48"/>
    </p:embeddedFont>
    <p:embeddedFont>
      <p:font typeface="Nunito" panose="020B0604020202020204" charset="0"/>
      <p:regular r:id="rId49"/>
      <p:bold r:id="rId50"/>
      <p:italic r:id="rId51"/>
      <p:boldItalic r:id="rId52"/>
    </p:embeddedFont>
    <p:embeddedFont>
      <p:font typeface="Nunito Medium" panose="020B060402020202020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63338" autoAdjust="0"/>
  </p:normalViewPr>
  <p:slideViewPr>
    <p:cSldViewPr snapToGrid="0">
      <p:cViewPr varScale="1">
        <p:scale>
          <a:sx n="54" d="100"/>
          <a:sy n="54" d="100"/>
        </p:scale>
        <p:origin x="1560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3220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febcd9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dfebcd9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603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febcd9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dfebcd9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5823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febcd9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dfebcd9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684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febcd9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dfebcd9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980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febcd9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dfebcd9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1820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febcd9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dfebcd9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Isso significa que o código (geralmente em </a:t>
            </a:r>
            <a:r>
              <a:rPr lang="pt-BR" b="1" dirty="0"/>
              <a:t>SQL</a:t>
            </a:r>
            <a:r>
              <a:rPr lang="pt-BR" dirty="0"/>
              <a:t> ou </a:t>
            </a:r>
            <a:r>
              <a:rPr lang="pt-BR" b="1" dirty="0"/>
              <a:t>PL/</a:t>
            </a:r>
            <a:r>
              <a:rPr lang="pt-BR" b="1" dirty="0" err="1"/>
              <a:t>pgSQL</a:t>
            </a:r>
            <a:r>
              <a:rPr lang="pt-BR" dirty="0"/>
              <a:t>) fica salvo dentro do banco, podendo ser executado sob demanda.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53e2f5ea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d53e2f5ea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Uma função pode devolver um único resultado (como um número ou texto) </a:t>
            </a:r>
            <a:r>
              <a:rPr lang="pt-BR" b="1" dirty="0"/>
              <a:t>ou uma tabela inteira</a:t>
            </a:r>
            <a:r>
              <a:rPr lang="pt-BR" dirty="0"/>
              <a:t>, dependendo de como ela foi criada.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53e2f5ea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d53e2f5ea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Uma função pode devolver um único resultado (como um número ou texto) </a:t>
            </a:r>
            <a:r>
              <a:rPr lang="pt-BR" b="1" dirty="0"/>
              <a:t>ou uma tabela inteira</a:t>
            </a:r>
            <a:r>
              <a:rPr lang="pt-BR" dirty="0"/>
              <a:t>, dependendo de como ela foi criada.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7529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2a57ead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12a57ead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2a57ead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312a57ead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53e2f5ea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d53e2f5ea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$$ Delimitador que indica onde começa e onde termina a função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BR" dirty="0"/>
              <a:t>$$ é uma forma </a:t>
            </a:r>
            <a:r>
              <a:rPr lang="pt-BR" b="1" dirty="0"/>
              <a:t>neutra</a:t>
            </a:r>
            <a:r>
              <a:rPr lang="pt-BR" dirty="0"/>
              <a:t> de abrir e fechar blocos de código sem conflito com aspas internas.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plpgsql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d</a:t>
            </a:r>
            <a:r>
              <a:rPr lang="pt-BR" dirty="0"/>
              <a:t>iz qual linguagem está sendo usada (nesse caso, PL/</a:t>
            </a:r>
            <a:r>
              <a:rPr lang="pt-BR" dirty="0" err="1"/>
              <a:t>pgSQL</a:t>
            </a:r>
            <a:r>
              <a:rPr lang="pt-BR" dirty="0"/>
              <a:t> do PostgreSQL)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d53e2f5ea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d53e2f5ea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d53e2f5ea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2d53e2f5ea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53e2f5eae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2d53e2f5eae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d53e2f5ea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2d53e2f5ea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d53e2f5ea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d53e2f5ea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d53e2f5eae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2d53e2f5eae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53e2f5eae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2d53e2f5eae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CREATE</a:t>
            </a:r>
            <a:r>
              <a:rPr lang="pt-BR" dirty="0"/>
              <a:t> OR </a:t>
            </a:r>
            <a:r>
              <a:rPr lang="pt-BR" dirty="0" err="1"/>
              <a:t>REPLACE</a:t>
            </a:r>
            <a:r>
              <a:rPr lang="pt-BR" dirty="0"/>
              <a:t>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calcular_total_cliente</a:t>
            </a:r>
            <a:r>
              <a:rPr lang="pt-BR" dirty="0"/>
              <a:t>(</a:t>
            </a:r>
            <a:r>
              <a:rPr lang="pt-BR" dirty="0" err="1"/>
              <a:t>cliente_id_input</a:t>
            </a:r>
            <a:r>
              <a:rPr lang="pt-BR" dirty="0"/>
              <a:t> </a:t>
            </a:r>
            <a:r>
              <a:rPr lang="pt-BR" dirty="0" err="1"/>
              <a:t>INTEGER</a:t>
            </a:r>
            <a:r>
              <a:rPr lang="pt-BR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RETURNS</a:t>
            </a:r>
            <a:r>
              <a:rPr lang="pt-BR" dirty="0"/>
              <a:t> </a:t>
            </a:r>
            <a:r>
              <a:rPr lang="pt-BR" dirty="0" err="1"/>
              <a:t>NUMERIC</a:t>
            </a:r>
            <a:r>
              <a:rPr lang="pt-BR" dirty="0"/>
              <a:t>(10, 2) AS $$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DECLARE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total_cliente</a:t>
            </a:r>
            <a:r>
              <a:rPr lang="pt-BR" dirty="0"/>
              <a:t> </a:t>
            </a:r>
            <a:r>
              <a:rPr lang="pt-BR" dirty="0" err="1"/>
              <a:t>NUMERIC</a:t>
            </a:r>
            <a:r>
              <a:rPr lang="pt-BR" dirty="0"/>
              <a:t>(10, 2);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BEGIN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SELECT</a:t>
            </a:r>
            <a:r>
              <a:rPr lang="pt-BR" dirty="0"/>
              <a:t> SUM(total) INTO </a:t>
            </a:r>
            <a:r>
              <a:rPr lang="pt-BR" dirty="0" err="1"/>
              <a:t>total_cliente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FROM</a:t>
            </a:r>
            <a:r>
              <a:rPr lang="pt-BR" dirty="0"/>
              <a:t> pedidos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WHERE </a:t>
            </a:r>
            <a:r>
              <a:rPr lang="pt-BR" dirty="0" err="1"/>
              <a:t>cliente_id</a:t>
            </a:r>
            <a:r>
              <a:rPr lang="pt-BR" dirty="0"/>
              <a:t> = </a:t>
            </a:r>
            <a:r>
              <a:rPr lang="pt-BR" dirty="0" err="1"/>
              <a:t>cliente_id_input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-- Se o cliente não tiver pedidos, retornar zero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IF </a:t>
            </a:r>
            <a:r>
              <a:rPr lang="pt-BR" dirty="0" err="1"/>
              <a:t>total_cliente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NULL</a:t>
            </a:r>
            <a:r>
              <a:rPr lang="pt-BR" dirty="0"/>
              <a:t> </a:t>
            </a:r>
            <a:r>
              <a:rPr lang="pt-BR" dirty="0" err="1"/>
              <a:t>THEN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    </a:t>
            </a:r>
            <a:r>
              <a:rPr lang="pt-BR" dirty="0" err="1"/>
              <a:t>total_cliente</a:t>
            </a:r>
            <a:r>
              <a:rPr lang="pt-BR" dirty="0"/>
              <a:t> := 0;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END</a:t>
            </a:r>
            <a:r>
              <a:rPr lang="pt-BR" dirty="0"/>
              <a:t> IF;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total_cliente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END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$$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plpgsql</a:t>
            </a:r>
            <a:r>
              <a:rPr lang="pt-BR" dirty="0"/>
              <a:t>;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53e2f5eae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2d53e2f5eae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CREATE</a:t>
            </a:r>
            <a:r>
              <a:rPr lang="pt-BR" dirty="0"/>
              <a:t> OR </a:t>
            </a:r>
            <a:r>
              <a:rPr lang="pt-BR" dirty="0" err="1"/>
              <a:t>REPLACE</a:t>
            </a:r>
            <a:r>
              <a:rPr lang="pt-BR" dirty="0"/>
              <a:t>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calcular_total_cliente</a:t>
            </a:r>
            <a:r>
              <a:rPr lang="pt-BR" dirty="0"/>
              <a:t>(</a:t>
            </a:r>
            <a:r>
              <a:rPr lang="pt-BR" dirty="0" err="1"/>
              <a:t>cliente_id_input</a:t>
            </a:r>
            <a:r>
              <a:rPr lang="pt-BR" dirty="0"/>
              <a:t> </a:t>
            </a:r>
            <a:r>
              <a:rPr lang="pt-BR" dirty="0" err="1"/>
              <a:t>INTEGER</a:t>
            </a:r>
            <a:r>
              <a:rPr lang="pt-BR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RETURNS</a:t>
            </a:r>
            <a:r>
              <a:rPr lang="pt-BR" dirty="0"/>
              <a:t> </a:t>
            </a:r>
            <a:r>
              <a:rPr lang="pt-BR" dirty="0" err="1"/>
              <a:t>NUMERIC</a:t>
            </a:r>
            <a:r>
              <a:rPr lang="pt-BR" dirty="0"/>
              <a:t>(10, 2) AS $$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DECLARE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total_cliente</a:t>
            </a:r>
            <a:r>
              <a:rPr lang="pt-BR" dirty="0"/>
              <a:t> </a:t>
            </a:r>
            <a:r>
              <a:rPr lang="pt-BR" dirty="0" err="1"/>
              <a:t>NUMERIC</a:t>
            </a:r>
            <a:r>
              <a:rPr lang="pt-BR" dirty="0"/>
              <a:t>(10, 2);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BEGIN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SELECT</a:t>
            </a:r>
            <a:r>
              <a:rPr lang="pt-BR" dirty="0"/>
              <a:t> SUM(total) INTO </a:t>
            </a:r>
            <a:r>
              <a:rPr lang="pt-BR" dirty="0" err="1"/>
              <a:t>total_cliente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FROM</a:t>
            </a:r>
            <a:r>
              <a:rPr lang="pt-BR" dirty="0"/>
              <a:t> pedidos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WHERE </a:t>
            </a:r>
            <a:r>
              <a:rPr lang="pt-BR" dirty="0" err="1"/>
              <a:t>cliente_id</a:t>
            </a:r>
            <a:r>
              <a:rPr lang="pt-BR" dirty="0"/>
              <a:t> = </a:t>
            </a:r>
            <a:r>
              <a:rPr lang="pt-BR" dirty="0" err="1"/>
              <a:t>cliente_id_input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-- Se o cliente não tiver pedidos, retornar zero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IF </a:t>
            </a:r>
            <a:r>
              <a:rPr lang="pt-BR" dirty="0" err="1"/>
              <a:t>total_cliente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NULL</a:t>
            </a:r>
            <a:r>
              <a:rPr lang="pt-BR" dirty="0"/>
              <a:t> </a:t>
            </a:r>
            <a:r>
              <a:rPr lang="pt-BR" dirty="0" err="1"/>
              <a:t>THEN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    </a:t>
            </a:r>
            <a:r>
              <a:rPr lang="pt-BR" dirty="0" err="1"/>
              <a:t>total_cliente</a:t>
            </a:r>
            <a:r>
              <a:rPr lang="pt-BR" dirty="0"/>
              <a:t> := 0;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END</a:t>
            </a:r>
            <a:r>
              <a:rPr lang="pt-BR" dirty="0"/>
              <a:t> IF;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total_cliente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END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$$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plpgsql</a:t>
            </a:r>
            <a:r>
              <a:rPr lang="pt-BR" dirty="0"/>
              <a:t>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25504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53e2f5eae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2d53e2f5eae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CREATE</a:t>
            </a:r>
            <a:r>
              <a:rPr lang="pt-BR" dirty="0"/>
              <a:t> OR </a:t>
            </a:r>
            <a:r>
              <a:rPr lang="pt-BR" dirty="0" err="1"/>
              <a:t>REPLACE</a:t>
            </a:r>
            <a:r>
              <a:rPr lang="pt-BR" dirty="0"/>
              <a:t>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calcular_total_cliente</a:t>
            </a:r>
            <a:r>
              <a:rPr lang="pt-BR" dirty="0"/>
              <a:t>(</a:t>
            </a:r>
            <a:r>
              <a:rPr lang="pt-BR" dirty="0" err="1"/>
              <a:t>cliente_id_input</a:t>
            </a:r>
            <a:r>
              <a:rPr lang="pt-BR" dirty="0"/>
              <a:t> </a:t>
            </a:r>
            <a:r>
              <a:rPr lang="pt-BR" dirty="0" err="1"/>
              <a:t>INTEGER</a:t>
            </a:r>
            <a:r>
              <a:rPr lang="pt-BR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RETURNS</a:t>
            </a:r>
            <a:r>
              <a:rPr lang="pt-BR" dirty="0"/>
              <a:t> </a:t>
            </a:r>
            <a:r>
              <a:rPr lang="pt-BR" dirty="0" err="1"/>
              <a:t>NUMERIC</a:t>
            </a:r>
            <a:r>
              <a:rPr lang="pt-BR" dirty="0"/>
              <a:t>(10, 2) AS $$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DECLARE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total_cliente</a:t>
            </a:r>
            <a:r>
              <a:rPr lang="pt-BR" dirty="0"/>
              <a:t> </a:t>
            </a:r>
            <a:r>
              <a:rPr lang="pt-BR" dirty="0" err="1"/>
              <a:t>NUMERIC</a:t>
            </a:r>
            <a:r>
              <a:rPr lang="pt-BR" dirty="0"/>
              <a:t>(10, 2);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BEGIN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SELECT</a:t>
            </a:r>
            <a:r>
              <a:rPr lang="pt-BR" dirty="0"/>
              <a:t> SUM(total) INTO </a:t>
            </a:r>
            <a:r>
              <a:rPr lang="pt-BR" dirty="0" err="1"/>
              <a:t>total_cliente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FROM</a:t>
            </a:r>
            <a:r>
              <a:rPr lang="pt-BR" dirty="0"/>
              <a:t> pedidos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WHERE </a:t>
            </a:r>
            <a:r>
              <a:rPr lang="pt-BR" dirty="0" err="1"/>
              <a:t>cliente_id</a:t>
            </a:r>
            <a:r>
              <a:rPr lang="pt-BR" dirty="0"/>
              <a:t> = </a:t>
            </a:r>
            <a:r>
              <a:rPr lang="pt-BR" dirty="0" err="1"/>
              <a:t>cliente_id_input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-- Se o cliente não tiver pedidos, retornar zero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IF </a:t>
            </a:r>
            <a:r>
              <a:rPr lang="pt-BR" dirty="0" err="1"/>
              <a:t>total_cliente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NULL</a:t>
            </a:r>
            <a:r>
              <a:rPr lang="pt-BR" dirty="0"/>
              <a:t> </a:t>
            </a:r>
            <a:r>
              <a:rPr lang="pt-BR" dirty="0" err="1"/>
              <a:t>THEN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    </a:t>
            </a:r>
            <a:r>
              <a:rPr lang="pt-BR" dirty="0" err="1"/>
              <a:t>total_cliente</a:t>
            </a:r>
            <a:r>
              <a:rPr lang="pt-BR" dirty="0"/>
              <a:t> := 0;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END</a:t>
            </a:r>
            <a:r>
              <a:rPr lang="pt-BR" dirty="0"/>
              <a:t> IF;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total_cliente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END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$$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plpgsql</a:t>
            </a:r>
            <a:r>
              <a:rPr lang="pt-BR" dirty="0"/>
              <a:t>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53602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53e2f5eae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2d53e2f5eae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SELECT nome, calcular_total_cliente(cliente_id) AS total_gasto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FROM clientes;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d53e2f5ea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2d53e2f5eae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53e2f5eae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d53e2f5eae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CREATE OR REPLACE FUNCTION obter_estoque_disponivel(produto_id_input INTEGER)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RETURNS INTEGER AS $$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DECLARE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estoque_disponivel INTEGER;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BEGIN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SELECT disponivel INTO estoque_disponivel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FROM produtos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WHERE produto_id = produto_id_input;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RETURN estoque_disponivel;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END;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$$ LANGUAGE plpgsql;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d53e2f5eae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g2d53e2f5eae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SELECT nome, obter_estoque_disponivel(produto_id) AS estoque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FROM produtos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WHERE produto_id = 1;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d53e2f5eae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2d53e2f5eae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d53e2f5eae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2d53e2f5eae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CREATE</a:t>
            </a:r>
            <a:r>
              <a:rPr lang="pt-BR" dirty="0"/>
              <a:t> OR </a:t>
            </a:r>
            <a:r>
              <a:rPr lang="pt-BR" dirty="0" err="1"/>
              <a:t>REPLACE</a:t>
            </a:r>
            <a:r>
              <a:rPr lang="pt-BR" dirty="0"/>
              <a:t>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listar_produtos_por_categoria</a:t>
            </a:r>
            <a:r>
              <a:rPr lang="pt-BR" dirty="0"/>
              <a:t>(</a:t>
            </a:r>
            <a:r>
              <a:rPr lang="pt-BR" dirty="0" err="1"/>
              <a:t>categoria_id_input</a:t>
            </a:r>
            <a:r>
              <a:rPr lang="pt-BR" dirty="0"/>
              <a:t> </a:t>
            </a:r>
            <a:r>
              <a:rPr lang="pt-BR" dirty="0" err="1"/>
              <a:t>INTEGER</a:t>
            </a:r>
            <a:r>
              <a:rPr lang="pt-BR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RETURNS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(</a:t>
            </a:r>
            <a:r>
              <a:rPr lang="pt-BR" dirty="0" err="1"/>
              <a:t>produto_id</a:t>
            </a:r>
            <a:r>
              <a:rPr lang="pt-BR" dirty="0"/>
              <a:t> </a:t>
            </a:r>
            <a:r>
              <a:rPr lang="pt-BR" dirty="0" err="1"/>
              <a:t>INTEGER</a:t>
            </a:r>
            <a:r>
              <a:rPr lang="pt-BR" dirty="0"/>
              <a:t>, nome </a:t>
            </a:r>
            <a:r>
              <a:rPr lang="pt-BR" dirty="0" err="1"/>
              <a:t>VARCHAR</a:t>
            </a:r>
            <a:r>
              <a:rPr lang="pt-BR" dirty="0"/>
              <a:t>, </a:t>
            </a:r>
            <a:r>
              <a:rPr lang="pt-BR" dirty="0" err="1"/>
              <a:t>preco</a:t>
            </a:r>
            <a:r>
              <a:rPr lang="pt-BR" dirty="0"/>
              <a:t> </a:t>
            </a:r>
            <a:r>
              <a:rPr lang="pt-BR" dirty="0" err="1"/>
              <a:t>NUMERIC</a:t>
            </a:r>
            <a:r>
              <a:rPr lang="pt-BR" dirty="0"/>
              <a:t>) AS $$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BEGIN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QUERY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</a:t>
            </a:r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p.produto_id</a:t>
            </a:r>
            <a:r>
              <a:rPr lang="pt-BR" dirty="0"/>
              <a:t>, </a:t>
            </a:r>
            <a:r>
              <a:rPr lang="pt-BR" dirty="0" err="1"/>
              <a:t>p.nome</a:t>
            </a:r>
            <a:r>
              <a:rPr lang="pt-BR" dirty="0"/>
              <a:t>, </a:t>
            </a:r>
            <a:r>
              <a:rPr lang="pt-BR" dirty="0" err="1"/>
              <a:t>p.preco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</a:t>
            </a:r>
            <a:r>
              <a:rPr lang="pt-BR" dirty="0" err="1"/>
              <a:t>FROM</a:t>
            </a:r>
            <a:r>
              <a:rPr lang="pt-BR" dirty="0"/>
              <a:t> produtos 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</a:t>
            </a:r>
            <a:r>
              <a:rPr lang="pt-BR" dirty="0" err="1"/>
              <a:t>JOIN</a:t>
            </a:r>
            <a:r>
              <a:rPr lang="pt-BR" dirty="0"/>
              <a:t> </a:t>
            </a:r>
            <a:r>
              <a:rPr lang="pt-BR" dirty="0" err="1"/>
              <a:t>produtos_categorias</a:t>
            </a:r>
            <a:r>
              <a:rPr lang="pt-BR" dirty="0"/>
              <a:t> </a:t>
            </a:r>
            <a:r>
              <a:rPr lang="pt-BR" dirty="0" err="1"/>
              <a:t>pc</a:t>
            </a:r>
            <a:r>
              <a:rPr lang="pt-BR" dirty="0"/>
              <a:t> ON </a:t>
            </a:r>
            <a:r>
              <a:rPr lang="pt-BR" dirty="0" err="1"/>
              <a:t>p.produto_id</a:t>
            </a:r>
            <a:r>
              <a:rPr lang="pt-BR" dirty="0"/>
              <a:t> = </a:t>
            </a:r>
            <a:r>
              <a:rPr lang="pt-BR" dirty="0" err="1"/>
              <a:t>pc.produto_id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WHERE </a:t>
            </a:r>
            <a:r>
              <a:rPr lang="pt-BR" dirty="0" err="1"/>
              <a:t>pc.categoria_id</a:t>
            </a:r>
            <a:r>
              <a:rPr lang="pt-BR" dirty="0"/>
              <a:t> = </a:t>
            </a:r>
            <a:r>
              <a:rPr lang="pt-BR" dirty="0" err="1"/>
              <a:t>categoria_id_input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END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$$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plpgsql</a:t>
            </a:r>
            <a:r>
              <a:rPr lang="pt-BR" dirty="0"/>
              <a:t>;</a:t>
            </a: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d53e2f5eae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2d53e2f5eae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SELECT</a:t>
            </a:r>
            <a:r>
              <a:rPr lang="pt-BR" dirty="0"/>
              <a:t> *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listar_produtos_por_categoria</a:t>
            </a:r>
            <a:r>
              <a:rPr lang="pt-BR" dirty="0"/>
              <a:t>(14);</a:t>
            </a: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d53e2f5eae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2d53e2f5eae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CREATE</a:t>
            </a:r>
            <a:r>
              <a:rPr lang="pt-BR" dirty="0"/>
              <a:t> OR </a:t>
            </a:r>
            <a:r>
              <a:rPr lang="pt-BR" dirty="0" err="1"/>
              <a:t>REPLACE</a:t>
            </a:r>
            <a:r>
              <a:rPr lang="pt-BR" dirty="0"/>
              <a:t>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verificar_idade</a:t>
            </a:r>
            <a:r>
              <a:rPr lang="pt-BR" dirty="0"/>
              <a:t>(idade </a:t>
            </a:r>
            <a:r>
              <a:rPr lang="pt-BR" dirty="0" err="1"/>
              <a:t>INTEGER</a:t>
            </a:r>
            <a:r>
              <a:rPr lang="pt-BR" dirty="0"/>
              <a:t>) </a:t>
            </a:r>
            <a:r>
              <a:rPr lang="pt-BR" dirty="0" err="1"/>
              <a:t>RETURNS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 AS $$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BEGIN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IF idade &lt; 18 </a:t>
            </a:r>
            <a:r>
              <a:rPr lang="pt-BR" dirty="0" err="1"/>
              <a:t>THEN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    </a:t>
            </a:r>
            <a:r>
              <a:rPr lang="pt-BR" dirty="0" err="1"/>
              <a:t>RETURN</a:t>
            </a:r>
            <a:r>
              <a:rPr lang="pt-BR" dirty="0"/>
              <a:t> 'Menor de idade';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ELSIF</a:t>
            </a:r>
            <a:r>
              <a:rPr lang="pt-BR" dirty="0"/>
              <a:t> idade &gt;= 18 </a:t>
            </a:r>
            <a:r>
              <a:rPr lang="pt-BR" dirty="0" err="1"/>
              <a:t>AND</a:t>
            </a:r>
            <a:r>
              <a:rPr lang="pt-BR" dirty="0"/>
              <a:t> idade &lt; 65 </a:t>
            </a:r>
            <a:r>
              <a:rPr lang="pt-BR" dirty="0" err="1"/>
              <a:t>THEN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    </a:t>
            </a:r>
            <a:r>
              <a:rPr lang="pt-BR" dirty="0" err="1"/>
              <a:t>RETURN</a:t>
            </a:r>
            <a:r>
              <a:rPr lang="pt-BR" dirty="0"/>
              <a:t> 'Adulto';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ELSE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    </a:t>
            </a:r>
            <a:r>
              <a:rPr lang="pt-BR" dirty="0" err="1"/>
              <a:t>RETURN</a:t>
            </a:r>
            <a:r>
              <a:rPr lang="pt-BR" dirty="0"/>
              <a:t> 'Idoso';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    </a:t>
            </a:r>
            <a:r>
              <a:rPr lang="pt-BR" dirty="0" err="1"/>
              <a:t>END</a:t>
            </a:r>
            <a:r>
              <a:rPr lang="pt-BR" dirty="0"/>
              <a:t> IF;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 err="1"/>
              <a:t>END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$$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plpgsql</a:t>
            </a:r>
            <a:r>
              <a:rPr lang="pt-BR" dirty="0"/>
              <a:t>;</a:t>
            </a: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d53e2f5eae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2d53e2f5eae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37334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d53e2f5eae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2d53e2f5eae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d53e2f5eae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2d53e2f5eae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38778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53e2f5ea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2d53e2f5ea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1622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53e2f5ea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2d53e2f5ea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13365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53e2f5ea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2d53e2f5ea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2668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53e2f5ea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2d53e2f5ea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Embora funções </a:t>
            </a:r>
            <a:r>
              <a:rPr lang="pt-BR" b="1" dirty="0"/>
              <a:t>possam executar UPDATE, </a:t>
            </a:r>
            <a:r>
              <a:rPr lang="pt-BR" b="1" dirty="0" err="1"/>
              <a:t>INSERT</a:t>
            </a:r>
            <a:r>
              <a:rPr lang="pt-BR" b="1" dirty="0"/>
              <a:t> ou DELETE, </a:t>
            </a:r>
            <a:r>
              <a:rPr lang="pt-BR" b="0" dirty="0"/>
              <a:t>o uso fica muito estranho, pois terá que fazer um </a:t>
            </a:r>
            <a:r>
              <a:rPr lang="pt-BR" b="0" dirty="0" err="1"/>
              <a:t>SELECT</a:t>
            </a:r>
            <a:r>
              <a:rPr lang="pt-BR" b="0" dirty="0"/>
              <a:t> para chamar ela</a:t>
            </a:r>
            <a:br>
              <a:rPr lang="pt-BR" b="0" dirty="0"/>
            </a:br>
            <a:br>
              <a:rPr lang="pt-BR" b="0" dirty="0"/>
            </a:br>
            <a:r>
              <a:rPr lang="pt-BR" b="0" dirty="0" err="1"/>
              <a:t>SELECT</a:t>
            </a:r>
            <a:r>
              <a:rPr lang="pt-BR" b="0" dirty="0"/>
              <a:t> </a:t>
            </a:r>
            <a:r>
              <a:rPr lang="pt-BR" b="0" dirty="0" err="1"/>
              <a:t>atualizar_preco_produto</a:t>
            </a:r>
            <a:r>
              <a:rPr lang="pt-BR" b="0" dirty="0"/>
              <a:t>(5, 99.90);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pt-BR"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REATE OR </a:t>
            </a:r>
            <a:r>
              <a:rPr lang="pt-BR" dirty="0" err="1"/>
              <a:t>REPLACE</a:t>
            </a:r>
            <a:r>
              <a:rPr lang="pt-BR" dirty="0"/>
              <a:t>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atualizar_preco_produto</a:t>
            </a:r>
            <a:r>
              <a:rPr lang="pt-BR" dirty="0"/>
              <a:t>(</a:t>
            </a:r>
            <a:r>
              <a:rPr lang="pt-BR" dirty="0" err="1"/>
              <a:t>p_id</a:t>
            </a:r>
            <a:r>
              <a:rPr lang="pt-BR" dirty="0"/>
              <a:t> INT, </a:t>
            </a:r>
            <a:r>
              <a:rPr lang="pt-BR" dirty="0" err="1"/>
              <a:t>p_novo_preco</a:t>
            </a:r>
            <a:r>
              <a:rPr lang="pt-BR" dirty="0"/>
              <a:t> </a:t>
            </a:r>
            <a:r>
              <a:rPr lang="pt-BR" dirty="0" err="1"/>
              <a:t>NUMERIC</a:t>
            </a:r>
            <a:r>
              <a:rPr lang="pt-BR" dirty="0"/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RETURNS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AS $$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BEGIN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UPDATE produtos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SET </a:t>
            </a:r>
            <a:r>
              <a:rPr lang="pt-BR" dirty="0" err="1"/>
              <a:t>preco</a:t>
            </a:r>
            <a:r>
              <a:rPr lang="pt-BR" dirty="0"/>
              <a:t> = </a:t>
            </a:r>
            <a:r>
              <a:rPr lang="pt-BR" dirty="0" err="1"/>
              <a:t>p_novo_preco</a:t>
            </a: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WHERE id = </a:t>
            </a:r>
            <a:r>
              <a:rPr lang="pt-BR" dirty="0" err="1"/>
              <a:t>p_id</a:t>
            </a:r>
            <a:r>
              <a:rPr lang="pt-BR" dirty="0"/>
              <a:t>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END</a:t>
            </a:r>
            <a:r>
              <a:rPr lang="pt-BR" dirty="0"/>
              <a:t>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$$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plpgsql</a:t>
            </a:r>
            <a:r>
              <a:rPr lang="pt-BR" dirty="0"/>
              <a:t>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20746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d53e2f5eae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g2d53e2f5eae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CREATE [OR REPLACE] PROCEDURE nome_do_procedimento(parâmetros)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LANGUAGE plpgsql AS $$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BEGIN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    -- Corpo do procedimento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END;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$$;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d53e2f5eae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g2d53e2f5eae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d53e2f5eae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2d53e2f5eae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CREATE</a:t>
            </a:r>
            <a:r>
              <a:rPr lang="pt-BR" dirty="0"/>
              <a:t> OR </a:t>
            </a:r>
            <a:r>
              <a:rPr lang="pt-BR" dirty="0" err="1"/>
              <a:t>REPLACE</a:t>
            </a:r>
            <a:r>
              <a:rPr lang="pt-BR" dirty="0"/>
              <a:t> PROCEDURE </a:t>
            </a:r>
            <a:r>
              <a:rPr lang="pt-BR" dirty="0" err="1"/>
              <a:t>atualizar_estoque_produto</a:t>
            </a:r>
            <a:r>
              <a:rPr lang="pt-BR" dirty="0"/>
              <a:t>(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</a:t>
            </a:r>
            <a:r>
              <a:rPr lang="pt-BR" dirty="0" err="1"/>
              <a:t>produto_id_input</a:t>
            </a:r>
            <a:r>
              <a:rPr lang="pt-BR" dirty="0"/>
              <a:t> </a:t>
            </a:r>
            <a:r>
              <a:rPr lang="pt-BR" dirty="0" err="1"/>
              <a:t>INTEGER</a:t>
            </a:r>
            <a:r>
              <a:rPr lang="pt-BR" dirty="0"/>
              <a:t>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</a:t>
            </a:r>
            <a:r>
              <a:rPr lang="pt-BR" dirty="0" err="1"/>
              <a:t>quantidade_vendida</a:t>
            </a:r>
            <a:r>
              <a:rPr lang="pt-BR" dirty="0"/>
              <a:t> </a:t>
            </a:r>
            <a:r>
              <a:rPr lang="pt-BR" dirty="0" err="1"/>
              <a:t>INTEGER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plpgsql</a:t>
            </a:r>
            <a:r>
              <a:rPr lang="pt-BR" dirty="0"/>
              <a:t> AS $$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BEGIN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UPDATE produtos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SET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    estoque = estoque - </a:t>
            </a:r>
            <a:r>
              <a:rPr lang="pt-BR" dirty="0" err="1"/>
              <a:t>quantidade_vendida</a:t>
            </a:r>
            <a:r>
              <a:rPr lang="pt-BR" dirty="0"/>
              <a:t>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    </a:t>
            </a:r>
            <a:r>
              <a:rPr lang="pt-BR" dirty="0" err="1"/>
              <a:t>disponivel</a:t>
            </a:r>
            <a:r>
              <a:rPr lang="pt-BR" dirty="0"/>
              <a:t> = </a:t>
            </a:r>
            <a:r>
              <a:rPr lang="pt-BR" dirty="0" err="1"/>
              <a:t>disponivel</a:t>
            </a:r>
            <a:r>
              <a:rPr lang="pt-BR" dirty="0"/>
              <a:t> - </a:t>
            </a:r>
            <a:r>
              <a:rPr lang="pt-BR" dirty="0" err="1"/>
              <a:t>quantidade_vendida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WHERE </a:t>
            </a:r>
            <a:r>
              <a:rPr lang="pt-BR" dirty="0" err="1"/>
              <a:t>produto_id</a:t>
            </a:r>
            <a:r>
              <a:rPr lang="pt-BR" dirty="0"/>
              <a:t> = </a:t>
            </a:r>
            <a:r>
              <a:rPr lang="pt-BR" dirty="0" err="1"/>
              <a:t>produto_id_input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-- Verificar se o estoque ficou negativo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IF (</a:t>
            </a:r>
            <a:r>
              <a:rPr lang="pt-BR" dirty="0" err="1"/>
              <a:t>SELECT</a:t>
            </a:r>
            <a:r>
              <a:rPr lang="pt-BR" dirty="0"/>
              <a:t> estoque </a:t>
            </a:r>
            <a:r>
              <a:rPr lang="pt-BR" dirty="0" err="1"/>
              <a:t>FROM</a:t>
            </a:r>
            <a:r>
              <a:rPr lang="pt-BR" dirty="0"/>
              <a:t> produtos WHERE </a:t>
            </a:r>
            <a:r>
              <a:rPr lang="pt-BR" dirty="0" err="1"/>
              <a:t>produto_id</a:t>
            </a:r>
            <a:r>
              <a:rPr lang="pt-BR" dirty="0"/>
              <a:t> = </a:t>
            </a:r>
            <a:r>
              <a:rPr lang="pt-BR" dirty="0" err="1"/>
              <a:t>produto_id_input</a:t>
            </a:r>
            <a:r>
              <a:rPr lang="pt-BR" dirty="0"/>
              <a:t>) &lt; 0 </a:t>
            </a:r>
            <a:r>
              <a:rPr lang="pt-BR" dirty="0" err="1"/>
              <a:t>THEN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    </a:t>
            </a:r>
            <a:r>
              <a:rPr lang="pt-BR" dirty="0" err="1"/>
              <a:t>RAISE</a:t>
            </a:r>
            <a:r>
              <a:rPr lang="pt-BR" dirty="0"/>
              <a:t> </a:t>
            </a:r>
            <a:r>
              <a:rPr lang="pt-BR" dirty="0" err="1"/>
              <a:t>NOTICE</a:t>
            </a:r>
            <a:r>
              <a:rPr lang="pt-BR" dirty="0"/>
              <a:t> 'Estoque insuficiente para o produto ID %.', </a:t>
            </a:r>
            <a:r>
              <a:rPr lang="pt-BR" dirty="0" err="1"/>
              <a:t>produto_id_input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ELSE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    </a:t>
            </a:r>
            <a:r>
              <a:rPr lang="pt-BR" dirty="0" err="1"/>
              <a:t>RAISE</a:t>
            </a:r>
            <a:r>
              <a:rPr lang="pt-BR" dirty="0"/>
              <a:t> </a:t>
            </a:r>
            <a:r>
              <a:rPr lang="pt-BR" dirty="0" err="1"/>
              <a:t>NOTICE</a:t>
            </a:r>
            <a:r>
              <a:rPr lang="pt-BR" dirty="0"/>
              <a:t> 'Estoque atualizado com sucesso para o produto ID %.', </a:t>
            </a:r>
            <a:r>
              <a:rPr lang="pt-BR" dirty="0" err="1"/>
              <a:t>produto_id_input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    </a:t>
            </a:r>
            <a:r>
              <a:rPr lang="pt-BR" dirty="0" err="1"/>
              <a:t>END</a:t>
            </a:r>
            <a:r>
              <a:rPr lang="pt-BR" dirty="0"/>
              <a:t> IF;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END</a:t>
            </a:r>
            <a:r>
              <a:rPr lang="pt-BR" dirty="0"/>
              <a:t>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$$;</a:t>
            </a:r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d53e2f5eae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g2d53e2f5eae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CALL atualizar_estoque_produto(1, 5);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CREATE OR REPLACE PROCEDURE atualizar_estoque_produto(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produto_id_input INTEGER,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quantidade_vendida INTEGER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LANGUAGE plpgsql AS $$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DECLARE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estoque_atual INTEGER;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BEGIN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-- Validação de parâmetros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IF quantidade_vendida &lt;= 0 THEN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    RAISE EXCEPTION 'Quantidade vendida deve ser maior que zero';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END IF;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-- Verificação prévia de estoque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SELECT estoque INTO estoque_atual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FROM produtos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WHERE produto_id = produto_id_input;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IF estoque_atual IS NULL THEN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    RAISE EXCEPTION 'Produto ID % não encontrado', produto_id_input;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END IF;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IF estoque_atual &lt; quantidade_vendida THEN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    RAISE EXCEPTION 'Estoque insuficiente para o produto ID %. Disponível: %', produto_id_input, estoque_atual;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END IF;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-- Atualização do estoque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UPDATE produtos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    estoque = estoque - quantidade_vendida,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    disponivel = disponivel - quantidade_vendida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WHERE produto_id = produto_id_input;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RAISE NOTICE 'Estoque atualizado com sucesso para o produto ID %. Novo estoque: %',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                 produto_id_input, estoque_atual - quantidade_vendida;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END;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$$;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4" name="Google Shape;194;p26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CONTROLE DE TRANSAÇÃO</a:t>
            </a:r>
            <a:endParaRPr sz="3200" dirty="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96267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32750" y="866869"/>
            <a:ext cx="8293200" cy="3288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Uma transação é uma série de operações sequenciais realizadas no Banco de Dados.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As operações da transação compõem uma unidade de trabalho, ou seja, é como se fossem uma coisa só. 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Existem 4 propriedades das transações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ACID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: atomicidade, consistência, isolamento e durabilidade</a:t>
            </a:r>
          </a:p>
        </p:txBody>
      </p:sp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626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PROPRIEDADES DAS TRANSAÇÕES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32750" y="866869"/>
            <a:ext cx="8293200" cy="31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atomicidade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trata as transações como um conjunto, de forma atômica. Em outras palavras, ou a transação será executada totalmente ou não será executada. “É o tudo ou nada”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consistência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prega que o Banco de Dados saia de um estado consistente para outro também consistente, após a realização de uma transação. 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8399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PROPRIEDADES DAS TRANSAÇÕES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32750" y="866869"/>
            <a:ext cx="8293200" cy="451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Imagine que precisamos realizar em uma única transação duas operações de manipulação de dados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DML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do inglês Data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Manipulation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Language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), como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e UPDATE. 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5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Estas operações só podem se tornar permanentes no banco de dados se todas forem executadas com sucesso. 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5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Em caso de falhas em uma das duas é possível cancelar a transação, porém todas modificações realizadas durante a mesma serão descartadas, inclusive a que obtive sucesso. 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5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Assim, os dados permanecem íntegros e consistentes.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149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PROPRIEDADES DAS TRANSAÇÕES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32750" y="866869"/>
            <a:ext cx="8293200" cy="346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isolamento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trata as transações de forma independente, isoladas umas das outras. A ideia é que o funcionamento de uma transação não interfira na outra, visando minimizar conflitos por concorrências.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durabilidade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é a persistência das transações no Banco de Dados, após a sua efetivação. Em outras palavras, uma vez que as transações foram confirmadas, elas não podem ser desfeitas por erros futuros.</a:t>
            </a:r>
          </a:p>
        </p:txBody>
      </p:sp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9509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BEGIN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COMMIT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ROLLBAK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B9641C-8F67-4C63-8279-464240760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51" y="999249"/>
            <a:ext cx="5900847" cy="379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1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4" name="Google Shape;194;p26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FUNÇÕES E PROCEDIMENTOS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32750" y="866869"/>
            <a:ext cx="8293200" cy="3288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Funções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Procedimentos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são ambos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blocos de código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armazenados que podem ser executados no servidor do banco de dados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servem para automatizar cálculos, regras de negócio ou transformações de dados,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etc</a:t>
            </a: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mas possuem diferenças fundamentais.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FUNÇÕES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2" name="Google Shape;21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425400" y="1146200"/>
            <a:ext cx="8293200" cy="354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indent="-355600" algn="just"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Podem retornar um valor (ou conjunto de valores).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algn="just" rtl="0">
              <a:spcBef>
                <a:spcPts val="1000"/>
              </a:spcBef>
              <a:spcAft>
                <a:spcPts val="0"/>
              </a:spcAft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Podem ser usadas em consultas SQL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WHERE, etc.).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1257300" lvl="0" indent="-342900" algn="just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Executadas dentro de uma única transação.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1257300" lvl="0" indent="-342900" algn="just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Não podem executar comandos de controle de transação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COMMIT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ROLLBACK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).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FUNÇÕES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2" name="Google Shape;21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425400" y="1146200"/>
            <a:ext cx="8293200" cy="354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indent="-355600" algn="just"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Podem retornar um valor (ou conjunto de valores).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algn="just" rtl="0">
              <a:spcBef>
                <a:spcPts val="1000"/>
              </a:spcBef>
              <a:spcAft>
                <a:spcPts val="0"/>
              </a:spcAft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Podem ser usadas em consultas SQL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WHERE, etc.).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1257300" lvl="0" indent="-342900" algn="just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Executadas dentro de uma única transação.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1257300" lvl="0" indent="-342900" algn="just" rtl="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Não podem executar comandos de controle de transação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COMMIT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ROLLBACK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).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sp>
        <p:nvSpPr>
          <p:cNvPr id="8" name="Google Shape;227;p29">
            <a:extLst>
              <a:ext uri="{FF2B5EF4-FFF2-40B4-BE49-F238E27FC236}">
                <a16:creationId xmlns:a16="http://schemas.microsoft.com/office/drawing/2014/main" id="{D4D8AFAD-FDD6-4356-AF25-B1FDCFF95867}"/>
              </a:ext>
            </a:extLst>
          </p:cNvPr>
          <p:cNvSpPr/>
          <p:nvPr/>
        </p:nvSpPr>
        <p:spPr>
          <a:xfrm>
            <a:off x="1104150" y="20372"/>
            <a:ext cx="7607100" cy="1762500"/>
          </a:xfrm>
          <a:prstGeom prst="wedgeRectCallout">
            <a:avLst>
              <a:gd name="adj1" fmla="val 11923"/>
              <a:gd name="adj2" fmla="val 65796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Você pode chamar uma função diretamente dentro de um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SELECT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, como se fosse um campo para retorno, ou usá-la para filtrar dados no WHERE. Isso permite reaproveitar regras e cálculos com facilidade.</a:t>
            </a:r>
            <a:endParaRPr sz="1600"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90930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FUNÇÕES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425400" y="1146200"/>
            <a:ext cx="8293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Podem retornar um valor (ou conjunto de valores).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Podem ser usadas em consultas SQL (SELECT, WHERE, etc.).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Executadas dentro de uma única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transação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Não podem executar comandos de controle de transação (COMMIT, ROLLBACK).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2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sp>
        <p:nvSpPr>
          <p:cNvPr id="227" name="Google Shape;227;p29"/>
          <p:cNvSpPr/>
          <p:nvPr/>
        </p:nvSpPr>
        <p:spPr>
          <a:xfrm>
            <a:off x="929750" y="983350"/>
            <a:ext cx="7607100" cy="1762500"/>
          </a:xfrm>
          <a:prstGeom prst="wedgeRectCallout">
            <a:avLst>
              <a:gd name="adj1" fmla="val 11923"/>
              <a:gd name="adj2" fmla="val 65796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Uma </a:t>
            </a:r>
            <a:r>
              <a:rPr lang="pt-BR" sz="1600" u="sng" dirty="0">
                <a:latin typeface="Nunito Medium"/>
                <a:ea typeface="Nunito Medium"/>
                <a:cs typeface="Nunito Medium"/>
                <a:sym typeface="Nunito Medium"/>
              </a:rPr>
              <a:t>unidade lógica de trabalho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 que contém uma ou mais </a:t>
            </a: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operações 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(como </a:t>
            </a:r>
            <a:r>
              <a:rPr lang="pt-BR" sz="1600" i="1" dirty="0">
                <a:latin typeface="Nunito Medium"/>
                <a:ea typeface="Nunito Medium"/>
                <a:cs typeface="Nunito Medium"/>
                <a:sym typeface="Nunito Medium"/>
              </a:rPr>
              <a:t>inserções, atualizações ou exclusões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) que devem ser executadas de forma atômica - ou seja, ou todas as operações são realizadas com sucesso, ou nenhuma delas é efetivada.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 Se der erro no meio, ela não deixa alterações parciais no banco.</a:t>
            </a:r>
            <a:endParaRPr sz="1600"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FUNÇÕES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3" name="Google Shape;23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425400" y="1146200"/>
            <a:ext cx="8293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Podem retornar um valor (ou conjunto de valores).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Podem ser usadas em consultas SQL (SELECT, WHERE, etc.).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Executadas dentro de uma única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transação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Não podem executar comandos de controle de transação (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COMMIT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ROLLBACK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).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" name="Google Shape;237;p3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929750" y="253725"/>
            <a:ext cx="7592744" cy="3564250"/>
          </a:xfrm>
          <a:prstGeom prst="wedgeRectCallout">
            <a:avLst>
              <a:gd name="adj1" fmla="val -25339"/>
              <a:gd name="adj2" fmla="val 59311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Dentro de uma função não é permitido fazer 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COMMIT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ou 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ROLLBACK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, porque isso quebraria justamente a regra anterior. Quem controla a transação é quem chamou a função, e não a função em si.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COMMIT</a:t>
            </a: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:</a:t>
            </a: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 Medium"/>
              <a:buChar char="●"/>
            </a:pP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O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COMMIT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 é o comando para confirmar/efetivar todas as alterações feitas na transação no banco de dados.</a:t>
            </a:r>
            <a:endParaRPr sz="1600" dirty="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ROLLBACK</a:t>
            </a: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:</a:t>
            </a: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 Medium"/>
              <a:buChar char="●"/>
            </a:pP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O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ROLLBACK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 é o comando para desfazer/reverter todas as alterações feitas na transação no banco de dados.</a:t>
            </a:r>
            <a:endParaRPr sz="1600" dirty="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CRIANDO FUNÇÕES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54" name="Google Shape;2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425400" y="917600"/>
            <a:ext cx="83148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SINTAXE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just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Podem ser escritas em várias linguagens, sendo a mais comum a PL/pgSQL (Procedural Language/PostgreSQL).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8" name="Google Shape;258;p3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  <p:pic>
        <p:nvPicPr>
          <p:cNvPr id="259" name="Google Shape;25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350" y="1920050"/>
            <a:ext cx="7144351" cy="29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300" y="2081500"/>
            <a:ext cx="7144351" cy="29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/>
          <p:nvPr/>
        </p:nvSpPr>
        <p:spPr>
          <a:xfrm>
            <a:off x="1234000" y="2733200"/>
            <a:ext cx="3563400" cy="449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3"/>
          <p:cNvSpPr txBox="1"/>
          <p:nvPr/>
        </p:nvSpPr>
        <p:spPr>
          <a:xfrm>
            <a:off x="501336" y="445425"/>
            <a:ext cx="5028727" cy="228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Cria uma nova função, se não existir, ou substitui uma existente pelo novo código</a:t>
            </a: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67" name="Google Shape;267;p33"/>
          <p:cNvCxnSpPr>
            <a:cxnSpLocks/>
            <a:endCxn id="265" idx="0"/>
          </p:cNvCxnSpPr>
          <p:nvPr/>
        </p:nvCxnSpPr>
        <p:spPr>
          <a:xfrm>
            <a:off x="1914861" y="1785769"/>
            <a:ext cx="1100839" cy="947431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300" y="2081500"/>
            <a:ext cx="7144351" cy="29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/>
          <p:nvPr/>
        </p:nvSpPr>
        <p:spPr>
          <a:xfrm>
            <a:off x="6486950" y="2733200"/>
            <a:ext cx="1458900" cy="449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4"/>
          <p:cNvSpPr txBox="1"/>
          <p:nvPr/>
        </p:nvSpPr>
        <p:spPr>
          <a:xfrm>
            <a:off x="425400" y="827221"/>
            <a:ext cx="8293200" cy="92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Lista de parâmetros de entrada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75" name="Google Shape;275;p34"/>
          <p:cNvCxnSpPr>
            <a:cxnSpLocks/>
            <a:endCxn id="273" idx="0"/>
          </p:cNvCxnSpPr>
          <p:nvPr/>
        </p:nvCxnSpPr>
        <p:spPr>
          <a:xfrm>
            <a:off x="4055633" y="1429800"/>
            <a:ext cx="3160767" cy="13034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300" y="2081500"/>
            <a:ext cx="7144351" cy="29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5"/>
          <p:cNvSpPr/>
          <p:nvPr/>
        </p:nvSpPr>
        <p:spPr>
          <a:xfrm>
            <a:off x="1158925" y="3056100"/>
            <a:ext cx="2969700" cy="449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5"/>
          <p:cNvSpPr txBox="1"/>
          <p:nvPr/>
        </p:nvSpPr>
        <p:spPr>
          <a:xfrm>
            <a:off x="425400" y="841400"/>
            <a:ext cx="829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Define o tipo de retorno da função.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83" name="Google Shape;283;p35"/>
          <p:cNvCxnSpPr>
            <a:cxnSpLocks/>
            <a:endCxn id="281" idx="0"/>
          </p:cNvCxnSpPr>
          <p:nvPr/>
        </p:nvCxnSpPr>
        <p:spPr>
          <a:xfrm>
            <a:off x="2643775" y="1516828"/>
            <a:ext cx="0" cy="1539272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300" y="2081500"/>
            <a:ext cx="7144351" cy="29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6"/>
          <p:cNvSpPr/>
          <p:nvPr/>
        </p:nvSpPr>
        <p:spPr>
          <a:xfrm>
            <a:off x="4082500" y="3056100"/>
            <a:ext cx="911100" cy="449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6"/>
          <p:cNvSpPr txBox="1"/>
          <p:nvPr/>
        </p:nvSpPr>
        <p:spPr>
          <a:xfrm>
            <a:off x="425400" y="841400"/>
            <a:ext cx="829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Delimitador do corpo da função.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91" name="Google Shape;291;p36"/>
          <p:cNvCxnSpPr>
            <a:cxnSpLocks/>
            <a:endCxn id="289" idx="0"/>
          </p:cNvCxnSpPr>
          <p:nvPr/>
        </p:nvCxnSpPr>
        <p:spPr>
          <a:xfrm>
            <a:off x="2366682" y="1506071"/>
            <a:ext cx="2171368" cy="1550029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2" name="Google Shape;292;p36"/>
          <p:cNvSpPr/>
          <p:nvPr/>
        </p:nvSpPr>
        <p:spPr>
          <a:xfrm>
            <a:off x="1210925" y="4327150"/>
            <a:ext cx="472800" cy="449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3" name="Google Shape;293;p36"/>
          <p:cNvCxnSpPr>
            <a:cxnSpLocks/>
            <a:endCxn id="292" idx="0"/>
          </p:cNvCxnSpPr>
          <p:nvPr/>
        </p:nvCxnSpPr>
        <p:spPr>
          <a:xfrm flipH="1">
            <a:off x="1447325" y="1506071"/>
            <a:ext cx="801023" cy="2821079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300" y="2081500"/>
            <a:ext cx="7144351" cy="29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/>
        </p:nvSpPr>
        <p:spPr>
          <a:xfrm>
            <a:off x="425400" y="549550"/>
            <a:ext cx="829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Especifica a linguagem utilizada.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1637625" y="4327150"/>
            <a:ext cx="2214300" cy="449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1" name="Google Shape;301;p37"/>
          <p:cNvCxnSpPr>
            <a:endCxn id="300" idx="0"/>
          </p:cNvCxnSpPr>
          <p:nvPr/>
        </p:nvCxnSpPr>
        <p:spPr>
          <a:xfrm>
            <a:off x="2456475" y="1245550"/>
            <a:ext cx="288300" cy="308160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EXEMPLO (1) - FUNÇÕES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07" name="Google Shape;30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9" name="Google Shape;309;p3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414600" y="2294925"/>
            <a:ext cx="8314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Criar uma função que </a:t>
            </a:r>
            <a:r>
              <a:rPr lang="pt-BR" sz="2000" u="sng">
                <a:latin typeface="Nunito"/>
                <a:ea typeface="Nunito"/>
                <a:cs typeface="Nunito"/>
                <a:sym typeface="Nunito"/>
              </a:rPr>
              <a:t>recebe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o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ID de um cliente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2000" u="sng">
                <a:latin typeface="Nunito"/>
                <a:ea typeface="Nunito"/>
                <a:cs typeface="Nunito"/>
                <a:sym typeface="Nunito"/>
              </a:rPr>
              <a:t>retorna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o </a:t>
            </a:r>
            <a:r>
              <a:rPr lang="pt-BR" sz="2000" b="1" i="1">
                <a:latin typeface="Nunito"/>
                <a:ea typeface="Nunito"/>
                <a:cs typeface="Nunito"/>
                <a:sym typeface="Nunito"/>
              </a:rPr>
              <a:t>total gasto por esse cliente em todos os seus pedidos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1" name="Google Shape;311;p3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8" name="Google Shape;318;p3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325" y="52650"/>
            <a:ext cx="7042698" cy="47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8" name="Google Shape;318;p3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325" y="52650"/>
            <a:ext cx="7042698" cy="47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00;p37">
            <a:extLst>
              <a:ext uri="{FF2B5EF4-FFF2-40B4-BE49-F238E27FC236}">
                <a16:creationId xmlns:a16="http://schemas.microsoft.com/office/drawing/2014/main" id="{879B72EC-3469-404D-BBBE-573A884A2470}"/>
              </a:ext>
            </a:extLst>
          </p:cNvPr>
          <p:cNvSpPr/>
          <p:nvPr/>
        </p:nvSpPr>
        <p:spPr>
          <a:xfrm>
            <a:off x="1183340" y="1046074"/>
            <a:ext cx="3151991" cy="449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" name="Google Shape;301;p37">
            <a:extLst>
              <a:ext uri="{FF2B5EF4-FFF2-40B4-BE49-F238E27FC236}">
                <a16:creationId xmlns:a16="http://schemas.microsoft.com/office/drawing/2014/main" id="{88994A88-D7B8-4F82-B55D-B31BCDCBCA85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335331" y="1270924"/>
            <a:ext cx="1710467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6EB8F7D-6526-4859-9F3A-1E905EE46A47}"/>
              </a:ext>
            </a:extLst>
          </p:cNvPr>
          <p:cNvSpPr txBox="1"/>
          <p:nvPr/>
        </p:nvSpPr>
        <p:spPr>
          <a:xfrm>
            <a:off x="6045798" y="1046074"/>
            <a:ext cx="3045165" cy="30777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800" b="1" dirty="0">
                <a:solidFill>
                  <a:schemeClr val="accent1"/>
                </a:solidFill>
              </a:rPr>
              <a:t>Declaramos uma variável local</a:t>
            </a:r>
          </a:p>
          <a:p>
            <a:pPr algn="just"/>
            <a:endParaRPr lang="pt-BR" sz="1800" b="1" dirty="0">
              <a:solidFill>
                <a:schemeClr val="accent1"/>
              </a:solidFill>
            </a:endParaRPr>
          </a:p>
          <a:p>
            <a:pPr algn="just"/>
            <a:endParaRPr lang="pt-BR" sz="1800" b="1" dirty="0">
              <a:solidFill>
                <a:schemeClr val="accent1"/>
              </a:solidFill>
            </a:endParaRPr>
          </a:p>
          <a:p>
            <a:pPr algn="just"/>
            <a:r>
              <a:rPr lang="pt-BR" sz="1800" b="1" dirty="0">
                <a:solidFill>
                  <a:schemeClr val="accent1"/>
                </a:solidFill>
              </a:rPr>
              <a:t>Armazena o resultado da soma os valores da coluna total para aquele cliente específico dentro da variável </a:t>
            </a:r>
            <a:r>
              <a:rPr lang="pt-BR" sz="1800" b="1" dirty="0" err="1">
                <a:solidFill>
                  <a:schemeClr val="accent1"/>
                </a:solidFill>
              </a:rPr>
              <a:t>total_cliente</a:t>
            </a:r>
            <a:endParaRPr lang="pt-BR" sz="1800" b="1" dirty="0">
              <a:solidFill>
                <a:schemeClr val="accent1"/>
              </a:solidFill>
            </a:endParaRPr>
          </a:p>
          <a:p>
            <a:pPr algn="just"/>
            <a:endParaRPr lang="pt-BR" sz="1800" b="1" dirty="0">
              <a:solidFill>
                <a:schemeClr val="accent1"/>
              </a:solidFill>
            </a:endParaRPr>
          </a:p>
          <a:p>
            <a:pPr algn="just"/>
            <a:endParaRPr lang="pt-BR" dirty="0"/>
          </a:p>
        </p:txBody>
      </p:sp>
      <p:sp>
        <p:nvSpPr>
          <p:cNvPr id="22" name="Google Shape;300;p37">
            <a:extLst>
              <a:ext uri="{FF2B5EF4-FFF2-40B4-BE49-F238E27FC236}">
                <a16:creationId xmlns:a16="http://schemas.microsoft.com/office/drawing/2014/main" id="{00311143-82B0-4BE3-A20A-0AB952919F9A}"/>
              </a:ext>
            </a:extLst>
          </p:cNvPr>
          <p:cNvSpPr/>
          <p:nvPr/>
        </p:nvSpPr>
        <p:spPr>
          <a:xfrm>
            <a:off x="1522207" y="1720624"/>
            <a:ext cx="3383280" cy="291056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" name="Google Shape;301;p37">
            <a:extLst>
              <a:ext uri="{FF2B5EF4-FFF2-40B4-BE49-F238E27FC236}">
                <a16:creationId xmlns:a16="http://schemas.microsoft.com/office/drawing/2014/main" id="{74939CAD-1FF9-48BD-9B1F-98954BCCBD18}"/>
              </a:ext>
            </a:extLst>
          </p:cNvPr>
          <p:cNvCxnSpPr>
            <a:cxnSpLocks/>
          </p:cNvCxnSpPr>
          <p:nvPr/>
        </p:nvCxnSpPr>
        <p:spPr>
          <a:xfrm flipH="1" flipV="1">
            <a:off x="4905487" y="1924994"/>
            <a:ext cx="1140311" cy="311536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88076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8" name="Google Shape;318;p3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325" y="52650"/>
            <a:ext cx="7042698" cy="47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6EB8F7D-6526-4859-9F3A-1E905EE46A47}"/>
              </a:ext>
            </a:extLst>
          </p:cNvPr>
          <p:cNvSpPr txBox="1"/>
          <p:nvPr/>
        </p:nvSpPr>
        <p:spPr>
          <a:xfrm>
            <a:off x="6098470" y="2891333"/>
            <a:ext cx="3045165" cy="175432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1800" b="1" dirty="0">
                <a:solidFill>
                  <a:schemeClr val="accent1"/>
                </a:solidFill>
              </a:rPr>
              <a:t>IF </a:t>
            </a:r>
            <a:r>
              <a:rPr lang="en-US" sz="1800" b="1" dirty="0" err="1">
                <a:solidFill>
                  <a:schemeClr val="accent1"/>
                </a:solidFill>
              </a:rPr>
              <a:t>condição</a:t>
            </a:r>
            <a:r>
              <a:rPr lang="en-US" sz="1800" b="1" dirty="0">
                <a:solidFill>
                  <a:schemeClr val="accent1"/>
                </a:solidFill>
              </a:rPr>
              <a:t> THEN</a:t>
            </a:r>
          </a:p>
          <a:p>
            <a:pPr algn="just"/>
            <a:r>
              <a:rPr lang="en-US" sz="1800" b="1" dirty="0">
                <a:solidFill>
                  <a:schemeClr val="accent1"/>
                </a:solidFill>
              </a:rPr>
              <a:t>    -- </a:t>
            </a:r>
            <a:r>
              <a:rPr lang="en-US" sz="1800" b="1" dirty="0" err="1">
                <a:solidFill>
                  <a:schemeClr val="accent1"/>
                </a:solidFill>
              </a:rPr>
              <a:t>comandos</a:t>
            </a:r>
            <a:endParaRPr lang="en-US" sz="1800" b="1" dirty="0">
              <a:solidFill>
                <a:schemeClr val="accent1"/>
              </a:solidFill>
            </a:endParaRPr>
          </a:p>
          <a:p>
            <a:pPr algn="just"/>
            <a:r>
              <a:rPr lang="en-US" sz="1800" b="1" dirty="0">
                <a:solidFill>
                  <a:schemeClr val="accent1"/>
                </a:solidFill>
              </a:rPr>
              <a:t>END IF;</a:t>
            </a:r>
          </a:p>
          <a:p>
            <a:pPr algn="just"/>
            <a:endParaRPr lang="en-US" sz="1800" b="1" dirty="0">
              <a:solidFill>
                <a:schemeClr val="accent1"/>
              </a:solidFill>
            </a:endParaRPr>
          </a:p>
          <a:p>
            <a:pPr algn="just"/>
            <a:r>
              <a:rPr lang="pt-BR" sz="1800" b="1" dirty="0">
                <a:solidFill>
                  <a:schemeClr val="accent1"/>
                </a:solidFill>
              </a:rPr>
              <a:t>:= é o operador de atribuição</a:t>
            </a:r>
            <a:endParaRPr lang="pt-BR" dirty="0"/>
          </a:p>
        </p:txBody>
      </p:sp>
      <p:sp>
        <p:nvSpPr>
          <p:cNvPr id="22" name="Google Shape;300;p37">
            <a:extLst>
              <a:ext uri="{FF2B5EF4-FFF2-40B4-BE49-F238E27FC236}">
                <a16:creationId xmlns:a16="http://schemas.microsoft.com/office/drawing/2014/main" id="{00311143-82B0-4BE3-A20A-0AB952919F9A}"/>
              </a:ext>
            </a:extLst>
          </p:cNvPr>
          <p:cNvSpPr/>
          <p:nvPr/>
        </p:nvSpPr>
        <p:spPr>
          <a:xfrm>
            <a:off x="1511449" y="2877008"/>
            <a:ext cx="3383280" cy="855889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" name="Google Shape;301;p37">
            <a:extLst>
              <a:ext uri="{FF2B5EF4-FFF2-40B4-BE49-F238E27FC236}">
                <a16:creationId xmlns:a16="http://schemas.microsoft.com/office/drawing/2014/main" id="{74939CAD-1FF9-48BD-9B1F-98954BCCBD18}"/>
              </a:ext>
            </a:extLst>
          </p:cNvPr>
          <p:cNvCxnSpPr>
            <a:cxnSpLocks/>
          </p:cNvCxnSpPr>
          <p:nvPr/>
        </p:nvCxnSpPr>
        <p:spPr>
          <a:xfrm flipH="1" flipV="1">
            <a:off x="4905487" y="3149184"/>
            <a:ext cx="1140311" cy="311536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" name="Google Shape;301;p37">
            <a:extLst>
              <a:ext uri="{FF2B5EF4-FFF2-40B4-BE49-F238E27FC236}">
                <a16:creationId xmlns:a16="http://schemas.microsoft.com/office/drawing/2014/main" id="{099D5DDB-6020-4763-971B-A9D5F7644EE6}"/>
              </a:ext>
            </a:extLst>
          </p:cNvPr>
          <p:cNvCxnSpPr>
            <a:cxnSpLocks/>
          </p:cNvCxnSpPr>
          <p:nvPr/>
        </p:nvCxnSpPr>
        <p:spPr>
          <a:xfrm flipH="1" flipV="1">
            <a:off x="3356386" y="3354827"/>
            <a:ext cx="2705500" cy="904376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48140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5" name="Google Shape;325;p4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6" name="Google Shape;326;p4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  <p:pic>
        <p:nvPicPr>
          <p:cNvPr id="327" name="Google Shape;32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526" y="1057949"/>
            <a:ext cx="7561574" cy="15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/>
          <p:nvPr/>
        </p:nvSpPr>
        <p:spPr>
          <a:xfrm>
            <a:off x="414600" y="389925"/>
            <a:ext cx="831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Utilizando a função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9" name="Google Shape;329;p40"/>
          <p:cNvSpPr txBox="1"/>
          <p:nvPr/>
        </p:nvSpPr>
        <p:spPr>
          <a:xfrm>
            <a:off x="479025" y="3476530"/>
            <a:ext cx="831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Resultado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0" name="Google Shape;33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2250" y="2758825"/>
            <a:ext cx="4107500" cy="19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EXEMPLO (2) - FUNÇÕES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36" name="Google Shape;33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8" name="Google Shape;338;p4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9" name="Google Shape;339;p41"/>
          <p:cNvSpPr txBox="1"/>
          <p:nvPr/>
        </p:nvSpPr>
        <p:spPr>
          <a:xfrm>
            <a:off x="414600" y="2294925"/>
            <a:ext cx="8314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Criar uma função que retorna o estoque disponível de um produto específico.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p4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6" name="Google Shape;346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7" name="Google Shape;347;p4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  <p:pic>
        <p:nvPicPr>
          <p:cNvPr id="348" name="Google Shape;3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9250"/>
            <a:ext cx="8839204" cy="419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4" name="Google Shape;354;p4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5" name="Google Shape;355;p4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  <p:sp>
        <p:nvSpPr>
          <p:cNvPr id="356" name="Google Shape;356;p43"/>
          <p:cNvSpPr txBox="1"/>
          <p:nvPr/>
        </p:nvSpPr>
        <p:spPr>
          <a:xfrm>
            <a:off x="414600" y="389925"/>
            <a:ext cx="831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Utilizando a função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p43"/>
          <p:cNvSpPr txBox="1"/>
          <p:nvPr/>
        </p:nvSpPr>
        <p:spPr>
          <a:xfrm>
            <a:off x="479025" y="3476530"/>
            <a:ext cx="831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Resultado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8" name="Google Shape;35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026" y="882524"/>
            <a:ext cx="7261297" cy="180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6900" y="3117025"/>
            <a:ext cx="5522800" cy="10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EXEMPLO (3) - FUNÇÕES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65" name="Google Shape;36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7" name="Google Shape;367;p4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8" name="Google Shape;368;p44"/>
          <p:cNvSpPr txBox="1"/>
          <p:nvPr/>
        </p:nvSpPr>
        <p:spPr>
          <a:xfrm>
            <a:off x="414600" y="2294925"/>
            <a:ext cx="8314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Função que retorna todos os produtos pertencentes a uma categoria específica.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9" name="Google Shape;369;p4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6" name="Google Shape;376;p4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  <p:pic>
        <p:nvPicPr>
          <p:cNvPr id="377" name="Google Shape;3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3625"/>
            <a:ext cx="8839204" cy="3470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3" name="Google Shape;383;p4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4" name="Google Shape;384;p4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  <p:sp>
        <p:nvSpPr>
          <p:cNvPr id="385" name="Google Shape;385;p46"/>
          <p:cNvSpPr txBox="1"/>
          <p:nvPr/>
        </p:nvSpPr>
        <p:spPr>
          <a:xfrm>
            <a:off x="414600" y="389925"/>
            <a:ext cx="831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Utilizando a função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6" name="Google Shape;386;p46"/>
          <p:cNvSpPr txBox="1"/>
          <p:nvPr/>
        </p:nvSpPr>
        <p:spPr>
          <a:xfrm>
            <a:off x="479025" y="3476530"/>
            <a:ext cx="831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Resultado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7" name="Google Shape;3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150" y="900125"/>
            <a:ext cx="7469299" cy="151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0150" y="2832550"/>
            <a:ext cx="5839200" cy="16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IF / ELSE IF / ELSE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94" name="Google Shape;39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6" name="Google Shape;396;p4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7" name="Google Shape;397;p4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  <p:pic>
        <p:nvPicPr>
          <p:cNvPr id="398" name="Google Shape;39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363" y="982413"/>
            <a:ext cx="8035287" cy="373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e muito mais…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04" name="Google Shape;4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6" name="Google Shape;406;p4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7" name="Google Shape;407;p4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  <p:sp>
        <p:nvSpPr>
          <p:cNvPr id="408" name="Google Shape;408;p48"/>
          <p:cNvSpPr txBox="1"/>
          <p:nvPr/>
        </p:nvSpPr>
        <p:spPr>
          <a:xfrm>
            <a:off x="414600" y="1151925"/>
            <a:ext cx="83148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LOOP - continua executando até encontrar um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EXIT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WHILE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-  enquanto uma condição é verdadeira.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53F5EB9-1B3F-4891-9ECA-9C788762AC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712"/>
          <a:stretch/>
        </p:blipFill>
        <p:spPr>
          <a:xfrm>
            <a:off x="414600" y="1628075"/>
            <a:ext cx="7153840" cy="117399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0E52A0A-B229-44C9-8D0C-D31F14C3C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50" y="3680727"/>
            <a:ext cx="2898755" cy="117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10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e muito mais…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04" name="Google Shape;4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6" name="Google Shape;406;p4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7" name="Google Shape;407;p4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32</a:t>
            </a:fld>
            <a:endParaRPr/>
          </a:p>
        </p:txBody>
      </p:sp>
      <p:sp>
        <p:nvSpPr>
          <p:cNvPr id="408" name="Google Shape;408;p48"/>
          <p:cNvSpPr txBox="1"/>
          <p:nvPr/>
        </p:nvSpPr>
        <p:spPr>
          <a:xfrm>
            <a:off x="414600" y="1151925"/>
            <a:ext cx="8314800" cy="620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CASE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F9E2F6-FFD6-4A41-A289-632837F1C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11" y="1783865"/>
            <a:ext cx="3665914" cy="276311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e muito mais…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04" name="Google Shape;4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6" name="Google Shape;406;p4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7" name="Google Shape;407;p4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33</a:t>
            </a:fld>
            <a:endParaRPr/>
          </a:p>
        </p:txBody>
      </p:sp>
      <p:sp>
        <p:nvSpPr>
          <p:cNvPr id="408" name="Google Shape;408;p48"/>
          <p:cNvSpPr txBox="1"/>
          <p:nvPr/>
        </p:nvSpPr>
        <p:spPr>
          <a:xfrm>
            <a:off x="414600" y="1151925"/>
            <a:ext cx="8314800" cy="136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FOR ... IN (para iterações sobre valores) ou sobre resultados de uma consulta.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4B09BE-EE6D-402D-A5B6-82D69BD8A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50" y="2044312"/>
            <a:ext cx="2967151" cy="127793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9C3529A-C0D8-494C-8DB2-6DFE088F1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437" y="3659613"/>
            <a:ext cx="5904926" cy="127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86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PROCEDIMENTOS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425400" y="841400"/>
            <a:ext cx="8293200" cy="444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Introduzidos no PostgreSQL 11.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Não retornam valores diretamente (podem usar parâmetros OUT).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Executados usando o comando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CALL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Não podem ser usadas em consultas SQL.</a:t>
            </a:r>
          </a:p>
          <a:p>
            <a:pPr marL="914400" lvl="1" indent="-3556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Podem executar comandos de controle de transação.</a:t>
            </a: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7894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PROCEDIMENTOS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425400" y="841400"/>
            <a:ext cx="8293200" cy="444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Introduzidos no PostgreSQL 11.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Não retornam valores diretamente (podem usar parâmetros OUT).</a:t>
            </a:r>
            <a:endParaRPr sz="2000" dirty="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Executados usando o comando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CALL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Não podem ser usadas em consultas SQL.</a:t>
            </a:r>
          </a:p>
          <a:p>
            <a:pPr marL="914400" lvl="1" indent="-3556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Podem executar comandos de controle de transação.</a:t>
            </a: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35</a:t>
            </a:fld>
            <a:endParaRPr/>
          </a:p>
        </p:txBody>
      </p:sp>
      <p:sp>
        <p:nvSpPr>
          <p:cNvPr id="8" name="Google Shape;227;p29">
            <a:extLst>
              <a:ext uri="{FF2B5EF4-FFF2-40B4-BE49-F238E27FC236}">
                <a16:creationId xmlns:a16="http://schemas.microsoft.com/office/drawing/2014/main" id="{65044C4F-0570-43FF-BDCA-68ECD6861E02}"/>
              </a:ext>
            </a:extLst>
          </p:cNvPr>
          <p:cNvSpPr/>
          <p:nvPr/>
        </p:nvSpPr>
        <p:spPr>
          <a:xfrm>
            <a:off x="1104150" y="140918"/>
            <a:ext cx="7607100" cy="1378146"/>
          </a:xfrm>
          <a:prstGeom prst="wedgeRectCallout">
            <a:avLst>
              <a:gd name="adj1" fmla="val 11923"/>
              <a:gd name="adj2" fmla="val 65796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Diferente das funções, os procedimentos não usam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RETURN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 valor.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 Para devolver dados, precisam usar parâmetros de saída (OUT) ou registrar resultados em tabelas.</a:t>
            </a:r>
            <a:endParaRPr sz="1600"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84118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PROCEDIMENTOS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425400" y="841400"/>
            <a:ext cx="8293200" cy="444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Introduzidos no PostgreSQL 11.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Não retornam valores diretamente (podem usar parâmetros OUT).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Executados usando o comando </a:t>
            </a:r>
            <a:r>
              <a:rPr lang="pt-BR" sz="2000" dirty="0" err="1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CALL</a:t>
            </a:r>
            <a:r>
              <a:rPr lang="pt-BR" sz="2000" dirty="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2000" dirty="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Não podem ser usadas em consultas SQL.</a:t>
            </a:r>
          </a:p>
          <a:p>
            <a:pPr marL="914400" lvl="1" indent="-3556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Podem executar comandos de controle de transação.</a:t>
            </a: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36</a:t>
            </a:fld>
            <a:endParaRPr/>
          </a:p>
        </p:txBody>
      </p:sp>
      <p:sp>
        <p:nvSpPr>
          <p:cNvPr id="8" name="Google Shape;227;p29">
            <a:extLst>
              <a:ext uri="{FF2B5EF4-FFF2-40B4-BE49-F238E27FC236}">
                <a16:creationId xmlns:a16="http://schemas.microsoft.com/office/drawing/2014/main" id="{65044C4F-0570-43FF-BDCA-68ECD6861E02}"/>
              </a:ext>
            </a:extLst>
          </p:cNvPr>
          <p:cNvSpPr/>
          <p:nvPr/>
        </p:nvSpPr>
        <p:spPr>
          <a:xfrm>
            <a:off x="1110663" y="829992"/>
            <a:ext cx="7600712" cy="1741758"/>
          </a:xfrm>
          <a:prstGeom prst="wedgeRectCallout">
            <a:avLst>
              <a:gd name="adj1" fmla="val 11923"/>
              <a:gd name="adj2" fmla="val 65796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Enquanto funções são chamadas com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SELECT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nome_funcao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(), os procedimentos são executados com:</a:t>
            </a:r>
            <a:b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</a:br>
            <a:b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</a:b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CALL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nome_procedimento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param1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,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param2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);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Procedimentos só podem ser chamados com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CALL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, nunca em um </a:t>
            </a:r>
            <a:r>
              <a:rPr lang="pt-BR" sz="1600" dirty="0" err="1">
                <a:latin typeface="Nunito Medium"/>
                <a:ea typeface="Nunito Medium"/>
                <a:cs typeface="Nunito Medium"/>
                <a:sym typeface="Nunito Medium"/>
              </a:rPr>
              <a:t>SELECT</a:t>
            </a:r>
            <a:r>
              <a:rPr lang="pt-BR" sz="1600" dirty="0">
                <a:latin typeface="Nunito Medium"/>
                <a:ea typeface="Nunito Medium"/>
                <a:cs typeface="Nunito Medium"/>
                <a:sym typeface="Nunito Medium"/>
              </a:rPr>
              <a:t>.</a:t>
            </a:r>
            <a:endParaRPr sz="1600"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5479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PROCEDIMENTOS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425400" y="841400"/>
            <a:ext cx="8293200" cy="444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Introduzidos no PostgreSQL 11.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Não retornam valores diretamente (podem usar parâmetros OUT).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Executados usando o comando </a:t>
            </a:r>
            <a:r>
              <a:rPr lang="pt-BR" sz="2000" dirty="0" err="1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CALL</a:t>
            </a:r>
            <a:r>
              <a:rPr lang="pt-BR" sz="2000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2000" dirty="0">
              <a:solidFill>
                <a:schemeClr val="tx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Não podem ser usadas em consultas SQL.</a:t>
            </a:r>
          </a:p>
          <a:p>
            <a:pPr marL="914400" lvl="1" indent="-35560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2000" dirty="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Podem executar comandos de controle de transação.</a:t>
            </a:r>
          </a:p>
          <a:p>
            <a:pPr marL="914400" lvl="1" indent="-3556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37</a:t>
            </a:fld>
            <a:endParaRPr/>
          </a:p>
        </p:txBody>
      </p:sp>
      <p:sp>
        <p:nvSpPr>
          <p:cNvPr id="8" name="Google Shape;227;p29">
            <a:extLst>
              <a:ext uri="{FF2B5EF4-FFF2-40B4-BE49-F238E27FC236}">
                <a16:creationId xmlns:a16="http://schemas.microsoft.com/office/drawing/2014/main" id="{65044C4F-0570-43FF-BDCA-68ECD6861E02}"/>
              </a:ext>
            </a:extLst>
          </p:cNvPr>
          <p:cNvSpPr/>
          <p:nvPr/>
        </p:nvSpPr>
        <p:spPr>
          <a:xfrm>
            <a:off x="1110663" y="829992"/>
            <a:ext cx="7495455" cy="2655486"/>
          </a:xfrm>
          <a:prstGeom prst="wedgeRectCallout">
            <a:avLst>
              <a:gd name="adj1" fmla="val 11923"/>
              <a:gd name="adj2" fmla="val 65796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latin typeface="Nunito Medium"/>
                <a:ea typeface="Nunito Medium"/>
                <a:cs typeface="Nunito Medium"/>
                <a:sym typeface="Nunito Medium"/>
              </a:rPr>
              <a:t>Essa é a maior diferença em relação às funções.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800" dirty="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latin typeface="Nunito Medium"/>
                <a:ea typeface="Nunito Medium"/>
                <a:cs typeface="Nunito Medium"/>
                <a:sym typeface="Nunito Medium"/>
              </a:rPr>
              <a:t>Dentro de um procedimento, você pode usar </a:t>
            </a:r>
            <a:r>
              <a:rPr lang="pt-BR" sz="1800" dirty="0" err="1">
                <a:latin typeface="Nunito Medium"/>
                <a:ea typeface="Nunito Medium"/>
                <a:cs typeface="Nunito Medium"/>
                <a:sym typeface="Nunito Medium"/>
              </a:rPr>
              <a:t>COMMIT</a:t>
            </a:r>
            <a:r>
              <a:rPr lang="pt-BR" sz="1800" dirty="0">
                <a:latin typeface="Nunito Medium"/>
                <a:ea typeface="Nunito Medium"/>
                <a:cs typeface="Nunito Medium"/>
                <a:sym typeface="Nunito Medium"/>
              </a:rPr>
              <a:t>, </a:t>
            </a:r>
            <a:r>
              <a:rPr lang="pt-BR" sz="1800" dirty="0" err="1">
                <a:latin typeface="Nunito Medium"/>
                <a:ea typeface="Nunito Medium"/>
                <a:cs typeface="Nunito Medium"/>
                <a:sym typeface="Nunito Medium"/>
              </a:rPr>
              <a:t>ROLLBACK</a:t>
            </a:r>
            <a:r>
              <a:rPr lang="pt-BR" sz="1800" dirty="0">
                <a:latin typeface="Nunito Medium"/>
                <a:ea typeface="Nunito Medium"/>
                <a:cs typeface="Nunito Medium"/>
                <a:sym typeface="Nunito Medium"/>
              </a:rPr>
              <a:t>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800" dirty="0">
              <a:latin typeface="Nunito Medium"/>
              <a:ea typeface="Nunito Medium"/>
              <a:cs typeface="Nunito Medium"/>
              <a:sym typeface="Nuni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latin typeface="Nunito Medium"/>
                <a:ea typeface="Nunito Medium"/>
                <a:cs typeface="Nunito Medium"/>
                <a:sym typeface="Nunito Medium"/>
              </a:rPr>
              <a:t>Por esse motivo, se você precisar de um bloco de lógica que atualiza dados e controla transações diretamente, o ideal é usar um PROCEDIMENTO</a:t>
            </a:r>
            <a:endParaRPr sz="1800" dirty="0"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929840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CRIANDO PROCEDIMENTOS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14" name="Google Shape;41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6" name="Google Shape;416;p4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7" name="Google Shape;417;p49"/>
          <p:cNvSpPr txBox="1"/>
          <p:nvPr/>
        </p:nvSpPr>
        <p:spPr>
          <a:xfrm>
            <a:off x="425400" y="917600"/>
            <a:ext cx="83148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SINTAXE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just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Procedimentos permitem executar blocos de código armazenados no banco de dados. Eles são úteis para encapsular operações que não precisam retornar valores diretamente.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8" name="Google Shape;418;p4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38</a:t>
            </a:fld>
            <a:endParaRPr/>
          </a:p>
        </p:txBody>
      </p:sp>
      <p:pic>
        <p:nvPicPr>
          <p:cNvPr id="419" name="Google Shape;41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200" y="2056975"/>
            <a:ext cx="7185137" cy="25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EXEMPLO (1) - PROCEDIMENTOS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25" name="Google Shape;425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7" name="Google Shape;427;p5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8" name="Google Shape;428;p50"/>
          <p:cNvSpPr txBox="1"/>
          <p:nvPr/>
        </p:nvSpPr>
        <p:spPr>
          <a:xfrm>
            <a:off x="414600" y="2294925"/>
            <a:ext cx="831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Procedimento que atualiza o estoque de um produto após a venda.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9" name="Google Shape;429;p5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5" name="Google Shape;435;p5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6" name="Google Shape;436;p5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40</a:t>
            </a:fld>
            <a:endParaRPr/>
          </a:p>
        </p:txBody>
      </p:sp>
      <p:pic>
        <p:nvPicPr>
          <p:cNvPr id="437" name="Google Shape;43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813" y="0"/>
            <a:ext cx="8056387" cy="497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3" name="Google Shape;443;p5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4" name="Google Shape;444;p5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41</a:t>
            </a:fld>
            <a:endParaRPr/>
          </a:p>
        </p:txBody>
      </p:sp>
      <p:sp>
        <p:nvSpPr>
          <p:cNvPr id="445" name="Google Shape;445;p52"/>
          <p:cNvSpPr txBox="1"/>
          <p:nvPr/>
        </p:nvSpPr>
        <p:spPr>
          <a:xfrm>
            <a:off x="414600" y="847125"/>
            <a:ext cx="8314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-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Utilizando o procedimento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6" name="Google Shape;44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450" y="1644525"/>
            <a:ext cx="6398098" cy="16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3"/>
          <p:cNvSpPr/>
          <p:nvPr/>
        </p:nvSpPr>
        <p:spPr>
          <a:xfrm>
            <a:off x="643050" y="7662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0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Continua na próxima aula…</a:t>
            </a:r>
            <a:endParaRPr sz="30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454" name="Google Shape;454;p53"/>
          <p:cNvSpPr txBox="1"/>
          <p:nvPr/>
        </p:nvSpPr>
        <p:spPr>
          <a:xfrm>
            <a:off x="559950" y="3760700"/>
            <a:ext cx="8024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UNIVERSIDADE DE RIO VERDE (UniRV)</a:t>
            </a: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Bacharelado em Engenharia de Software</a:t>
            </a:r>
            <a:endParaRPr sz="1500" b="0" i="0" u="none" strike="noStrike" cap="none">
              <a:solidFill>
                <a:srgbClr val="5E5E5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6" name="Google Shape;456;p53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07" y="3162901"/>
            <a:ext cx="1371774" cy="13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3" descr="Imag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4548" y="3317763"/>
            <a:ext cx="1595574" cy="10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2520</Words>
  <Application>Microsoft Office PowerPoint</Application>
  <PresentationFormat>Apresentação na tela (16:9)</PresentationFormat>
  <Paragraphs>368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Maven Pro SemiBold</vt:lpstr>
      <vt:lpstr>Nunito Medium</vt:lpstr>
      <vt:lpstr>Maven Pro Medium</vt:lpstr>
      <vt:lpstr>Nunito</vt:lpstr>
      <vt:lpstr>Arial</vt:lpstr>
      <vt:lpstr>Helvetica Neue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6</cp:revision>
  <dcterms:modified xsi:type="dcterms:W3CDTF">2025-10-30T23:17:17Z</dcterms:modified>
</cp:coreProperties>
</file>