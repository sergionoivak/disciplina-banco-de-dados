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7" r:id="rId2"/>
    <p:sldId id="258" r:id="rId3"/>
    <p:sldId id="287" r:id="rId4"/>
    <p:sldId id="288" r:id="rId5"/>
    <p:sldId id="285" r:id="rId6"/>
    <p:sldId id="259" r:id="rId7"/>
    <p:sldId id="260" r:id="rId8"/>
    <p:sldId id="286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9144000" cy="5143500" type="screen16x9"/>
  <p:notesSz cx="6858000" cy="9144000"/>
  <p:embeddedFontLst>
    <p:embeddedFont>
      <p:font typeface="Helvetica Neue" panose="020B0604020202020204" charset="0"/>
      <p:regular r:id="rId35"/>
      <p:bold r:id="rId36"/>
      <p:italic r:id="rId37"/>
      <p:boldItalic r:id="rId38"/>
    </p:embeddedFont>
    <p:embeddedFont>
      <p:font typeface="Maven Pro" panose="020B0604020202020204" charset="0"/>
      <p:regular r:id="rId39"/>
      <p:bold r:id="rId40"/>
    </p:embeddedFont>
    <p:embeddedFont>
      <p:font typeface="Maven Pro Medium" panose="020B0604020202020204" charset="0"/>
      <p:regular r:id="rId41"/>
      <p:bold r:id="rId42"/>
    </p:embeddedFont>
    <p:embeddedFont>
      <p:font typeface="Maven Pro SemiBold" panose="020B0604020202020204" charset="0"/>
      <p:regular r:id="rId43"/>
      <p:bold r:id="rId44"/>
    </p:embeddedFont>
    <p:embeddedFont>
      <p:font typeface="Nunito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>
      <p:cViewPr varScale="1">
        <p:scale>
          <a:sx n="63" d="100"/>
          <a:sy n="63" d="100"/>
        </p:scale>
        <p:origin x="77" y="7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475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092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14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0ba5c06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1f0ba5c06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f0ba5c06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f0ba5c06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f0ba5c06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f0ba5c06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261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f0ba5c065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f0ba5c065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f0ba5c065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f0ba5c065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0ba5c065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f0ba5c065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f0cd9c2f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f0cd9c2f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0cd9c2f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f0cd9c2fa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0cd9c2fa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f0cd9c2fa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f0cd9c2fa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1f0cd9c2faf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0cd9c2fa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f0cd9c2faf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0cd9c2fa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1f0cd9c2fa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f0cd9c2fa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1f0cd9c2fa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0cd9c2fa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f0cd9c2fa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0cd9c2fa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f0cd9c2fa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0cd9c2fa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f0cd9c2fa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0cd9c2faf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f0cd9c2faf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0cd9c2faf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1f0cd9c2fa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0cd9c2faf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1f0cd9c2faf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f0cd9c2faf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1f0cd9c2faf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0cd9c2faf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1f0cd9c2faf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f0cd9c2faf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g1f0cd9c2faf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f0cd9c2faf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1f0cd9c2faf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f0cd9c2faf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1f0cd9c2faf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f0cd9c2faf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g1f0cd9c2faf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f0cd9c2faf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1f0cd9c2faf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f0cd9c2faf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g1f0cd9c2faf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Introdução ao Modelo de 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Entidade e Relacionamento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Modelo de Entidade e Relacionamento (ER)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um modelo conceitual.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Está mais próximo da visão que o usuário tem dos dados.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Descreve quais dados devem ser armazenados pela aplicação.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Como esses dados se relacionam.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História do MER</a:t>
            </a:r>
            <a:endParaRPr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Em março de 1976, Peter P. Chen publicou um trabalho intitulado “The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Entity-Relationship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Model: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Toward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unified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view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of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data”, no qual definia uma possível abordagem para o processo de modelagem dos dados.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O modelo entidade-relacionamento tem seu embasamento teórico na “Lei do Mundo”.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A Lei do Mundo determina que “o mundo está cheio de coisas que possuem características próprias e que se relacionam entre si”.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Portanto, deve-se sempre identificar: entidades, relacionamentos e atributos. </a:t>
            </a:r>
          </a:p>
        </p:txBody>
      </p:sp>
    </p:spTree>
    <p:extLst>
      <p:ext uri="{BB962C8B-B14F-4D97-AF65-F5344CB8AC3E}">
        <p14:creationId xmlns:p14="http://schemas.microsoft.com/office/powerpoint/2010/main" val="101924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História do MER</a:t>
            </a:r>
            <a:endParaRPr sz="1700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spcBef>
                <a:spcPct val="50000"/>
              </a:spcBef>
              <a:buFontTx/>
              <a:buNone/>
            </a:pPr>
            <a:r>
              <a:rPr lang="pt-BR" altLang="pt-BR" sz="2000" dirty="0"/>
              <a:t>O modelo entidade-relacionamento tem por base a percepção de que o mundo real é formado por conjunto de objetos chamados </a:t>
            </a:r>
            <a:r>
              <a:rPr lang="pt-BR" altLang="pt-BR" sz="2000" i="1" dirty="0">
                <a:solidFill>
                  <a:srgbClr val="CC3300"/>
                </a:solidFill>
              </a:rPr>
              <a:t>entidades</a:t>
            </a:r>
            <a:r>
              <a:rPr lang="pt-BR" altLang="pt-BR" sz="2000" dirty="0"/>
              <a:t> e pelo conjunto dos </a:t>
            </a:r>
            <a:r>
              <a:rPr lang="pt-BR" altLang="pt-BR" sz="2000" i="1" dirty="0">
                <a:solidFill>
                  <a:srgbClr val="CC3300"/>
                </a:solidFill>
              </a:rPr>
              <a:t>relacionamentos</a:t>
            </a:r>
            <a:r>
              <a:rPr lang="pt-BR" altLang="pt-BR" sz="2000" dirty="0"/>
              <a:t> entre esses objetos.</a:t>
            </a:r>
          </a:p>
        </p:txBody>
      </p:sp>
    </p:spTree>
    <p:extLst>
      <p:ext uri="{BB962C8B-B14F-4D97-AF65-F5344CB8AC3E}">
        <p14:creationId xmlns:p14="http://schemas.microsoft.com/office/powerpoint/2010/main" val="209674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18200" y="1053050"/>
            <a:ext cx="8307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unito"/>
              <a:buChar char="➔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Modelo de Entidade e Relacionamento (ER)</a:t>
            </a: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8200" y="1722475"/>
            <a:ext cx="82791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Retângulos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que representam os conjuntos de entidades;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Elipses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que representam os atributos;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Losangos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que representam os relacionamentos entre os conjuntos de entidades;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Linhas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que unem os atributos aos conjuntos de entidades e o conjunto de entidades aos seus relacionamentos.</a:t>
            </a:r>
          </a:p>
        </p:txBody>
      </p:sp>
    </p:spTree>
    <p:extLst>
      <p:ext uri="{BB962C8B-B14F-4D97-AF65-F5344CB8AC3E}">
        <p14:creationId xmlns:p14="http://schemas.microsoft.com/office/powerpoint/2010/main" val="408276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18200" y="884275"/>
            <a:ext cx="827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escola precisa armazenar as informações sobre seus alunos, professores, e disciplinas.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725" y="1747062"/>
            <a:ext cx="6591501" cy="27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361275" y="4445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 de modelo conceitual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18200" y="1112875"/>
            <a:ext cx="41538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Não há preocupação em saber como os dados serão armazenados.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Entender o que precisa ser armazenado.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Diagrama de Entidade e Relacionamento (DER).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500" y="2035252"/>
            <a:ext cx="4823851" cy="19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" name="Picture 2" descr="Diagrama Entidade Relacionamento">
            <a:extLst>
              <a:ext uri="{FF2B5EF4-FFF2-40B4-BE49-F238E27FC236}">
                <a16:creationId xmlns:a16="http://schemas.microsoft.com/office/drawing/2014/main" id="{46C3594F-9E62-486E-A56A-CB732256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35" y="1211262"/>
            <a:ext cx="8024813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14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3" name="Google Shape;113;p18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Entidades e Atributos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18200" y="1112875"/>
            <a:ext cx="8279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entidade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 um conjunto de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objetos</a:t>
            </a:r>
            <a:r>
              <a:rPr lang="pt-BR" sz="1700" u="sng">
                <a:latin typeface="Nunito"/>
                <a:ea typeface="Nunito"/>
                <a:cs typeface="Nunito"/>
                <a:sym typeface="Nunito"/>
              </a:rPr>
              <a:t> do mesmo tipo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do mundo real e sobre os quais se pretende armazenar dados.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Ex: Sistema para uma escola: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professores, alunos, disciplinas, turmas e cursos.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401600" y="3616475"/>
            <a:ext cx="19812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18200" y="1112875"/>
            <a:ext cx="8279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entidade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 um conjunto de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objetos</a:t>
            </a:r>
            <a:r>
              <a:rPr lang="pt-BR" sz="1700" u="sng">
                <a:latin typeface="Nunito"/>
                <a:ea typeface="Nunito"/>
                <a:cs typeface="Nunito"/>
                <a:sym typeface="Nunito"/>
              </a:rPr>
              <a:t> do mesmo tipo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do mundo real e sobre os quais se pretende armazenar dados.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Ex: Sistema para uma escola: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professores, alunos, disciplinas, turmas e cursos.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1724975" y="3602975"/>
            <a:ext cx="19812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140" name="Google Shape;140;p20"/>
          <p:cNvSpPr txBox="1"/>
          <p:nvPr/>
        </p:nvSpPr>
        <p:spPr>
          <a:xfrm>
            <a:off x="3979875" y="3333588"/>
            <a:ext cx="417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❖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Representada graficamente por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retângulo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 o nome da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entidade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dentro do retângulo.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432750" y="1575650"/>
            <a:ext cx="8307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418200" y="2332075"/>
            <a:ext cx="8279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 conjunto de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objetos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do mesmo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tipo.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 conjunto de propriedades que a caracterize e a descreve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Atributos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446675" y="1234750"/>
            <a:ext cx="19812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1" name="Google Shape;161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3304625" y="3121038"/>
            <a:ext cx="19812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163" name="Google Shape;163;p22"/>
          <p:cNvSpPr/>
          <p:nvPr/>
        </p:nvSpPr>
        <p:spPr>
          <a:xfrm>
            <a:off x="432750" y="2162800"/>
            <a:ext cx="1525200" cy="4479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Telefone</a:t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2305550" y="1428800"/>
            <a:ext cx="1525200" cy="4479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Matrícula</a:t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4865225" y="1376450"/>
            <a:ext cx="1525200" cy="4479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Nome</a:t>
            </a: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6781950" y="2123850"/>
            <a:ext cx="1525200" cy="4479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CPF</a:t>
            </a:r>
            <a:endParaRPr/>
          </a:p>
        </p:txBody>
      </p:sp>
      <p:cxnSp>
        <p:nvCxnSpPr>
          <p:cNvPr id="167" name="Google Shape;167;p22"/>
          <p:cNvCxnSpPr>
            <a:stCxn id="163" idx="4"/>
            <a:endCxn id="162" idx="1"/>
          </p:cNvCxnSpPr>
          <p:nvPr/>
        </p:nvCxnSpPr>
        <p:spPr>
          <a:xfrm>
            <a:off x="1195350" y="2610700"/>
            <a:ext cx="2109300" cy="76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2"/>
          <p:cNvCxnSpPr>
            <a:stCxn id="165" idx="4"/>
            <a:endCxn id="162" idx="0"/>
          </p:cNvCxnSpPr>
          <p:nvPr/>
        </p:nvCxnSpPr>
        <p:spPr>
          <a:xfrm flipH="1">
            <a:off x="4295225" y="1824350"/>
            <a:ext cx="1332600" cy="129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2"/>
          <p:cNvCxnSpPr>
            <a:stCxn id="166" idx="3"/>
            <a:endCxn id="162" idx="3"/>
          </p:cNvCxnSpPr>
          <p:nvPr/>
        </p:nvCxnSpPr>
        <p:spPr>
          <a:xfrm flipH="1">
            <a:off x="5285710" y="2506157"/>
            <a:ext cx="1719600" cy="86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2"/>
          <p:cNvCxnSpPr>
            <a:stCxn id="164" idx="4"/>
            <a:endCxn id="162" idx="0"/>
          </p:cNvCxnSpPr>
          <p:nvPr/>
        </p:nvCxnSpPr>
        <p:spPr>
          <a:xfrm>
            <a:off x="3068150" y="1876700"/>
            <a:ext cx="1227000" cy="124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22"/>
          <p:cNvSpPr txBox="1"/>
          <p:nvPr/>
        </p:nvSpPr>
        <p:spPr>
          <a:xfrm>
            <a:off x="605100" y="4257500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 atributo pode ser representado graficamente por uma elipse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0" name="Google Shape;180;p2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1577675" y="1752938"/>
            <a:ext cx="19812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182" name="Google Shape;182;p23"/>
          <p:cNvSpPr txBox="1"/>
          <p:nvPr/>
        </p:nvSpPr>
        <p:spPr>
          <a:xfrm>
            <a:off x="605100" y="4257500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bolinha ligada à entidade e com o nome do atributo ao lado.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4809550" y="1345725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973950" y="1195250"/>
            <a:ext cx="12537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4809550" y="1714130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4809550" y="2097050"/>
            <a:ext cx="164400" cy="16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4809550" y="2488668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8" name="Google Shape;188;p23"/>
          <p:cNvCxnSpPr>
            <a:stCxn id="181" idx="3"/>
            <a:endCxn id="183" idx="2"/>
          </p:cNvCxnSpPr>
          <p:nvPr/>
        </p:nvCxnSpPr>
        <p:spPr>
          <a:xfrm rot="10800000" flipH="1">
            <a:off x="3558875" y="1427888"/>
            <a:ext cx="1250700" cy="57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3"/>
          <p:cNvCxnSpPr>
            <a:stCxn id="181" idx="3"/>
            <a:endCxn id="185" idx="2"/>
          </p:cNvCxnSpPr>
          <p:nvPr/>
        </p:nvCxnSpPr>
        <p:spPr>
          <a:xfrm rot="10800000" flipH="1">
            <a:off x="3558875" y="1796288"/>
            <a:ext cx="1250700" cy="2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3"/>
          <p:cNvCxnSpPr>
            <a:stCxn id="181" idx="3"/>
            <a:endCxn id="186" idx="2"/>
          </p:cNvCxnSpPr>
          <p:nvPr/>
        </p:nvCxnSpPr>
        <p:spPr>
          <a:xfrm>
            <a:off x="3558875" y="2007188"/>
            <a:ext cx="12507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3"/>
          <p:cNvCxnSpPr>
            <a:stCxn id="181" idx="3"/>
            <a:endCxn id="187" idx="2"/>
          </p:cNvCxnSpPr>
          <p:nvPr/>
        </p:nvCxnSpPr>
        <p:spPr>
          <a:xfrm>
            <a:off x="3558875" y="2007188"/>
            <a:ext cx="1250700" cy="5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782652" y="2485405"/>
            <a:ext cx="1260000" cy="32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202" name="Google Shape;202;p24"/>
          <p:cNvSpPr txBox="1"/>
          <p:nvPr/>
        </p:nvSpPr>
        <p:spPr>
          <a:xfrm>
            <a:off x="432750" y="1225925"/>
            <a:ext cx="50247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entidade deve ter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ao menos dois atributos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Todo atributo possui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tipo de dado.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os valores permitidos para aquele atributo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7838361" y="2226388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7942931" y="2130675"/>
            <a:ext cx="7974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CPF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7838361" y="2460720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7838361" y="2704285"/>
            <a:ext cx="104400" cy="10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7838361" y="2953383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" name="Google Shape;208;p24"/>
          <p:cNvCxnSpPr>
            <a:stCxn id="201" idx="3"/>
            <a:endCxn id="203" idx="2"/>
          </p:cNvCxnSpPr>
          <p:nvPr/>
        </p:nvCxnSpPr>
        <p:spPr>
          <a:xfrm rot="10800000" flipH="1">
            <a:off x="7042652" y="2278705"/>
            <a:ext cx="795600" cy="3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4"/>
          <p:cNvCxnSpPr>
            <a:stCxn id="201" idx="3"/>
            <a:endCxn id="205" idx="2"/>
          </p:cNvCxnSpPr>
          <p:nvPr/>
        </p:nvCxnSpPr>
        <p:spPr>
          <a:xfrm rot="10800000" flipH="1">
            <a:off x="7042652" y="2513005"/>
            <a:ext cx="795600" cy="13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4"/>
          <p:cNvCxnSpPr>
            <a:stCxn id="201" idx="3"/>
            <a:endCxn id="206" idx="2"/>
          </p:cNvCxnSpPr>
          <p:nvPr/>
        </p:nvCxnSpPr>
        <p:spPr>
          <a:xfrm>
            <a:off x="7042652" y="2647105"/>
            <a:ext cx="795600" cy="1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4"/>
          <p:cNvCxnSpPr>
            <a:stCxn id="201" idx="3"/>
            <a:endCxn id="207" idx="2"/>
          </p:cNvCxnSpPr>
          <p:nvPr/>
        </p:nvCxnSpPr>
        <p:spPr>
          <a:xfrm>
            <a:off x="7042652" y="2647105"/>
            <a:ext cx="795600" cy="35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0" name="Google Shape;220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82652" y="2485405"/>
            <a:ext cx="1260000" cy="32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222" name="Google Shape;222;p25"/>
          <p:cNvSpPr txBox="1"/>
          <p:nvPr/>
        </p:nvSpPr>
        <p:spPr>
          <a:xfrm>
            <a:off x="432750" y="1225925"/>
            <a:ext cx="50247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entidade deve ter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ao menos dois atributos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Todo atributo possui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tipo de dado.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os valores permitidos para aquele atributo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inteiro, caracter, real (ou float), data e hora.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Tamanho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838361" y="2226388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7942931" y="2130675"/>
            <a:ext cx="7974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Nunito"/>
                <a:ea typeface="Nunito"/>
                <a:cs typeface="Nunito"/>
                <a:sym typeface="Nunito"/>
              </a:rPr>
              <a:t>CPF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7838361" y="2460720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7838361" y="2704285"/>
            <a:ext cx="104400" cy="10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7838361" y="2953383"/>
            <a:ext cx="104400" cy="10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8" name="Google Shape;228;p25"/>
          <p:cNvCxnSpPr>
            <a:stCxn id="221" idx="3"/>
            <a:endCxn id="223" idx="2"/>
          </p:cNvCxnSpPr>
          <p:nvPr/>
        </p:nvCxnSpPr>
        <p:spPr>
          <a:xfrm rot="10800000" flipH="1">
            <a:off x="7042652" y="2278705"/>
            <a:ext cx="795600" cy="36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25"/>
          <p:cNvCxnSpPr>
            <a:stCxn id="221" idx="3"/>
            <a:endCxn id="225" idx="2"/>
          </p:cNvCxnSpPr>
          <p:nvPr/>
        </p:nvCxnSpPr>
        <p:spPr>
          <a:xfrm rot="10800000" flipH="1">
            <a:off x="7042652" y="2513005"/>
            <a:ext cx="795600" cy="13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5"/>
          <p:cNvCxnSpPr>
            <a:stCxn id="221" idx="3"/>
            <a:endCxn id="226" idx="2"/>
          </p:cNvCxnSpPr>
          <p:nvPr/>
        </p:nvCxnSpPr>
        <p:spPr>
          <a:xfrm>
            <a:off x="7042652" y="2647105"/>
            <a:ext cx="795600" cy="1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5"/>
          <p:cNvCxnSpPr>
            <a:stCxn id="221" idx="3"/>
            <a:endCxn id="227" idx="2"/>
          </p:cNvCxnSpPr>
          <p:nvPr/>
        </p:nvCxnSpPr>
        <p:spPr>
          <a:xfrm>
            <a:off x="7042652" y="2647105"/>
            <a:ext cx="795600" cy="35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41" name="Google Shape;24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800" y="948025"/>
            <a:ext cx="7048452" cy="34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361275" y="4445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Representação gráfica dos atributos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8" name="Google Shape;2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432750" y="997325"/>
            <a:ext cx="50247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SIMPLES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Indivisível - não pode ou não deve ser decomposto.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nº 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RG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preço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etc.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9275" y="2139365"/>
            <a:ext cx="2689375" cy="170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9" name="Google Shape;25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63" name="Google Shape;263;p28"/>
          <p:cNvSpPr txBox="1"/>
          <p:nvPr/>
        </p:nvSpPr>
        <p:spPr>
          <a:xfrm>
            <a:off x="432750" y="997325"/>
            <a:ext cx="50247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COMPOSTO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pode ser decomposto.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Endereço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 da rua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número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complemento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525" y="1889337"/>
            <a:ext cx="3026376" cy="20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2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432750" y="997325"/>
            <a:ext cx="52266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MONOVALORADO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Indivisível - permite apenas o armazenamento de um valor por vez.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pessoa possui apenas um número de CPF.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9275" y="2139365"/>
            <a:ext cx="2689375" cy="170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1" name="Google Shape;28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4" name="Google Shape;284;p3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432750" y="997325"/>
            <a:ext cx="52266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MULTIVALORADO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Armazena mais de um valor ao mesmo tempo no mesmo campo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E-mail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pessoa pode ter vários e-mails.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6225" y="2070873"/>
            <a:ext cx="2556725" cy="17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2" name="Google Shape;29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5" name="Google Shape;295;p3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432750" y="1073525"/>
            <a:ext cx="83076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NULO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Permite que seja inserido um valor nulo para ele.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 inexistência de um valor.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usuário não precisa cadastrar um valor para o atributo e pode deixá-lo vazio.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OBS: O ideal é não ter o nulo e receber um valor padrão (</a:t>
            </a:r>
            <a:r>
              <a:rPr lang="pt-BR" sz="1700" i="1">
                <a:latin typeface="Nunito"/>
                <a:ea typeface="Nunito"/>
                <a:cs typeface="Nunito"/>
                <a:sym typeface="Nunito"/>
              </a:rPr>
              <a:t>default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).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Atributos (6 Categorias)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5" name="Google Shape;305;p3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432750" y="997325"/>
            <a:ext cx="52266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ATRIBUTO DERIVADO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valor para ele deriva de outro(s) atributo(s).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número da compra, data da compra, valor da compra, percentual de desconto 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valor da compra com o desconto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“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valor da compra com o desconto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” é </a:t>
            </a:r>
            <a:r>
              <a:rPr lang="pt-BR" sz="1700" i="1" u="sng">
                <a:latin typeface="Nunito"/>
                <a:ea typeface="Nunito"/>
                <a:cs typeface="Nunito"/>
                <a:sym typeface="Nunito"/>
              </a:rPr>
              <a:t>calculado/derivado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de outros atributos.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Aplicação ou SGBD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4900" y="1749375"/>
            <a:ext cx="2665425" cy="24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3" name="Google Shape;31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6" name="Google Shape;316;p3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32750" y="921125"/>
            <a:ext cx="52266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Primary Key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ou ainda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PK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um atributo da entidade que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identifica apenas um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objeto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dessa entidade.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Esse valor não pode se repetir (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único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Não pode receber nulo.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Professor (Entidade)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CPF, Matrícula.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848950" y="1603425"/>
            <a:ext cx="10470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319" name="Google Shape;319;p33"/>
          <p:cNvSpPr/>
          <p:nvPr/>
        </p:nvSpPr>
        <p:spPr>
          <a:xfrm>
            <a:off x="7493425" y="1196200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7657825" y="1045725"/>
            <a:ext cx="12537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7493425" y="1564605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7493425" y="1947525"/>
            <a:ext cx="164400" cy="16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3"/>
          <p:cNvSpPr/>
          <p:nvPr/>
        </p:nvSpPr>
        <p:spPr>
          <a:xfrm>
            <a:off x="7493425" y="2339143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33"/>
          <p:cNvCxnSpPr>
            <a:stCxn id="318" idx="3"/>
            <a:endCxn id="319" idx="2"/>
          </p:cNvCxnSpPr>
          <p:nvPr/>
        </p:nvCxnSpPr>
        <p:spPr>
          <a:xfrm rot="10800000" flipH="1">
            <a:off x="6895950" y="1278375"/>
            <a:ext cx="597600" cy="57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3"/>
          <p:cNvCxnSpPr>
            <a:stCxn id="318" idx="3"/>
            <a:endCxn id="321" idx="2"/>
          </p:cNvCxnSpPr>
          <p:nvPr/>
        </p:nvCxnSpPr>
        <p:spPr>
          <a:xfrm rot="10800000" flipH="1">
            <a:off x="6895950" y="1646775"/>
            <a:ext cx="597600" cy="2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3"/>
          <p:cNvCxnSpPr>
            <a:stCxn id="318" idx="3"/>
            <a:endCxn id="322" idx="2"/>
          </p:cNvCxnSpPr>
          <p:nvPr/>
        </p:nvCxnSpPr>
        <p:spPr>
          <a:xfrm>
            <a:off x="6895950" y="1857675"/>
            <a:ext cx="5976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3"/>
          <p:cNvCxnSpPr>
            <a:stCxn id="318" idx="3"/>
            <a:endCxn id="323" idx="2"/>
          </p:cNvCxnSpPr>
          <p:nvPr/>
        </p:nvCxnSpPr>
        <p:spPr>
          <a:xfrm>
            <a:off x="6895950" y="1857675"/>
            <a:ext cx="597600" cy="5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8" name="Google Shape;32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195" y="3482107"/>
            <a:ext cx="1046999" cy="107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4" name="Google Shape;33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7" name="Google Shape;337;p3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432750" y="921125"/>
            <a:ext cx="522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Qual deles eu devo definir como uma chave primária?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5848950" y="1603425"/>
            <a:ext cx="10470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340" name="Google Shape;340;p34"/>
          <p:cNvSpPr/>
          <p:nvPr/>
        </p:nvSpPr>
        <p:spPr>
          <a:xfrm>
            <a:off x="7493425" y="1196200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7657825" y="1045725"/>
            <a:ext cx="12537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7493425" y="1564605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7493425" y="1947525"/>
            <a:ext cx="164400" cy="16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7493425" y="2339143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5" name="Google Shape;345;p34"/>
          <p:cNvCxnSpPr>
            <a:stCxn id="339" idx="3"/>
            <a:endCxn id="340" idx="2"/>
          </p:cNvCxnSpPr>
          <p:nvPr/>
        </p:nvCxnSpPr>
        <p:spPr>
          <a:xfrm rot="10800000" flipH="1">
            <a:off x="6895950" y="1278375"/>
            <a:ext cx="597600" cy="57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4"/>
          <p:cNvCxnSpPr>
            <a:stCxn id="339" idx="3"/>
            <a:endCxn id="342" idx="2"/>
          </p:cNvCxnSpPr>
          <p:nvPr/>
        </p:nvCxnSpPr>
        <p:spPr>
          <a:xfrm rot="10800000" flipH="1">
            <a:off x="6895950" y="1646775"/>
            <a:ext cx="597600" cy="2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34"/>
          <p:cNvCxnSpPr>
            <a:stCxn id="339" idx="3"/>
            <a:endCxn id="343" idx="2"/>
          </p:cNvCxnSpPr>
          <p:nvPr/>
        </p:nvCxnSpPr>
        <p:spPr>
          <a:xfrm>
            <a:off x="6895950" y="1857675"/>
            <a:ext cx="5976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34"/>
          <p:cNvCxnSpPr>
            <a:stCxn id="339" idx="3"/>
            <a:endCxn id="344" idx="2"/>
          </p:cNvCxnSpPr>
          <p:nvPr/>
        </p:nvCxnSpPr>
        <p:spPr>
          <a:xfrm>
            <a:off x="6895950" y="1857675"/>
            <a:ext cx="597600" cy="5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9" name="Google Shape;34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195" y="3482107"/>
            <a:ext cx="1046999" cy="107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5" name="Google Shape;35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8" name="Google Shape;358;p3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432750" y="921125"/>
            <a:ext cx="52266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Qual deles eu devo definir como uma chave primária?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Vai depender do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escopo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do problema.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Como serão realizadas as consultas.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A maioria dos SGBD vincula um índice à chave primária.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5848950" y="1603425"/>
            <a:ext cx="1047000" cy="50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/>
              <a:t>Professor</a:t>
            </a:r>
            <a:endParaRPr b="1"/>
          </a:p>
        </p:txBody>
      </p:sp>
      <p:sp>
        <p:nvSpPr>
          <p:cNvPr id="361" name="Google Shape;361;p35"/>
          <p:cNvSpPr/>
          <p:nvPr/>
        </p:nvSpPr>
        <p:spPr>
          <a:xfrm>
            <a:off x="7493425" y="1196200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5"/>
          <p:cNvSpPr txBox="1"/>
          <p:nvPr/>
        </p:nvSpPr>
        <p:spPr>
          <a:xfrm>
            <a:off x="7657825" y="1045725"/>
            <a:ext cx="1253700" cy="16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Telefone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CPF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7493425" y="1564605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5"/>
          <p:cNvSpPr/>
          <p:nvPr/>
        </p:nvSpPr>
        <p:spPr>
          <a:xfrm>
            <a:off x="7493425" y="1947525"/>
            <a:ext cx="164400" cy="164400"/>
          </a:xfrm>
          <a:prstGeom prst="ellipse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5"/>
          <p:cNvSpPr/>
          <p:nvPr/>
        </p:nvSpPr>
        <p:spPr>
          <a:xfrm>
            <a:off x="7493425" y="2339143"/>
            <a:ext cx="164400" cy="16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282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6" name="Google Shape;366;p35"/>
          <p:cNvCxnSpPr>
            <a:stCxn id="360" idx="3"/>
            <a:endCxn id="361" idx="2"/>
          </p:cNvCxnSpPr>
          <p:nvPr/>
        </p:nvCxnSpPr>
        <p:spPr>
          <a:xfrm rot="10800000" flipH="1">
            <a:off x="6895950" y="1278375"/>
            <a:ext cx="597600" cy="57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35"/>
          <p:cNvCxnSpPr>
            <a:stCxn id="360" idx="3"/>
            <a:endCxn id="363" idx="2"/>
          </p:cNvCxnSpPr>
          <p:nvPr/>
        </p:nvCxnSpPr>
        <p:spPr>
          <a:xfrm rot="10800000" flipH="1">
            <a:off x="6895950" y="1646775"/>
            <a:ext cx="597600" cy="2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35"/>
          <p:cNvCxnSpPr>
            <a:stCxn id="360" idx="3"/>
            <a:endCxn id="364" idx="2"/>
          </p:cNvCxnSpPr>
          <p:nvPr/>
        </p:nvCxnSpPr>
        <p:spPr>
          <a:xfrm>
            <a:off x="6895950" y="1857675"/>
            <a:ext cx="597600" cy="17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35"/>
          <p:cNvCxnSpPr>
            <a:stCxn id="360" idx="3"/>
            <a:endCxn id="365" idx="2"/>
          </p:cNvCxnSpPr>
          <p:nvPr/>
        </p:nvCxnSpPr>
        <p:spPr>
          <a:xfrm>
            <a:off x="6895950" y="1857675"/>
            <a:ext cx="597600" cy="5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0" name="Google Shape;37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195" y="3482107"/>
            <a:ext cx="1046999" cy="107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Tipos de 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6" name="Google Shape;37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9" name="Google Shape;379;p3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432750" y="1073525"/>
            <a:ext cx="38661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SIMPLES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Formada por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apenas um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atributo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matrícula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4464275" y="1073525"/>
            <a:ext cx="38661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COMPOSTA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Formada por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dois ou mais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atributos.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Entidade (Localização)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nome da cidade e nome do estado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Tipos de 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7" name="Google Shape;38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0" name="Google Shape;390;p3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91" name="Google Shape;39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50" y="2003763"/>
            <a:ext cx="8416576" cy="15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7"/>
          <p:cNvSpPr txBox="1"/>
          <p:nvPr/>
        </p:nvSpPr>
        <p:spPr>
          <a:xfrm>
            <a:off x="361275" y="42168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Exemplos de dados armazenados na entidade “Localização”.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Tipos de 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1" name="Google Shape;401;p3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02" name="Google Shape;40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50" y="922010"/>
            <a:ext cx="8416576" cy="15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/>
        </p:nvSpPr>
        <p:spPr>
          <a:xfrm>
            <a:off x="806438" y="2945575"/>
            <a:ext cx="7558200" cy="1218600"/>
          </a:xfrm>
          <a:prstGeom prst="horizontalScroll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É importante destacar que </a:t>
            </a:r>
            <a:r>
              <a:rPr lang="pt-BR" sz="1600" b="1">
                <a:latin typeface="Maven Pro"/>
                <a:ea typeface="Maven Pro"/>
                <a:cs typeface="Maven Pro"/>
                <a:sym typeface="Maven Pro"/>
              </a:rPr>
              <a:t>não existe mais de uma chave primária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pt-BR" sz="1600" u="sng">
                <a:latin typeface="Maven Pro"/>
                <a:ea typeface="Maven Pro"/>
                <a:cs typeface="Maven Pro"/>
                <a:sym typeface="Maven Pro"/>
              </a:rPr>
              <a:t>por entidade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. Essa chave primária poderá ser </a:t>
            </a:r>
            <a:r>
              <a:rPr lang="pt-BR" sz="1600" b="1">
                <a:latin typeface="Maven Pro"/>
                <a:ea typeface="Maven Pro"/>
                <a:cs typeface="Maven Pro"/>
                <a:sym typeface="Maven Pro"/>
              </a:rPr>
              <a:t>simples 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ou </a:t>
            </a:r>
            <a:r>
              <a:rPr lang="pt-BR" sz="1600" b="1">
                <a:latin typeface="Maven Pro"/>
                <a:ea typeface="Maven Pro"/>
                <a:cs typeface="Maven Pro"/>
                <a:sym typeface="Maven Pro"/>
              </a:rPr>
              <a:t>composta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. </a:t>
            </a:r>
            <a:r>
              <a:rPr lang="pt-BR" sz="1600" u="sng">
                <a:latin typeface="Maven Pro"/>
                <a:ea typeface="Maven Pro"/>
                <a:cs typeface="Maven Pro"/>
                <a:sym typeface="Maven Pro"/>
              </a:rPr>
              <a:t>Mesmo composta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, </a:t>
            </a:r>
            <a:r>
              <a:rPr lang="pt-BR" sz="1600" b="1">
                <a:latin typeface="Maven Pro"/>
                <a:ea typeface="Maven Pro"/>
                <a:cs typeface="Maven Pro"/>
                <a:sym typeface="Maven Pro"/>
              </a:rPr>
              <a:t>é uma única chave primária</a:t>
            </a:r>
            <a:r>
              <a:rPr lang="pt-BR" sz="1600">
                <a:latin typeface="Maven Pro"/>
                <a:ea typeface="Maven Pro"/>
                <a:cs typeface="Maven Pro"/>
                <a:sym typeface="Maven Pro"/>
              </a:rPr>
              <a:t> composta de mais de um atributo.</a:t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Entidade Fraca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9" name="Google Shape;40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2" name="Google Shape;412;p3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13" name="Google Shape;413;p39"/>
          <p:cNvSpPr txBox="1"/>
          <p:nvPr/>
        </p:nvSpPr>
        <p:spPr>
          <a:xfrm>
            <a:off x="432750" y="1073525"/>
            <a:ext cx="83076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um tipo de entidade que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não possui atributo chave primária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por si só.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Não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possível definir uma chave primária,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nem simples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nem composta.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Depende de uma outra entidade.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relacionamento entre a entidade fraca e a outra entidade é normalmente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1:N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(Lê-se 1 para N)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Cardinalidade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Entidade Fraca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9" name="Google Shape;4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2" name="Google Shape;422;p4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23" name="Google Shape;4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75" y="1629045"/>
            <a:ext cx="8558849" cy="216667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361275" y="4064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 de uma entidade fraca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Entidade Fraca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0" name="Google Shape;43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3" name="Google Shape;433;p4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34" name="Google Shape;434;p41"/>
          <p:cNvSpPr txBox="1"/>
          <p:nvPr/>
        </p:nvSpPr>
        <p:spPr>
          <a:xfrm>
            <a:off x="361275" y="4064468"/>
            <a:ext cx="827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Exemplo de uma entidade fraca usando outra notação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5" name="Google Shape;4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5825"/>
            <a:ext cx="8839201" cy="217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1065</Words>
  <Application>Microsoft Office PowerPoint</Application>
  <PresentationFormat>Apresentação na tela (16:9)</PresentationFormat>
  <Paragraphs>310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Helvetica Neue</vt:lpstr>
      <vt:lpstr>Maven Pro</vt:lpstr>
      <vt:lpstr>Maven Pro SemiBold</vt:lpstr>
      <vt:lpstr>Nunito</vt:lpstr>
      <vt:lpstr>Maven Pro Medium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3</cp:revision>
  <dcterms:modified xsi:type="dcterms:W3CDTF">2025-08-10T18:58:54Z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2025-07-26T00:05:06Z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35495837-a90f-4ef2-9046-a764454dbb0f</vt:lpwstr>
  </property>
  <property fmtid="{D5CDD505-2E9C-101B-9397-08002B2CF9AE}" pid="7" name="MSIP_Label_defa4170-0d19-0005-0004-bc88714345d2_ActionId">
    <vt:lpwstr>4af3391b-7193-49ec-9790-3983abae8a5c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