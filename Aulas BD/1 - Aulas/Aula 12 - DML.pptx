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71" r:id="rId2"/>
    <p:sldId id="304" r:id="rId3"/>
    <p:sldId id="272" r:id="rId4"/>
    <p:sldId id="277" r:id="rId5"/>
    <p:sldId id="278" r:id="rId6"/>
    <p:sldId id="273" r:id="rId7"/>
    <p:sldId id="274" r:id="rId8"/>
    <p:sldId id="275" r:id="rId9"/>
    <p:sldId id="276" r:id="rId10"/>
    <p:sldId id="279" r:id="rId11"/>
    <p:sldId id="280" r:id="rId12"/>
    <p:sldId id="281" r:id="rId13"/>
    <p:sldId id="282" r:id="rId14"/>
    <p:sldId id="305" r:id="rId15"/>
    <p:sldId id="303" r:id="rId16"/>
  </p:sldIdLst>
  <p:sldSz cx="9144000" cy="5143500" type="screen16x9"/>
  <p:notesSz cx="6858000" cy="9144000"/>
  <p:embeddedFontLst>
    <p:embeddedFont>
      <p:font typeface="Maven Pro Medium" panose="020B0604020202020204" charset="0"/>
      <p:regular r:id="rId18"/>
      <p:bold r:id="rId19"/>
    </p:embeddedFont>
    <p:embeddedFont>
      <p:font typeface="Maven Pro SemiBold" panose="020B0604020202020204" charset="0"/>
      <p:regular r:id="rId20"/>
      <p:bold r:id="rId21"/>
    </p:embeddedFont>
    <p:embeddedFont>
      <p:font typeface="Nunit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426e5c9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0426e5c96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49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02eeda257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202eeda2570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379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02eeda2570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202eeda2570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430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426e5c96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0426e5c96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02eeda257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202eeda257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02eeda257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202eeda257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02eeda257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g202eeda257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02eeda257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202eeda257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02eeda2570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202eeda2570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02eeda257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202eeda2570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02eeda2570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202eeda2570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f573f7c11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1f573f7c11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55051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4" name="Google Shape;214;p28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15" name="Google Shape;21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Linguagem de manipulação de dados</a:t>
            </a:r>
            <a:b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</a:b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(DML)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418200" y="884275"/>
            <a:ext cx="82791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Vamos criar o banco da aula de hoje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865104C-3155-4476-AB9D-076F2D5B2D96}"/>
              </a:ext>
            </a:extLst>
          </p:cNvPr>
          <p:cNvSpPr txBox="1"/>
          <p:nvPr/>
        </p:nvSpPr>
        <p:spPr>
          <a:xfrm>
            <a:off x="511067" y="1448694"/>
            <a:ext cx="3332271" cy="2936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CREATE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DATABASE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escola;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CREATE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TABLE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alunos (</a:t>
            </a:r>
            <a:endParaRPr lang="pt-BR" sz="1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aluno_id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b="1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SERIAL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b="1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PRIMARY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b="1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KEY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</a:t>
            </a:r>
            <a:endParaRPr lang="pt-BR" sz="1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nome </a:t>
            </a:r>
            <a:r>
              <a:rPr lang="pt-BR" sz="1400" b="1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VARCHAR</a:t>
            </a:r>
            <a:r>
              <a:rPr lang="pt-BR" sz="1400" b="1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(100) </a:t>
            </a:r>
            <a:r>
              <a:rPr lang="pt-BR" sz="1400" b="1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NOT</a:t>
            </a:r>
            <a:r>
              <a:rPr lang="pt-BR" sz="1400" b="1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b="1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NULL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</a:t>
            </a:r>
            <a:endParaRPr lang="pt-BR" sz="1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idade </a:t>
            </a:r>
            <a:r>
              <a:rPr lang="pt-BR" sz="1400" b="1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INTEGER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i="1" kern="100" dirty="0">
                <a:latin typeface="Aptos"/>
                <a:ea typeface="Aptos"/>
                <a:cs typeface="Times New Roman" panose="02020603050405020304" pitchFamily="18" charset="0"/>
              </a:rPr>
              <a:t>    curso </a:t>
            </a:r>
            <a:r>
              <a:rPr lang="pt-BR" sz="1400" b="1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VARCHAR</a:t>
            </a:r>
            <a:r>
              <a:rPr lang="pt-BR" sz="1400" b="1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(100) </a:t>
            </a:r>
            <a:r>
              <a:rPr lang="pt-BR" sz="1400" b="1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NOT</a:t>
            </a:r>
            <a:r>
              <a:rPr lang="pt-BR" sz="1400" b="1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b="1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NULL</a:t>
            </a:r>
            <a:endParaRPr lang="pt-BR" sz="1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);</a:t>
            </a:r>
            <a:endParaRPr lang="pt-BR" sz="14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EA6CF0-3565-4E8A-B65D-EDD042AB390F}"/>
              </a:ext>
            </a:extLst>
          </p:cNvPr>
          <p:cNvSpPr txBox="1"/>
          <p:nvPr/>
        </p:nvSpPr>
        <p:spPr>
          <a:xfrm>
            <a:off x="4678254" y="1442444"/>
            <a:ext cx="4901515" cy="3362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CREATE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TABLE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notas (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nota_id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SERIAL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PRIMARY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KEY,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aluno_id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INTEGER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NOT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NULL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disciplina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VARCHAR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(100)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NOT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NULL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nota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NUMERIC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(5,2)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NOT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NULL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data_avaliacao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DATE DEFAULT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CURRENT_DATE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  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FOREIGN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KEY (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aluno_id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) 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REFERENCES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 alunos(</a:t>
            </a:r>
            <a:r>
              <a:rPr lang="pt-BR" sz="1400" i="1" kern="100" dirty="0" err="1">
                <a:effectLst/>
                <a:latin typeface="Aptos"/>
                <a:ea typeface="Aptos"/>
                <a:cs typeface="Times New Roman" panose="02020603050405020304" pitchFamily="18" charset="0"/>
              </a:rPr>
              <a:t>aluno_id</a:t>
            </a: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pt-BR" sz="1400" i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04889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418200" y="884275"/>
            <a:ext cx="8279100" cy="38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Linguagem de Manipulação de Dados (</a:t>
            </a:r>
            <a:r>
              <a:rPr lang="pt-BR" sz="1800" b="1" dirty="0" err="1">
                <a:latin typeface="Nunito"/>
                <a:ea typeface="Nunito"/>
                <a:cs typeface="Nunito"/>
                <a:sym typeface="Nunito"/>
              </a:rPr>
              <a:t>DML</a:t>
            </a: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)</a:t>
            </a: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A linguagem de manipulação de dados (</a:t>
            </a:r>
            <a:r>
              <a:rPr lang="pt-BR" sz="1800" i="1" dirty="0" err="1">
                <a:latin typeface="Nunito"/>
                <a:ea typeface="Nunito"/>
                <a:cs typeface="Nunito"/>
                <a:sym typeface="Nunito"/>
              </a:rPr>
              <a:t>DML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) é usada para 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consultar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e </a:t>
            </a:r>
            <a:r>
              <a:rPr lang="pt-BR" sz="1800" b="1" i="1" dirty="0">
                <a:latin typeface="Nunito"/>
                <a:ea typeface="Nunito"/>
                <a:cs typeface="Nunito"/>
                <a:sym typeface="Nunito"/>
              </a:rPr>
              <a:t>modificar</a:t>
            </a:r>
            <a:r>
              <a:rPr lang="pt-BR" sz="1800" i="1" dirty="0">
                <a:latin typeface="Nunito"/>
                <a:ea typeface="Nunito"/>
                <a:cs typeface="Nunito"/>
                <a:sym typeface="Nunito"/>
              </a:rPr>
              <a:t> dados dentro das tabelas de um banco de dados. </a:t>
            </a:r>
            <a:endParaRPr sz="1800" i="1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Os principais comandos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DML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são:</a:t>
            </a:r>
            <a:endParaRPr sz="18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: Recupera dados de uma tabela.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: Insere novos dados em uma tabela.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UPDATE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: Modifica dados existentes em uma tabela.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b="1" dirty="0">
                <a:latin typeface="Nunito"/>
                <a:ea typeface="Nunito"/>
                <a:cs typeface="Nunito"/>
                <a:sym typeface="Nunito"/>
              </a:rPr>
              <a:t>DELETE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: Remove dados de uma tabela.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79" name="Google Shape;27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2" name="Google Shape;282;p34"/>
          <p:cNvSpPr txBox="1"/>
          <p:nvPr/>
        </p:nvSpPr>
        <p:spPr>
          <a:xfrm>
            <a:off x="418200" y="960475"/>
            <a:ext cx="8279100" cy="2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INSERT: Inserindo Dados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O comando INSERT é usado para adicionar novas linhas a uma tabela.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ctr" rtl="0">
              <a:spcBef>
                <a:spcPts val="1000"/>
              </a:spcBef>
              <a:spcAft>
                <a:spcPts val="0"/>
              </a:spcAft>
              <a:buNone/>
            </a:pP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Sintaxe Básica: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4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84" name="Google Shape;28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775" y="3174125"/>
            <a:ext cx="7708012" cy="138879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027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90" name="Google Shape;29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418200" y="960475"/>
            <a:ext cx="8279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EXEMPLO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Inserir um novo aluno chamado Maria Silva, com 22 anos, no curso de Engenharia de Software.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3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95" name="Google Shape;29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9151" y="2146949"/>
            <a:ext cx="7257175" cy="1243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96" name="Google Shape;29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7925" y="3510425"/>
            <a:ext cx="3924325" cy="1243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974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2" name="Google Shape;23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418200" y="960475"/>
            <a:ext cx="82791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SELECT: Recuperando Dados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O comando SELECT é utilizado para consultar dados em uma tabela. É um dos comandos mais utilizados em SQL.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Sintaxe Básica: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4213" y="3015350"/>
            <a:ext cx="4607082" cy="16538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43" name="Google Shape;24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418200" y="960475"/>
            <a:ext cx="82791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EXEMPLO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Suponha que temos uma tabela chamada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Alunos 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com as seguintes colunas: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id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nome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idade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curso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.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31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48" name="Google Shape;2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824" y="2262000"/>
            <a:ext cx="2092050" cy="215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9800" y="2766128"/>
            <a:ext cx="4205450" cy="11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55" name="Google Shape;25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418200" y="960475"/>
            <a:ext cx="82791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EXEMPLO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Com o comando a seguir, podemos retornar os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nomes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 e as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idades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 dos alunos que estão matriculados no curso de </a:t>
            </a:r>
            <a:r>
              <a:rPr lang="pt-BR" sz="1800" b="1" i="1">
                <a:latin typeface="Nunito"/>
                <a:ea typeface="Nunito"/>
                <a:cs typeface="Nunito"/>
                <a:sym typeface="Nunito"/>
              </a:rPr>
              <a:t>Engenharia de Software</a:t>
            </a: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.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32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174" y="2766925"/>
            <a:ext cx="5428124" cy="14661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61" name="Google Shape;26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376" y="2975075"/>
            <a:ext cx="2122788" cy="9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67" name="Google Shape;26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418200" y="960475"/>
            <a:ext cx="8279100" cy="16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EXEMPLO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Para selecionar todas as Colunas: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1" name="Google Shape;271;p33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72" name="Google Shape;27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675" y="2706363"/>
            <a:ext cx="4538498" cy="145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73" name="Google Shape;27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1098" y="2895150"/>
            <a:ext cx="345757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02" name="Google Shape;30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418200" y="960475"/>
            <a:ext cx="8279100" cy="19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UPDATE: Atualizando Dados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O comando UPDATE é utilizado para modificar dados existentes em uma tabela.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Sintaxe Básica: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6" name="Google Shape;306;p36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07" name="Google Shape;30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788" y="3067675"/>
            <a:ext cx="6674363" cy="16538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13" name="Google Shape;31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6" name="Google Shape;316;p37"/>
          <p:cNvSpPr txBox="1"/>
          <p:nvPr/>
        </p:nvSpPr>
        <p:spPr>
          <a:xfrm>
            <a:off x="418200" y="960475"/>
            <a:ext cx="82791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EXEMPLO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Atualizar a idade da Maria Silva para 23 anos.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7" name="Google Shape;317;p37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18" name="Google Shape;31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542" y="2634899"/>
            <a:ext cx="4572019" cy="16918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9" name="Google Shape;31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1774" y="2867313"/>
            <a:ext cx="3816900" cy="12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7" name="Google Shape;327;p3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8" name="Google Shape;328;p38"/>
          <p:cNvSpPr txBox="1"/>
          <p:nvPr/>
        </p:nvSpPr>
        <p:spPr>
          <a:xfrm>
            <a:off x="418200" y="960475"/>
            <a:ext cx="8279100" cy="20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DELETE: Removendo Dados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O comando DELETE é usado para remover linhas de uma tabela.</a:t>
            </a: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457200" algn="ctr" rtl="0">
              <a:spcBef>
                <a:spcPts val="1000"/>
              </a:spcBef>
              <a:spcAft>
                <a:spcPts val="0"/>
              </a:spcAft>
              <a:buNone/>
            </a:pPr>
            <a:endParaRPr sz="1800" i="1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Sintaxe Básica: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p3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30" name="Google Shape;33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0599" y="3045325"/>
            <a:ext cx="5262814" cy="16745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Manipulação de Dados (DML)</a:t>
            </a:r>
            <a:endParaRPr sz="200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36" name="Google Shape;33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8" name="Google Shape;338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9" name="Google Shape;339;p39"/>
          <p:cNvSpPr txBox="1"/>
          <p:nvPr/>
        </p:nvSpPr>
        <p:spPr>
          <a:xfrm>
            <a:off x="418200" y="960475"/>
            <a:ext cx="82791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1800" b="1">
                <a:latin typeface="Nunito"/>
                <a:ea typeface="Nunito"/>
                <a:cs typeface="Nunito"/>
                <a:sym typeface="Nunito"/>
              </a:rPr>
              <a:t>EXEMPLO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800" i="1">
                <a:latin typeface="Nunito"/>
                <a:ea typeface="Nunito"/>
                <a:cs typeface="Nunito"/>
                <a:sym typeface="Nunito"/>
              </a:rPr>
              <a:t>Remover o aluno chamado Maria Silva da tabela Alunos.</a:t>
            </a:r>
            <a:endParaRPr sz="1800"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p3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41" name="Google Shape;34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575" y="2742131"/>
            <a:ext cx="4589024" cy="141512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42" name="Google Shape;34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1250" y="2881652"/>
            <a:ext cx="3986925" cy="113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Treinando SQL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418200" y="884275"/>
            <a:ext cx="82791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latin typeface="Nunito"/>
                <a:ea typeface="Nunito"/>
                <a:cs typeface="Nunito"/>
                <a:sym typeface="Nunito"/>
              </a:rPr>
              <a:t>Vamos criar alguns registros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29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" name="Google Shape;225;p29">
            <a:extLst>
              <a:ext uri="{FF2B5EF4-FFF2-40B4-BE49-F238E27FC236}">
                <a16:creationId xmlns:a16="http://schemas.microsoft.com/office/drawing/2014/main" id="{04FCB5AF-7000-496C-A1D8-EABD96D14E7E}"/>
              </a:ext>
            </a:extLst>
          </p:cNvPr>
          <p:cNvSpPr txBox="1"/>
          <p:nvPr/>
        </p:nvSpPr>
        <p:spPr>
          <a:xfrm>
            <a:off x="418200" y="1332007"/>
            <a:ext cx="8279100" cy="2923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1800" i="1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Insiram na tabela Alunos pelo menos 8 alunos com pelo menos 2 cursos diferentes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Modifiquem o dado de um desses alunos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Retornem os dados de todos os alunos da tabela</a:t>
            </a: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endParaRPr lang="pt-BR"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Removam 1 aluno</a:t>
            </a: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endParaRPr lang="pt-BR" sz="16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Salvem seus SQL, vamos precisar dessas informações na próxima aula</a:t>
            </a:r>
            <a:endParaRPr sz="16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164009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0"/>
          <p:cNvSpPr/>
          <p:nvPr/>
        </p:nvSpPr>
        <p:spPr>
          <a:xfrm>
            <a:off x="643050" y="7662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0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Continua na próxima aula…</a:t>
            </a:r>
            <a:endParaRPr sz="30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582" name="Google Shape;582;p60"/>
          <p:cNvSpPr txBox="1"/>
          <p:nvPr/>
        </p:nvSpPr>
        <p:spPr>
          <a:xfrm>
            <a:off x="559950" y="3760700"/>
            <a:ext cx="8024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UNIVERSIDADE DE RIO VERDE (UniRV)</a:t>
            </a: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Bacharelado em Engenharia de Software</a:t>
            </a:r>
            <a:endParaRPr sz="1500" b="0" i="0" u="none" strike="noStrike" cap="none">
              <a:solidFill>
                <a:srgbClr val="5E5E5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84" name="Google Shape;584;p60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07" y="3162901"/>
            <a:ext cx="1371774" cy="13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60" descr="Imag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4548" y="3317763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552</Words>
  <Application>Microsoft Office PowerPoint</Application>
  <PresentationFormat>Apresentação na tela (16:9)</PresentationFormat>
  <Paragraphs>104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Maven Pro Medium</vt:lpstr>
      <vt:lpstr>Nunito</vt:lpstr>
      <vt:lpstr>Arial</vt:lpstr>
      <vt:lpstr>Aptos</vt:lpstr>
      <vt:lpstr>Maven Pro SemiBold</vt:lpstr>
      <vt:lpstr>Helvetica Neue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6</cp:revision>
  <dcterms:modified xsi:type="dcterms:W3CDTF">2025-09-18T23:10:38Z</dcterms:modified>
</cp:coreProperties>
</file>