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6"/>
  </p:notesMasterIdLst>
  <p:sldIdLst>
    <p:sldId id="304" r:id="rId2"/>
    <p:sldId id="258" r:id="rId3"/>
    <p:sldId id="259" r:id="rId4"/>
    <p:sldId id="303" r:id="rId5"/>
    <p:sldId id="266" r:id="rId6"/>
    <p:sldId id="267" r:id="rId7"/>
    <p:sldId id="268" r:id="rId8"/>
    <p:sldId id="305" r:id="rId9"/>
    <p:sldId id="307" r:id="rId10"/>
    <p:sldId id="270" r:id="rId11"/>
    <p:sldId id="309" r:id="rId12"/>
    <p:sldId id="310" r:id="rId13"/>
    <p:sldId id="271" r:id="rId14"/>
    <p:sldId id="312" r:id="rId15"/>
    <p:sldId id="311" r:id="rId16"/>
    <p:sldId id="313" r:id="rId17"/>
    <p:sldId id="278" r:id="rId18"/>
    <p:sldId id="279" r:id="rId19"/>
    <p:sldId id="280" r:id="rId20"/>
    <p:sldId id="314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288" r:id="rId30"/>
    <p:sldId id="290" r:id="rId31"/>
    <p:sldId id="291" r:id="rId32"/>
    <p:sldId id="292" r:id="rId33"/>
    <p:sldId id="315" r:id="rId34"/>
    <p:sldId id="316" r:id="rId35"/>
    <p:sldId id="395" r:id="rId36"/>
    <p:sldId id="394" r:id="rId37"/>
    <p:sldId id="3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Helvetica Neue" panose="020B0604020202020204" charset="0"/>
      <p:regular r:id="rId51"/>
      <p:bold r:id="rId52"/>
      <p:italic r:id="rId53"/>
      <p:boldItalic r:id="rId54"/>
    </p:embeddedFont>
    <p:embeddedFont>
      <p:font typeface="Maven Pro" panose="020B0604020202020204" charset="0"/>
      <p:regular r:id="rId55"/>
      <p:bold r:id="rId56"/>
    </p:embeddedFont>
    <p:embeddedFont>
      <p:font typeface="Maven Pro Medium" panose="020B0604020202020204" charset="0"/>
      <p:regular r:id="rId57"/>
      <p:bold r:id="rId58"/>
    </p:embeddedFont>
    <p:embeddedFont>
      <p:font typeface="Maven Pro SemiBold" panose="020B0604020202020204" charset="0"/>
      <p:regular r:id="rId59"/>
      <p:bold r:id="rId60"/>
    </p:embeddedFont>
    <p:embeddedFont>
      <p:font typeface="Montserrat" panose="020B0604020202020204" charset="0"/>
      <p:regular r:id="rId61"/>
      <p:bold r:id="rId62"/>
      <p:italic r:id="rId63"/>
      <p:boldItalic r:id="rId64"/>
    </p:embeddedFont>
    <p:embeddedFont>
      <p:font typeface="Montserrat Medium" panose="020B0604020202020204" charset="0"/>
      <p:regular r:id="rId65"/>
      <p:bold r:id="rId66"/>
      <p:italic r:id="rId67"/>
      <p:boldItalic r:id="rId68"/>
    </p:embeddedFont>
    <p:embeddedFont>
      <p:font typeface="Nunito" panose="020B0604020202020204" charset="0"/>
      <p:regular r:id="rId69"/>
      <p:bold r:id="rId70"/>
      <p:italic r:id="rId71"/>
      <p:boldItalic r:id="rId72"/>
    </p:embeddedFont>
    <p:embeddedFont>
      <p:font typeface="Nunito Medium" panose="020B0604020202020204" charset="0"/>
      <p:regular r:id="rId73"/>
      <p:bold r:id="rId74"/>
      <p:italic r:id="rId75"/>
      <p:boldItalic r:id="rId76"/>
    </p:embeddedFont>
    <p:embeddedFont>
      <p:font typeface="Nunito SemiBold" panose="020B0604020202020204" charset="0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font" Target="fonts/font17.fntdata"/><Relationship Id="rId68" Type="http://schemas.openxmlformats.org/officeDocument/2006/relationships/font" Target="fonts/font22.fntdata"/><Relationship Id="rId76" Type="http://schemas.openxmlformats.org/officeDocument/2006/relationships/font" Target="fonts/font30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2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font" Target="fonts/font20.fntdata"/><Relationship Id="rId74" Type="http://schemas.openxmlformats.org/officeDocument/2006/relationships/font" Target="fonts/font28.fntdata"/><Relationship Id="rId79" Type="http://schemas.openxmlformats.org/officeDocument/2006/relationships/font" Target="fonts/font33.fntdata"/><Relationship Id="rId5" Type="http://schemas.openxmlformats.org/officeDocument/2006/relationships/slide" Target="slides/slide4.xml"/><Relationship Id="rId61" Type="http://schemas.openxmlformats.org/officeDocument/2006/relationships/font" Target="fonts/font15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73" Type="http://schemas.openxmlformats.org/officeDocument/2006/relationships/font" Target="fonts/font27.fntdata"/><Relationship Id="rId78" Type="http://schemas.openxmlformats.org/officeDocument/2006/relationships/font" Target="fonts/font32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font" Target="fonts/font23.fntdata"/><Relationship Id="rId77" Type="http://schemas.openxmlformats.org/officeDocument/2006/relationships/font" Target="fonts/font31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72" Type="http://schemas.openxmlformats.org/officeDocument/2006/relationships/font" Target="fonts/font26.fntdata"/><Relationship Id="rId80" Type="http://schemas.openxmlformats.org/officeDocument/2006/relationships/font" Target="fonts/font3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openxmlformats.org/officeDocument/2006/relationships/font" Target="fonts/font24.fntdata"/><Relationship Id="rId75" Type="http://schemas.openxmlformats.org/officeDocument/2006/relationships/font" Target="fonts/font29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099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3678FAFD-EFDA-6830-FCE4-78D50012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dabe4bd68_0_0:notes">
            <a:extLst>
              <a:ext uri="{FF2B5EF4-FFF2-40B4-BE49-F238E27FC236}">
                <a16:creationId xmlns:a16="http://schemas.microsoft.com/office/drawing/2014/main" id="{AE14F609-4929-746A-F582-A6CFDDBDE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2edabe4bd68_0_0:notes">
            <a:extLst>
              <a:ext uri="{FF2B5EF4-FFF2-40B4-BE49-F238E27FC236}">
                <a16:creationId xmlns:a16="http://schemas.microsoft.com/office/drawing/2014/main" id="{ED41D686-0254-FFE6-7D0D-673A14B78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735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dabe4bd68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2edabe4bd68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dabe4bd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edabe4bd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dabe4bd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edabe4bd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70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dabe4bd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edabe4bd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42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efeae04fd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1efeae04fd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dabe4bd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edabe4bd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864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dabe4bd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edabe4bd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067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efeae04fd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efeae04fd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dabe4bd68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2edabe4bd68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198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dabe4bd68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2edabe4bd68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2287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dabe4bd6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2edabe4bd68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654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dabe4bd68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2edabe4bd68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dabe4bd68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2edabe4bd68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feae04fd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1efeae04fd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feae04fd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1efeae04fd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70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efeae04fd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efeae04fd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efeae04fdf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1efeae04fdf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efeae04fdf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1efeae04fdf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efeae04fd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g1efeae04fd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efeae04fd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g1efeae04fd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efeae04fdf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1efeae04fdf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efeae04fd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1efeae04fd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edabe4bd68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g2edabe4bd68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efeae04fdf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1efeae04fdf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efeae04fdf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g1efeae04fdf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feae04fdf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g1efeae04fdf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efeae04fdf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1efeae04fdf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0722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efeae04fdf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1efeae04fdf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0559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efeae04fdf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1efeae04fdf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919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efeae04fdf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1efeae04fdf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7473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efeae04fdf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1efeae04fdf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371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efeae04fdf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1efeae04fdf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efeae04fdf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g1efeae04fdf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feae04fdf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g1efeae04fdf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efeae04fdf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1efeae04fdf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efeae04fdf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1efeae04fdf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efeae04fdf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1efeae04fdf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edabe4bd68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2edabe4bd68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pearson.unirv.edu.b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1.globo.com/tecnologia/noticia/2024/07/20/bug-do-milenio-atrasado-entenda-medo-global-na-virada-dos-anos-2000.ghtml" TargetMode="Externa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Banco de Dados</a:t>
            </a:r>
            <a:endParaRPr sz="3200" b="0" i="0" u="none" strike="noStrike" cap="none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948816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rgbClr val="FFFFFF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Apresentação (Ementa)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50"/>
            <a:ext cx="1745215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82958" y="4774142"/>
            <a:ext cx="1956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10589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latin typeface="Nunito SemiBold"/>
                <a:ea typeface="Nunito SemiBold"/>
                <a:cs typeface="Nunito SemiBold"/>
                <a:sym typeface="Nunito SemiBold"/>
              </a:rPr>
              <a:t>BANCO DE DADOS</a:t>
            </a:r>
            <a:endParaRPr sz="1800" b="0" i="0" u="none" strike="noStrike" cap="none">
              <a:solidFill>
                <a:srgbClr val="000000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32750" y="1934225"/>
            <a:ext cx="8361000" cy="16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33147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lang="pt-BR" sz="14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Ementa:</a:t>
            </a:r>
            <a:r>
              <a:rPr lang="pt-BR" sz="1400" b="0" i="0" u="none" strike="noStrike" cap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r>
              <a:rPr lang="pt-BR">
                <a:latin typeface="Nunito Medium"/>
                <a:ea typeface="Nunito Medium"/>
                <a:cs typeface="Nunito Medium"/>
                <a:sym typeface="Nunito Medium"/>
              </a:rPr>
              <a:t>Conceitos básicos de um SGBD. Estrutura de um SGBD. Linguagem de definição de dados e Linguagem de manipulação de dados. O modelo relacional. Aspectos de implementação dos SGBDs relacionais: indexação, métodos de acesso e "bufferização". Estrutura de arquivos e armazenamento. Store procedures. Replicação de dados. Acesso remoto. Padrão ODBC. Aspectos de integridade, segurança e privacidade. Elaboração e implementação de um projeto de Sistemas de Banco de Dados. Aspectos de segurança, integridade e privacidade: autorizações, visões, bloqueios, triggers, asserções. Novas aplicações para Banco de Dados..</a:t>
            </a:r>
            <a:r>
              <a:rPr lang="pt-BR" sz="1400" b="0" i="0" u="none" strike="noStrike" cap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rgbClr val="FFFFFF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Bibliografia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937275" y="40919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https://pearson.unirv.edu.br/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782958" y="4774142"/>
            <a:ext cx="1956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1300" y="1159624"/>
            <a:ext cx="1962525" cy="26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6850" y="1159625"/>
            <a:ext cx="1998893" cy="26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1106450" y="3782850"/>
            <a:ext cx="165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202124"/>
                </a:solidFill>
                <a:highlight>
                  <a:srgbClr val="FFFFFF"/>
                </a:highlight>
              </a:rPr>
              <a:t>Christopher J. Date</a:t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5424" y="1159625"/>
            <a:ext cx="2036207" cy="26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323BDA76-FA7C-5B08-1B9C-6F242CC9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>
            <a:extLst>
              <a:ext uri="{FF2B5EF4-FFF2-40B4-BE49-F238E27FC236}">
                <a16:creationId xmlns:a16="http://schemas.microsoft.com/office/drawing/2014/main" id="{6C0FD0A3-6B58-CD40-857C-323281F8E4E1}"/>
              </a:ext>
            </a:extLst>
          </p:cNvPr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2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1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Metodologia de Avaliação</a:t>
            </a:r>
            <a:r>
              <a:rPr lang="pt-BR" sz="22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	</a:t>
            </a:r>
            <a:endParaRPr sz="22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2" name="Google Shape;112;p18">
            <a:extLst>
              <a:ext uri="{FF2B5EF4-FFF2-40B4-BE49-F238E27FC236}">
                <a16:creationId xmlns:a16="http://schemas.microsoft.com/office/drawing/2014/main" id="{4C6543A9-C81D-5FDC-CCCB-0E2BF905E9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>
            <a:extLst>
              <a:ext uri="{FF2B5EF4-FFF2-40B4-BE49-F238E27FC236}">
                <a16:creationId xmlns:a16="http://schemas.microsoft.com/office/drawing/2014/main" id="{28BF5379-4D27-569E-A252-B8C46F096720}"/>
              </a:ext>
            </a:extLst>
          </p:cNvPr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4" name="Google Shape;114;p18">
            <a:extLst>
              <a:ext uri="{FF2B5EF4-FFF2-40B4-BE49-F238E27FC236}">
                <a16:creationId xmlns:a16="http://schemas.microsoft.com/office/drawing/2014/main" id="{87F06792-4FC1-B368-A57A-D1CC9D8AD193}"/>
              </a:ext>
            </a:extLst>
          </p:cNvPr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5" name="Google Shape;115;p18">
            <a:extLst>
              <a:ext uri="{FF2B5EF4-FFF2-40B4-BE49-F238E27FC236}">
                <a16:creationId xmlns:a16="http://schemas.microsoft.com/office/drawing/2014/main" id="{18C1CD57-6CCB-266B-434A-9431109BDE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19576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C0F79885-74F3-F44D-C51E-17C6D810CEC4}"/>
              </a:ext>
            </a:extLst>
          </p:cNvPr>
          <p:cNvSpPr txBox="1"/>
          <p:nvPr/>
        </p:nvSpPr>
        <p:spPr>
          <a:xfrm>
            <a:off x="1517425" y="1078350"/>
            <a:ext cx="7276500" cy="370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unito"/>
              <a:buChar char="●"/>
            </a:pPr>
            <a:r>
              <a:rPr lang="pt-BR" sz="1800" b="1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Avaliação 1</a:t>
            </a: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unito"/>
              <a:buChar char="○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Avaliação </a:t>
            </a:r>
            <a:r>
              <a:rPr lang="pt-BR" sz="1800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(Peso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7</a:t>
            </a:r>
            <a:r>
              <a:rPr lang="pt-BR" sz="1800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sz="1500" b="0" i="1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unito"/>
              <a:buChar char="○"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Atividades (Peso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pt-BR" sz="1800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pt-BR" sz="1300" i="1" u="sng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Avaliação 2</a:t>
            </a:r>
          </a:p>
          <a:p>
            <a:pPr marL="914400" lvl="1" indent="-342900">
              <a:buSzPts val="1800"/>
              <a:buFont typeface="Nunito"/>
              <a:buChar char="○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Avaliação (Peso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7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lang="pt-BR" sz="15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42900">
              <a:buSzPts val="1800"/>
              <a:buFont typeface="Nunito"/>
              <a:buChar char="○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Atividades (Peso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lang="pt-BR" sz="1300" i="1" u="sng" dirty="0">
              <a:latin typeface="Nunito"/>
              <a:ea typeface="Nunito"/>
              <a:cs typeface="Nunito"/>
              <a:sym typeface="Nunito"/>
            </a:endParaRPr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Avaliação 3</a:t>
            </a:r>
          </a:p>
          <a:p>
            <a:pPr marL="914400" lvl="1" indent="-342900">
              <a:buSzPts val="1800"/>
              <a:buFont typeface="Nunito"/>
              <a:buChar char="○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Avaliação (Peso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lang="pt-BR" sz="15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42900">
              <a:buSzPts val="1800"/>
              <a:buFont typeface="Nunito"/>
              <a:buChar char="○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Atividades (Peso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6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lang="pt-BR" sz="1300" i="1" u="sng" dirty="0">
              <a:latin typeface="Nunito"/>
              <a:ea typeface="Nunito"/>
              <a:cs typeface="Nunito"/>
              <a:sym typeface="Nunito"/>
            </a:endParaRPr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pt-BR" sz="18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41328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Introdução à Banco de Dados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418200" y="8244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O que são dados ?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8" name="Google Shape;188;p2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418200" y="1341475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18200" y="824450"/>
            <a:ext cx="8307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O que são dados ?</a:t>
            </a:r>
            <a:endParaRPr sz="20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116464" y="1341475"/>
            <a:ext cx="8953884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Tudo que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podemos inferir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ou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coletar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sobre uma situação específica.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São valores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brutos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isolados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que, por si só, não possuem significado específico.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 dado considerado isoladamente não representa uma informação útil</a:t>
            </a: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Exemplo de dados:</a:t>
            </a:r>
          </a:p>
          <a:p>
            <a:pPr marL="18288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○"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quantidade de carteiras</a:t>
            </a:r>
          </a:p>
          <a:p>
            <a:pPr marL="18288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○"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 da parede</a:t>
            </a:r>
          </a:p>
          <a:p>
            <a:pPr marL="18288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○"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dimensões da sala</a:t>
            </a:r>
          </a:p>
          <a:p>
            <a:pPr marL="18288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○"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entre outros.</a:t>
            </a:r>
            <a:endParaRPr lang="pt-BR" sz="2000" i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18200" y="824450"/>
            <a:ext cx="8307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Domínio de um dado</a:t>
            </a:r>
            <a:endParaRPr sz="20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73652" y="1341475"/>
            <a:ext cx="9070348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domínio de um dado é o conjunto dos valores que um dado pode armazenar:</a:t>
            </a:r>
          </a:p>
          <a:p>
            <a:pPr marL="457200" lvl="1" indent="-336550"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1" indent="-336550"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Funciona como uma regra ou limite que define quais valores são permitidos para aquele dado.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Está ligado ao tipo de dado (inteiro, texto, data etc.) e, às vezes, a restrições adicionais (intervalos, listas de valores permitidos, formato).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5669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18200" y="824450"/>
            <a:ext cx="8307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Domínio de um dado</a:t>
            </a:r>
            <a:endParaRPr sz="20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0B545C3-FA16-4839-B749-A34671043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592611"/>
              </p:ext>
            </p:extLst>
          </p:nvPr>
        </p:nvGraphicFramePr>
        <p:xfrm>
          <a:off x="996125" y="1839912"/>
          <a:ext cx="7467600" cy="146367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581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r>
                        <a:rPr lang="pt-BR" sz="1800" b="1" dirty="0"/>
                        <a:t>Tipo de dado</a:t>
                      </a:r>
                      <a:endParaRPr lang="pt-BR" sz="1800" dirty="0"/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/>
                        <a:t>Domínio</a:t>
                      </a:r>
                      <a:endParaRPr lang="pt-BR" sz="1800"/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pt-BR" sz="1800" dirty="0"/>
                        <a:t>Define a forma do dado </a:t>
                      </a:r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Define o </a:t>
                      </a:r>
                      <a:r>
                        <a:rPr lang="pt-BR" sz="1800" b="1" dirty="0"/>
                        <a:t>conjunto exato</a:t>
                      </a:r>
                      <a:r>
                        <a:rPr lang="pt-BR" sz="1800" dirty="0"/>
                        <a:t> de valores válidos</a:t>
                      </a:r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pt-BR" sz="1800" dirty="0"/>
                        <a:t>Ex.: INT</a:t>
                      </a:r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Ex.: 0 a 120</a:t>
                      </a:r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pt-BR" sz="1800" dirty="0"/>
                        <a:t>Ex.: CHAR(2)</a:t>
                      </a:r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Ex.: "SP", "RJ", "MG"</a:t>
                      </a:r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65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3" name="Google Shape;223;p2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418200" y="2484475"/>
            <a:ext cx="8279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Os </a:t>
            </a:r>
            <a:r>
              <a:rPr lang="pt-BR" sz="2100" b="1">
                <a:latin typeface="Nunito"/>
                <a:ea typeface="Nunito"/>
                <a:cs typeface="Nunito"/>
                <a:sym typeface="Nunito"/>
              </a:rPr>
              <a:t>dados úteis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 são chamados de </a:t>
            </a:r>
            <a:r>
              <a:rPr lang="pt-BR" sz="2100" b="1">
                <a:latin typeface="Nunito"/>
                <a:ea typeface="Nunito"/>
                <a:cs typeface="Nunito"/>
                <a:sym typeface="Nunito"/>
              </a:rPr>
              <a:t>informação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!</a:t>
            </a:r>
            <a:endParaRPr sz="2100" i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18200" y="824450"/>
            <a:ext cx="8307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O que é Informação?</a:t>
            </a:r>
            <a:endParaRPr lang="pt-BR" sz="20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32624" y="1341475"/>
            <a:ext cx="8711375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É o dado associado à sua semântica (metadado);</a:t>
            </a:r>
          </a:p>
          <a:p>
            <a:pPr marL="457200" indent="-336550"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Quando os dados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são organizados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contextualizados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eles se transformam em </a:t>
            </a:r>
            <a:r>
              <a:rPr lang="pt-BR" sz="2000" b="1" u="sng" dirty="0">
                <a:latin typeface="Nunito"/>
                <a:ea typeface="Nunito"/>
                <a:cs typeface="Nunito"/>
                <a:sym typeface="Nunito"/>
              </a:rPr>
              <a:t>informação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informação têm significado intrínseco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É o resultado do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processamento de dados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para dar-lhes significado.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informação é um recurso valioso que permite gerar e difundir conhecimento.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6325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18200" y="824450"/>
            <a:ext cx="8307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O que é Informação?</a:t>
            </a:r>
            <a:endParaRPr lang="pt-BR" sz="20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32624" y="1341475"/>
            <a:ext cx="8711375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Exemplo: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Paulo: 		aluno de informática;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16/06/2001: 	primeira aula de sistemas distribuídos;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R$ 120,00: 	valor pago de telefone pelo acesso Internet.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27140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1" name="Google Shape;23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4" name="Google Shape;234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418200" y="1189075"/>
            <a:ext cx="8279100" cy="29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Por convenção, na </a:t>
            </a:r>
            <a:r>
              <a:rPr lang="pt-BR" sz="2100" b="1">
                <a:latin typeface="Nunito"/>
                <a:ea typeface="Nunito"/>
                <a:cs typeface="Nunito"/>
                <a:sym typeface="Nunito"/>
              </a:rPr>
              <a:t>área de banco de dados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, os termos “</a:t>
            </a:r>
            <a:r>
              <a:rPr lang="pt-BR" sz="2100" b="1" u="sng">
                <a:latin typeface="Nunito"/>
                <a:ea typeface="Nunito"/>
                <a:cs typeface="Nunito"/>
                <a:sym typeface="Nunito"/>
              </a:rPr>
              <a:t>informação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” e “</a:t>
            </a:r>
            <a:r>
              <a:rPr lang="pt-BR" sz="2100" b="1" u="sng">
                <a:latin typeface="Nunito"/>
                <a:ea typeface="Nunito"/>
                <a:cs typeface="Nunito"/>
                <a:sym typeface="Nunito"/>
              </a:rPr>
              <a:t>dado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” </a:t>
            </a:r>
            <a:r>
              <a:rPr lang="pt-BR" sz="2100" i="1">
                <a:latin typeface="Nunito"/>
                <a:ea typeface="Nunito"/>
                <a:cs typeface="Nunito"/>
                <a:sym typeface="Nunito"/>
              </a:rPr>
              <a:t>significam a mesma coisa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. 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Pois  devemos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armazenar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apenas </a:t>
            </a:r>
            <a:r>
              <a:rPr lang="pt-BR" sz="1800" u="sng">
                <a:latin typeface="Nunito"/>
                <a:ea typeface="Nunito"/>
                <a:cs typeface="Nunito"/>
                <a:sym typeface="Nunito"/>
              </a:rPr>
              <a:t>aquilo que é útil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para a nossa aplicação. 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Daqui para frente, </a:t>
            </a:r>
            <a:r>
              <a:rPr lang="pt-BR" sz="1800" u="sng">
                <a:latin typeface="Nunito"/>
                <a:ea typeface="Nunito"/>
                <a:cs typeface="Nunito"/>
                <a:sym typeface="Nunito"/>
              </a:rPr>
              <a:t>os dois termos serão usados como sinônimos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418200" y="9768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Base de Dados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3" name="Google Shape;30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6" name="Google Shape;306;p3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07" name="Google Shape;307;p34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34"/>
          <p:cNvSpPr txBox="1"/>
          <p:nvPr/>
        </p:nvSpPr>
        <p:spPr>
          <a:xfrm>
            <a:off x="418200" y="1493875"/>
            <a:ext cx="8279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É uma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coleção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organizada de dados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que pode ser facilmente acessada, gerenciada e atualizada.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Logicamente coerente com significado intrínseco;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Agrupados e definidos com um objetivo bem determinado;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Representa alguns aspectos do mundo real.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232993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418200" y="9768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Base de Dados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3" name="Google Shape;30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6" name="Google Shape;306;p3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07" name="Google Shape;307;p34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34"/>
          <p:cNvSpPr txBox="1"/>
          <p:nvPr/>
        </p:nvSpPr>
        <p:spPr>
          <a:xfrm>
            <a:off x="418200" y="1493875"/>
            <a:ext cx="8279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 ser um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conjunto de tabelas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arquivos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ou qualquer outra forma estruturada de armazenar dados.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Uma base de dados terá um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nome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e este nome deverá representar o que aquela base armazena.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Exemplo de base de dados:</a:t>
            </a:r>
            <a:endParaRPr sz="20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8288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○"/>
            </a:pP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20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planilha do Excel</a:t>
            </a:r>
            <a:r>
              <a:rPr lang="pt-BR" sz="20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contendo os nomes, idades e endereços de clientes.</a:t>
            </a:r>
            <a:endParaRPr sz="20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150167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18200" y="824450"/>
            <a:ext cx="8307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Metadados</a:t>
            </a:r>
            <a:endParaRPr sz="20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" name="Google Shape;202;p25">
            <a:extLst>
              <a:ext uri="{FF2B5EF4-FFF2-40B4-BE49-F238E27FC236}">
                <a16:creationId xmlns:a16="http://schemas.microsoft.com/office/drawing/2014/main" id="{36DE5E6E-ECE0-4121-900E-6A1CCD782007}"/>
              </a:ext>
            </a:extLst>
          </p:cNvPr>
          <p:cNvSpPr txBox="1"/>
          <p:nvPr/>
        </p:nvSpPr>
        <p:spPr>
          <a:xfrm>
            <a:off x="418200" y="1341475"/>
            <a:ext cx="87258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Dados sobre os dados”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São os dados referentes à estrutura dos dados em um banco de dados armazenado no dicionário de dados;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Os metadados são usados para descrever tabelas, colunas, restrições, índices e assim por diante.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49284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4" name="Google Shape;314;p35"/>
          <p:cNvSpPr txBox="1"/>
          <p:nvPr/>
        </p:nvSpPr>
        <p:spPr>
          <a:xfrm>
            <a:off x="418200" y="9768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Banco de Dados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5" name="Google Shape;31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8" name="Google Shape;318;p3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418200" y="1493875"/>
            <a:ext cx="8279100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a Base de Dados + Metadados: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um repositório que armazena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bases de dados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de </a:t>
            </a: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forma estruturada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. 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Pode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suportar múltiplas bases de dados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Esquema: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projeto geral do DB; descrição da estrutura; definição dos dados.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Instância: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dados contidos em um determinado instante.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7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418200" y="9768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Banco de Dados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7" name="Google Shape;3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0" name="Google Shape;330;p3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418200" y="1493875"/>
            <a:ext cx="8279100" cy="149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gerenciado por um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Sistema de Gerenciamento de Banco de Dados (</a:t>
            </a: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unito"/>
              <a:buChar char="●"/>
            </a:pPr>
            <a:r>
              <a:rPr lang="pt-BR" sz="17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Dentro de um </a:t>
            </a:r>
            <a:r>
              <a:rPr lang="pt-BR" sz="17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7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você pode criar diversos banco de dados.</a:t>
            </a:r>
            <a:endParaRPr sz="1700" i="1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8" name="Google Shape;33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0" name="Google Shape;340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1" name="Google Shape;341;p3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42" name="Google Shape;342;p37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37"/>
          <p:cNvSpPr txBox="1"/>
          <p:nvPr/>
        </p:nvSpPr>
        <p:spPr>
          <a:xfrm>
            <a:off x="418200" y="1341475"/>
            <a:ext cx="82791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dirty="0">
                <a:latin typeface="Nunito"/>
                <a:ea typeface="Nunito"/>
                <a:cs typeface="Nunito"/>
                <a:sym typeface="Nunito"/>
              </a:rPr>
              <a:t>O Que É um Sistema de Banco de Dados (SBD) ?</a:t>
            </a: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Computacionalmente, um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Sistema de Banco de Dados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é uma </a:t>
            </a:r>
            <a:r>
              <a:rPr lang="pt-BR" sz="1800" b="1" u="sng" dirty="0">
                <a:latin typeface="Nunito"/>
                <a:ea typeface="Nunito"/>
                <a:cs typeface="Nunito"/>
                <a:sym typeface="Nunito"/>
              </a:rPr>
              <a:t>ferramenta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que será utilizada para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armazenar informações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Responsável pela criação (definição e construção) e pela manipulação das bases de dados: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8" name="Google Shape;33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0" name="Google Shape;340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1" name="Google Shape;341;p3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42" name="Google Shape;342;p37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37"/>
          <p:cNvSpPr txBox="1"/>
          <p:nvPr/>
        </p:nvSpPr>
        <p:spPr>
          <a:xfrm>
            <a:off x="418200" y="1341475"/>
            <a:ext cx="8279100" cy="415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dirty="0">
                <a:latin typeface="Nunito"/>
                <a:ea typeface="Nunito"/>
                <a:cs typeface="Nunito"/>
                <a:sym typeface="Nunito"/>
              </a:rPr>
              <a:t>O Que É um Sistema de Banco de Dados (SBD) ?</a:t>
            </a: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Definição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: especificação dos tipos de dados que serão armazenados juntamente com a descrição detalhada de cada tipo;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Construção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: processo de armazenamento dos dados em um meio físico controlado pelo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Manipulação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: recuperação e atualização de dados específicos contidos na base de dados com a finalidade de refletir mudanças da realidade representada.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629712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Essa ferramenta possui três principais características: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0" name="Google Shape;35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2" name="Google Shape;352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3" name="Google Shape;353;p3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54" name="Google Shape;354;p38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38"/>
          <p:cNvSpPr txBox="1"/>
          <p:nvPr/>
        </p:nvSpPr>
        <p:spPr>
          <a:xfrm>
            <a:off x="418200" y="1874875"/>
            <a:ext cx="82791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Armazenar os dados.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Relacionar os dados armazenados.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Recuperar os dados rapidamente.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1" name="Google Shape;36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4" name="Google Shape;364;p3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6" name="Google Shape;366;p39"/>
          <p:cNvSpPr txBox="1"/>
          <p:nvPr/>
        </p:nvSpPr>
        <p:spPr>
          <a:xfrm>
            <a:off x="418200" y="1036675"/>
            <a:ext cx="82791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O Que É um Sistema Gerenciador de Banco de Dados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2100" b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)?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É uma ferramenta muito mais completa que um Sistema de Banco de Dados.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 SGBD disponibiliza uma série de funcionalidades que permitem controlar e acompanhar melhor os dados armazenados.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Exemplos: MySQL, Oracle Database, Microsoft SQL Server, entre outros.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2" name="Google Shape;372;p40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As principais características de um SGBD são: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3" name="Google Shape;37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6" name="Google Shape;376;p4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77" name="Google Shape;377;p40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p40"/>
          <p:cNvSpPr txBox="1"/>
          <p:nvPr/>
        </p:nvSpPr>
        <p:spPr>
          <a:xfrm>
            <a:off x="418200" y="1874875"/>
            <a:ext cx="8279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acesso concorrente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Realizar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gerenciamento de transações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e aplicar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de segurança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que garantam 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da base de dados.</a:t>
            </a: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4" name="Google Shape;384;p41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As principais características de um SGBD são: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5" name="Google Shape;38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7" name="Google Shape;387;p4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8" name="Google Shape;388;p4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418200" y="1874875"/>
            <a:ext cx="8279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acesso concorrente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Realizar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gerenciamento de transações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e aplicar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de segurança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que garantam 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da base de dados.</a:t>
            </a: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41"/>
          <p:cNvSpPr/>
          <p:nvPr/>
        </p:nvSpPr>
        <p:spPr>
          <a:xfrm>
            <a:off x="5481825" y="1427925"/>
            <a:ext cx="2883900" cy="1308300"/>
          </a:xfrm>
          <a:prstGeom prst="wedgeRectCallout">
            <a:avLst>
              <a:gd name="adj1" fmla="val -95172"/>
              <a:gd name="adj2" fmla="val -485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Duas ou mais pessoas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acessem </a:t>
            </a: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uma mesma base de dados ao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mesmo tempo</a:t>
            </a: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7" name="Google Shape;397;p42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As principais características de um SGBD são: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8" name="Google Shape;39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0" name="Google Shape;400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1" name="Google Shape;401;p4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02" name="Google Shape;402;p42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418200" y="1874875"/>
            <a:ext cx="8279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acesso concorrente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Realizar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gerenciamento de transações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e aplicar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de segurança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que garantam 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da base de dados.</a:t>
            </a: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5481825" y="1427925"/>
            <a:ext cx="2883900" cy="1824300"/>
          </a:xfrm>
          <a:prstGeom prst="wedgeRectCallout">
            <a:avLst>
              <a:gd name="adj1" fmla="val -61732"/>
              <a:gd name="adj2" fmla="val 2294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Uma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transação </a:t>
            </a: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possui várias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operações</a:t>
            </a: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Falha durante uma transação?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- Antes e Depois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0" name="Google Shape;410;p43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As principais características de um SGBD são: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1" name="Google Shape;41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3" name="Google Shape;413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4" name="Google Shape;414;p4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15" name="Google Shape;415;p43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6" name="Google Shape;416;p43"/>
          <p:cNvSpPr txBox="1"/>
          <p:nvPr/>
        </p:nvSpPr>
        <p:spPr>
          <a:xfrm>
            <a:off x="418200" y="1874875"/>
            <a:ext cx="8279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acesso concorrente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Realizar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gerenciamento de transações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e aplicar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de segurança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que garantam 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da base de dados.</a:t>
            </a: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7" name="Google Shape;417;p43"/>
          <p:cNvSpPr/>
          <p:nvPr/>
        </p:nvSpPr>
        <p:spPr>
          <a:xfrm>
            <a:off x="5481825" y="1427925"/>
            <a:ext cx="2883900" cy="1824300"/>
          </a:xfrm>
          <a:prstGeom prst="wedgeRectCallout">
            <a:avLst>
              <a:gd name="adj1" fmla="val -67435"/>
              <a:gd name="adj2" fmla="val 6351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Definição de login e senha.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Acesso ao SGBD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Acesso aos dados armazenados.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As principais características de um SGBD são: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4" name="Google Shape;42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7" name="Google Shape;427;p4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28" name="Google Shape;428;p44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p44"/>
          <p:cNvSpPr txBox="1"/>
          <p:nvPr/>
        </p:nvSpPr>
        <p:spPr>
          <a:xfrm>
            <a:off x="418200" y="1874875"/>
            <a:ext cx="8279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acesso concorrente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Realizar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gerenciamento de transações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e aplicar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de segurança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às bases de dados;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Permitir criar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regras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que garantam 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da base de dados.</a:t>
            </a:r>
            <a:endParaRPr sz="17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0" name="Google Shape;430;p44"/>
          <p:cNvSpPr/>
          <p:nvPr/>
        </p:nvSpPr>
        <p:spPr>
          <a:xfrm>
            <a:off x="5481825" y="1427925"/>
            <a:ext cx="2883900" cy="2100600"/>
          </a:xfrm>
          <a:prstGeom prst="wedgeRectCallout">
            <a:avLst>
              <a:gd name="adj1" fmla="val -45659"/>
              <a:gd name="adj2" fmla="val 85241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Uma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regra </a:t>
            </a: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para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toda </a:t>
            </a: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a </a:t>
            </a:r>
            <a:r>
              <a:rPr lang="pt-BR" b="1">
                <a:latin typeface="Montserrat"/>
                <a:ea typeface="Montserrat"/>
                <a:cs typeface="Montserrat"/>
                <a:sym typeface="Montserrat"/>
              </a:rPr>
              <a:t>base de dados.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As aplicações podem utilizar.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❏"/>
            </a:pPr>
            <a:r>
              <a:rPr lang="pt-BR">
                <a:latin typeface="Montserrat Medium"/>
                <a:ea typeface="Montserrat Medium"/>
                <a:cs typeface="Montserrat Medium"/>
                <a:sym typeface="Montserrat Medium"/>
              </a:rPr>
              <a:t>Ex: estados, parcelamentos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Relação entre os termos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9" name="Google Shape;449;p4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0" name="Google Shape;450;p4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51" name="Google Shape;451;p46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2" name="Google Shape;452;p46"/>
          <p:cNvSpPr txBox="1"/>
          <p:nvPr/>
        </p:nvSpPr>
        <p:spPr>
          <a:xfrm>
            <a:off x="418200" y="808075"/>
            <a:ext cx="82791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Dados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são os elementos mais básicos.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Informação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é o que obtemos ao processar e contextualizar os dados.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base de dados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organiza os dados de forma estruturada.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banco de dados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é um repositório que pode conter uma ou mais bases de dados.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lang="pt-BR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8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sistema de banco de dados</a:t>
            </a:r>
            <a:r>
              <a:rPr lang="pt-BR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é uma ferramenta que será utilizada para armazenar informações.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SGBD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é o sistema que gerencia os bancos de dados, permitindo a manipulação e acesso aos dados de forma eficiente.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6" name="Google Shape;43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8" name="Google Shape;438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9" name="Google Shape;439;p4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40" name="Google Shape;440;p4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1" name="Google Shape;441;p45"/>
          <p:cNvSpPr txBox="1"/>
          <p:nvPr/>
        </p:nvSpPr>
        <p:spPr>
          <a:xfrm>
            <a:off x="418200" y="1036675"/>
            <a:ext cx="82791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Quem Usa um Banco de Dados?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Administrador do banco de dados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(DBA)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Monitora e gerencia todas as bases de dados criadas no SGBD.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Controla as permissões dos usuários.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Realiza backups.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recupera os dados em caso de falhas.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Garante o melhor desempenho para o banco de dados.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Um DBA é responsável por um SGBD específico.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58" name="Google Shape;45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0" name="Google Shape;460;p4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1" name="Google Shape;461;p4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62" name="Google Shape;462;p47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3" name="Google Shape;463;p47"/>
          <p:cNvSpPr txBox="1"/>
          <p:nvPr/>
        </p:nvSpPr>
        <p:spPr>
          <a:xfrm>
            <a:off x="418200" y="960475"/>
            <a:ext cx="8279100" cy="39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Quem Usa um Banco de Dados?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Analistas de sistemas e programadores de aplicações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Modelar a base de dados e implementá-la no SGBD escolhido.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Desenvolver a aplicação (Java, PHP, C++, C#, etc)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Conectar essa aplicação à base de dados do sistema.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Esse usuário precisa: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conhecer a área de banco de dados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saber modelar uma base de dados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Conhecer a linguagem SQL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69" name="Google Shape;46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1" name="Google Shape;471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2" name="Google Shape;472;p4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73" name="Google Shape;473;p48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4" name="Google Shape;474;p48"/>
          <p:cNvSpPr txBox="1"/>
          <p:nvPr/>
        </p:nvSpPr>
        <p:spPr>
          <a:xfrm>
            <a:off x="418200" y="960475"/>
            <a:ext cx="82791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Nunito"/>
                <a:ea typeface="Nunito"/>
                <a:cs typeface="Nunito"/>
                <a:sym typeface="Nunito"/>
              </a:rPr>
              <a:t>Quem Usa um Banco de Dados?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arabicPeriod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Usuários finais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Pessoas que vão trabalhar diariamente com as aplicações desenvolvidas.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Responsáveis pela entrada de dados no banco de dados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Alterações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AutoNum type="romanLcPeriod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Não precisa ter conhecimento de Banco de Dados ou saber qual SGBD.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80" name="Google Shape;48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82" name="Google Shape;482;p4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83" name="Google Shape;483;p4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84" name="Google Shape;484;p49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85" name="Google Shape;48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891" y="1238950"/>
            <a:ext cx="7023526" cy="26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9"/>
          <p:cNvSpPr txBox="1"/>
          <p:nvPr/>
        </p:nvSpPr>
        <p:spPr>
          <a:xfrm>
            <a:off x="447000" y="4135275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Acesso dos usuários ao banco de dados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Desenvolvimento de um Banco de Dados</a:t>
            </a:r>
            <a:endParaRPr sz="3200" b="0" i="0" u="none" strike="noStrike" cap="none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851593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2" name="Google Shape;49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4" name="Google Shape;494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5" name="Google Shape;495;p5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96" name="Google Shape;496;p50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7" name="Google Shape;497;p50"/>
          <p:cNvSpPr txBox="1"/>
          <p:nvPr/>
        </p:nvSpPr>
        <p:spPr>
          <a:xfrm>
            <a:off x="418200" y="960475"/>
            <a:ext cx="8279100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latin typeface="Nunito"/>
                <a:ea typeface="Nunito"/>
                <a:cs typeface="Nunito"/>
                <a:sym typeface="Nunito"/>
              </a:rPr>
              <a:t>O que é um Modelo?</a:t>
            </a:r>
            <a:endParaRPr lang="pt-BR"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É a representação abstrata de aspectos específicos sobre uma determinada realidade que permite compreender um conceito,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idéia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ou objeto antes de sua existência real;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Um modelo deve ser construído com objetivos bem definidos que determinem os aspectos importantes a serem representados;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Exemplo: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Maquete de um prédio, mapa geográfico,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DFD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 planta baixa,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etc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39302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2" name="Google Shape;49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4" name="Google Shape;494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5" name="Google Shape;495;p5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96" name="Google Shape;496;p50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7" name="Google Shape;497;p50"/>
          <p:cNvSpPr txBox="1"/>
          <p:nvPr/>
        </p:nvSpPr>
        <p:spPr>
          <a:xfrm>
            <a:off x="418200" y="960475"/>
            <a:ext cx="8279100" cy="36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latin typeface="Nunito"/>
                <a:ea typeface="Nunito"/>
                <a:cs typeface="Nunito"/>
                <a:sym typeface="Nunito"/>
              </a:rPr>
              <a:t>Modelagem de dados</a:t>
            </a:r>
            <a:endParaRPr lang="pt-BR"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Processo no qual busca-se a representação das estruturas de dados que nos levem ao nosso projeto de banco de dados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1" indent="-342900" algn="just"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1" indent="-342900" algn="just"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Deve-se descreve:</a:t>
            </a:r>
          </a:p>
          <a:p>
            <a:pPr marL="114300" lvl="8" algn="just">
              <a:buSzPts val="1800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	</a:t>
            </a:r>
            <a:r>
              <a:rPr lang="pt-BR" sz="18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os dados, </a:t>
            </a:r>
          </a:p>
          <a:p>
            <a:pPr marL="114300" lvl="8" algn="just">
              <a:buSzPts val="1800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	</a:t>
            </a:r>
            <a:r>
              <a:rPr lang="pt-BR" sz="18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relacionamentos entre os dados</a:t>
            </a:r>
          </a:p>
          <a:p>
            <a:pPr marL="114300" lvl="8" algn="just">
              <a:buSzPts val="1800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	</a:t>
            </a:r>
            <a:r>
              <a:rPr lang="pt-BR" sz="18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semântica e restrições de integridade sobre os dados;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001003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5" name="Google Shape;495;p5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96" name="Google Shape;496;p50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" name="Picture 2" descr="Projeto de banco de dados">
            <a:extLst>
              <a:ext uri="{FF2B5EF4-FFF2-40B4-BE49-F238E27FC236}">
                <a16:creationId xmlns:a16="http://schemas.microsoft.com/office/drawing/2014/main" id="{20F56D83-0FA8-4BB1-B6C5-0BB13C0860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5"/>
          <a:stretch/>
        </p:blipFill>
        <p:spPr bwMode="auto">
          <a:xfrm>
            <a:off x="1425439" y="1"/>
            <a:ext cx="633931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823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2" name="Google Shape;49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4" name="Google Shape;494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5" name="Google Shape;495;p5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96" name="Google Shape;496;p50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7" name="Google Shape;497;p50"/>
          <p:cNvSpPr txBox="1"/>
          <p:nvPr/>
        </p:nvSpPr>
        <p:spPr>
          <a:xfrm>
            <a:off x="418200" y="960475"/>
            <a:ext cx="8279100" cy="415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latin typeface="Nunito"/>
                <a:ea typeface="Nunito"/>
                <a:cs typeface="Nunito"/>
                <a:sym typeface="Nunito"/>
              </a:rPr>
              <a:t>Fases no Desenvolvimento de um Projeto de Banco de Dados</a:t>
            </a:r>
            <a:endParaRPr sz="21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Modelagem Conceitual -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modelo inicial da base de dados que reflita as necessidades do usuário</a:t>
            </a: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Quais dados serão armazenados.</a:t>
            </a: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Quais dados se relacionam</a:t>
            </a: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Como obter os dados?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Faz a representação fiel ao ambiente observado, independentemente de limitações quaisquer impostas por tecnologias, técnicas de implementação ou dispositivos físicos.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576431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03" name="Google Shape;50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5" name="Google Shape;505;p5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6" name="Google Shape;506;p5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07" name="Google Shape;507;p51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8" name="Google Shape;508;p51"/>
          <p:cNvSpPr txBox="1"/>
          <p:nvPr/>
        </p:nvSpPr>
        <p:spPr>
          <a:xfrm>
            <a:off x="418200" y="960475"/>
            <a:ext cx="8279100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latin typeface="Nunito"/>
                <a:ea typeface="Nunito"/>
                <a:cs typeface="Nunito"/>
                <a:sym typeface="Nunito"/>
              </a:rPr>
              <a:t>Fases no Desenvolvimento de um Projeto de Banco de Dados</a:t>
            </a:r>
            <a:endParaRPr sz="21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Modelagem Lógica -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Descreve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como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os dados são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organizados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relacionados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</a:t>
            </a:r>
          </a:p>
          <a:p>
            <a:pPr marL="1371600" lvl="2" indent="-342900" algn="just">
              <a:buSzPts val="1800"/>
              <a:buFont typeface="Nunito"/>
              <a:buChar char="■"/>
            </a:pPr>
            <a:r>
              <a:rPr lang="pt-BR" altLang="pt-BR" sz="1800" dirty="0"/>
              <a:t>têm a representação de acordo com as regras de implementação e limitantes impostos por algum tipo de tecnologia.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sem se preocupar com a forma exata de armazenamento no hardware.</a:t>
            </a:r>
          </a:p>
          <a:p>
            <a:pPr marL="1028700" lvl="2" algn="just">
              <a:buSzPts val="1800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Modelo Relacional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14" name="Google Shape;51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6" name="Google Shape;516;p5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7" name="Google Shape;517;p5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18" name="Google Shape;518;p52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p52"/>
          <p:cNvSpPr txBox="1"/>
          <p:nvPr/>
        </p:nvSpPr>
        <p:spPr>
          <a:xfrm>
            <a:off x="418200" y="960475"/>
            <a:ext cx="8279100" cy="447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latin typeface="Nunito"/>
                <a:ea typeface="Nunito"/>
                <a:cs typeface="Nunito"/>
                <a:sym typeface="Nunito"/>
              </a:rPr>
              <a:t>Fases no Desenvolvimento de um Projeto de Banco de Dados</a:t>
            </a:r>
            <a:endParaRPr sz="21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Implementação do Modelo Lógico (modelo físico)</a:t>
            </a: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Implementar ou criar a base de dados no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escolhido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desenvolvedor precisa conhecer de SQL e 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selecionado.</a:t>
            </a: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Cada diferente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poderá definir um diferente modo de implementação física das características e recursos necessários para o armazenamento e manipulação das estruturas de dados.</a:t>
            </a:r>
          </a:p>
          <a:p>
            <a:pPr marL="1371600" lvl="2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■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25" name="Google Shape;52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7" name="Google Shape;527;p5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8" name="Google Shape;528;p5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29" name="Google Shape;529;p53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418200" y="960475"/>
            <a:ext cx="82791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A modelagem é fundamental.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É desanimador e trabalhoso perceber a necessidade de alterar o modelo de dados.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Gera um retrabalho.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A base terá que ser refeita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Os diagramas.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2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A aplicação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36" name="Google Shape;536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8" name="Google Shape;538;p5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9" name="Google Shape;539;p5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40" name="Google Shape;540;p54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1" name="Google Shape;541;p54"/>
          <p:cNvSpPr txBox="1"/>
          <p:nvPr/>
        </p:nvSpPr>
        <p:spPr>
          <a:xfrm>
            <a:off x="418200" y="1112875"/>
            <a:ext cx="8279100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❖"/>
            </a:pP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Modelo de Dados</a:t>
            </a:r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❖"/>
            </a:pP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➔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Também conhecido como </a:t>
            </a:r>
            <a:r>
              <a:rPr lang="pt-BR" sz="1900" b="1" i="1" dirty="0">
                <a:latin typeface="Nunito"/>
                <a:ea typeface="Nunito"/>
                <a:cs typeface="Nunito"/>
                <a:sym typeface="Nunito"/>
              </a:rPr>
              <a:t>Esquema da base de dados</a:t>
            </a: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➔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Não deve mudar com frequência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➔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Uma vez alterado….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➔"/>
            </a:pP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Independência dos dados</a:t>
            </a: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 em relação às aplicações (</a:t>
            </a: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Desejável/Difícil</a:t>
            </a: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➔"/>
            </a:pPr>
            <a:r>
              <a:rPr lang="pt-BR" sz="1900" dirty="0">
                <a:latin typeface="Nunito"/>
                <a:ea typeface="Nunito"/>
                <a:cs typeface="Nunito"/>
                <a:sym typeface="Nunito"/>
              </a:rPr>
              <a:t>Se precisar dividir duas tabelas.</a:t>
            </a:r>
            <a:endParaRPr sz="19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47" name="Google Shape;54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9" name="Google Shape;549;p5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0" name="Google Shape;550;p5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51" name="Google Shape;551;p5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2" name="Google Shape;552;p55"/>
          <p:cNvSpPr txBox="1"/>
          <p:nvPr/>
        </p:nvSpPr>
        <p:spPr>
          <a:xfrm>
            <a:off x="418200" y="1112875"/>
            <a:ext cx="82791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❖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Modelo de Dados</a:t>
            </a: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➔"/>
            </a:pP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Até dá para alterar um pouco sem muito impacto…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3" name="Google Shape;55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288" y="2283850"/>
            <a:ext cx="7796424" cy="20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5"/>
          <p:cNvSpPr txBox="1"/>
          <p:nvPr/>
        </p:nvSpPr>
        <p:spPr>
          <a:xfrm>
            <a:off x="432750" y="4258181"/>
            <a:ext cx="8112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5"/>
              </a:rPr>
              <a:t>https://g1.globo.com/tecnologia/noticia/2024/07/20/bug-do-milenio-atrasado-entenda-medo-global-na-virada-dos-anos-2000.ghtml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60" name="Google Shape;56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62" name="Google Shape;562;p5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63" name="Google Shape;563;p5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64" name="Google Shape;564;p56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5" name="Google Shape;565;p56"/>
          <p:cNvSpPr txBox="1"/>
          <p:nvPr/>
        </p:nvSpPr>
        <p:spPr>
          <a:xfrm>
            <a:off x="418200" y="1112875"/>
            <a:ext cx="82791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❖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Modelo de Dados</a:t>
            </a: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Modelo de dados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conceitual 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 x Modelo de dados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lógico</a:t>
            </a:r>
            <a:endParaRPr sz="19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66" name="Google Shape;56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138" y="2512450"/>
            <a:ext cx="5096816" cy="202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7"/>
          <p:cNvSpPr/>
          <p:nvPr/>
        </p:nvSpPr>
        <p:spPr>
          <a:xfrm rot="10800000" flipH="1">
            <a:off x="2162350" y="2407277"/>
            <a:ext cx="4201775" cy="2225000"/>
          </a:xfrm>
          <a:prstGeom prst="flowChartMer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5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Desenvolvimento de um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B.D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73" name="Google Shape;57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5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5" name="Google Shape;575;p5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6" name="Google Shape;576;p5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44</a:t>
            </a:fld>
            <a:endParaRPr/>
          </a:p>
        </p:txBody>
      </p:sp>
      <p:sp>
        <p:nvSpPr>
          <p:cNvPr id="577" name="Google Shape;577;p57"/>
          <p:cNvSpPr/>
          <p:nvPr/>
        </p:nvSpPr>
        <p:spPr>
          <a:xfrm>
            <a:off x="31567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78" name="Google Shape;578;p57"/>
          <p:cNvSpPr/>
          <p:nvPr/>
        </p:nvSpPr>
        <p:spPr>
          <a:xfrm>
            <a:off x="28455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79" name="Google Shape;579;p57"/>
          <p:cNvSpPr/>
          <p:nvPr/>
        </p:nvSpPr>
        <p:spPr>
          <a:xfrm>
            <a:off x="3225975" y="2713016"/>
            <a:ext cx="20745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80" name="Google Shape;580;p57"/>
          <p:cNvSpPr/>
          <p:nvPr/>
        </p:nvSpPr>
        <p:spPr>
          <a:xfrm>
            <a:off x="2845588" y="3275400"/>
            <a:ext cx="28353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Lógico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81" name="Google Shape;581;p57"/>
          <p:cNvSpPr/>
          <p:nvPr/>
        </p:nvSpPr>
        <p:spPr>
          <a:xfrm>
            <a:off x="2483950" y="3846700"/>
            <a:ext cx="35586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Físico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grpSp>
        <p:nvGrpSpPr>
          <p:cNvPr id="582" name="Google Shape;582;p57"/>
          <p:cNvGrpSpPr/>
          <p:nvPr/>
        </p:nvGrpSpPr>
        <p:grpSpPr>
          <a:xfrm>
            <a:off x="3029552" y="4316050"/>
            <a:ext cx="2364600" cy="527700"/>
            <a:chOff x="1353152" y="4316050"/>
            <a:chExt cx="2364600" cy="527700"/>
          </a:xfrm>
        </p:grpSpPr>
        <p:sp>
          <p:nvSpPr>
            <p:cNvPr id="583" name="Google Shape;583;p57"/>
            <p:cNvSpPr/>
            <p:nvPr/>
          </p:nvSpPr>
          <p:spPr>
            <a:xfrm>
              <a:off x="1353152" y="4316050"/>
              <a:ext cx="2364600" cy="5277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latin typeface="Maven Pro"/>
                  <a:ea typeface="Maven Pro"/>
                  <a:cs typeface="Maven Pro"/>
                  <a:sym typeface="Maven Pro"/>
                </a:rPr>
                <a:t>BANCO DE DADOS</a:t>
              </a:r>
              <a:endParaRPr b="1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584" name="Google Shape;584;p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13950" y="4393300"/>
              <a:ext cx="373201" cy="37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85" name="Google Shape;585;p57"/>
          <p:cNvCxnSpPr>
            <a:stCxn id="577" idx="1"/>
            <a:endCxn id="578" idx="0"/>
          </p:cNvCxnSpPr>
          <p:nvPr/>
        </p:nvCxnSpPr>
        <p:spPr>
          <a:xfrm>
            <a:off x="42632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6" name="Google Shape;586;p57"/>
          <p:cNvCxnSpPr>
            <a:stCxn id="578" idx="2"/>
            <a:endCxn id="579" idx="0"/>
          </p:cNvCxnSpPr>
          <p:nvPr/>
        </p:nvCxnSpPr>
        <p:spPr>
          <a:xfrm>
            <a:off x="4263247" y="2302857"/>
            <a:ext cx="0" cy="41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7" name="Google Shape;587;p57"/>
          <p:cNvCxnSpPr>
            <a:stCxn id="579" idx="2"/>
            <a:endCxn id="580" idx="0"/>
          </p:cNvCxnSpPr>
          <p:nvPr/>
        </p:nvCxnSpPr>
        <p:spPr>
          <a:xfrm>
            <a:off x="4263225" y="3094316"/>
            <a:ext cx="0" cy="18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8" name="Google Shape;588;p57"/>
          <p:cNvCxnSpPr>
            <a:stCxn id="580" idx="2"/>
            <a:endCxn id="581" idx="0"/>
          </p:cNvCxnSpPr>
          <p:nvPr/>
        </p:nvCxnSpPr>
        <p:spPr>
          <a:xfrm>
            <a:off x="4263238" y="3656700"/>
            <a:ext cx="0" cy="18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2100</Words>
  <Application>Microsoft Office PowerPoint</Application>
  <PresentationFormat>Apresentação na tela (16:9)</PresentationFormat>
  <Paragraphs>455</Paragraphs>
  <Slides>44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6" baseType="lpstr">
      <vt:lpstr>Maven Pro Medium</vt:lpstr>
      <vt:lpstr>Montserrat</vt:lpstr>
      <vt:lpstr>Montserrat Medium</vt:lpstr>
      <vt:lpstr>Nunito SemiBold</vt:lpstr>
      <vt:lpstr>Calibri</vt:lpstr>
      <vt:lpstr>Helvetica Neue</vt:lpstr>
      <vt:lpstr>Nunito Medium</vt:lpstr>
      <vt:lpstr>Maven Pro</vt:lpstr>
      <vt:lpstr>Maven Pro SemiBold</vt:lpstr>
      <vt:lpstr>Nunito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7</cp:revision>
  <dcterms:modified xsi:type="dcterms:W3CDTF">2025-08-12T21:53:23Z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2025-07-24T18:38:40Z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35495837-a90f-4ef2-9046-a764454dbb0f</vt:lpwstr>
  </property>
  <property fmtid="{D5CDD505-2E9C-101B-9397-08002B2CF9AE}" pid="7" name="MSIP_Label_defa4170-0d19-0005-0004-bc88714345d2_ActionId">
    <vt:lpwstr>a6ed776f-4d39-4d48-a0ff-4af553593c95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