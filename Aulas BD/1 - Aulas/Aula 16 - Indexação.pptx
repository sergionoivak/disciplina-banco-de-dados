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7" r:id="rId2"/>
    <p:sldId id="258" r:id="rId3"/>
    <p:sldId id="264" r:id="rId4"/>
    <p:sldId id="302" r:id="rId5"/>
    <p:sldId id="368" r:id="rId6"/>
    <p:sldId id="371" r:id="rId7"/>
    <p:sldId id="288" r:id="rId8"/>
    <p:sldId id="373" r:id="rId9"/>
    <p:sldId id="372" r:id="rId10"/>
    <p:sldId id="374" r:id="rId11"/>
    <p:sldId id="375" r:id="rId12"/>
    <p:sldId id="376" r:id="rId13"/>
    <p:sldId id="377" r:id="rId14"/>
    <p:sldId id="384" r:id="rId15"/>
    <p:sldId id="378" r:id="rId16"/>
    <p:sldId id="379" r:id="rId17"/>
    <p:sldId id="380" r:id="rId18"/>
    <p:sldId id="381" r:id="rId19"/>
    <p:sldId id="382" r:id="rId20"/>
    <p:sldId id="383" r:id="rId21"/>
    <p:sldId id="385" r:id="rId22"/>
    <p:sldId id="386" r:id="rId23"/>
    <p:sldId id="387" r:id="rId24"/>
    <p:sldId id="280" r:id="rId25"/>
  </p:sldIdLst>
  <p:sldSz cx="9144000" cy="5143500" type="screen16x9"/>
  <p:notesSz cx="6858000" cy="9144000"/>
  <p:embeddedFontLs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Maven Pro Medium" panose="020B0604020202020204" charset="0"/>
      <p:regular r:id="rId31"/>
      <p:bold r:id="rId32"/>
    </p:embeddedFont>
    <p:embeddedFont>
      <p:font typeface="Maven Pro SemiBold" panose="020B0604020202020204" charset="0"/>
      <p:regular r:id="rId33"/>
      <p:bold r:id="rId34"/>
    </p:embeddedFont>
    <p:embeddedFont>
      <p:font typeface="Nunito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832" autoAdjust="0"/>
  </p:normalViewPr>
  <p:slideViewPr>
    <p:cSldViewPr snapToGrid="0">
      <p:cViewPr varScale="1">
        <p:scale>
          <a:sx n="54" d="100"/>
          <a:sy n="54" d="100"/>
        </p:scale>
        <p:origin x="1644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2284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6351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044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191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6447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8793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9714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1956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4440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9354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313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8413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3026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4112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5939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21502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6629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8697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dirty="0" err="1"/>
              <a:t>CREATE</a:t>
            </a:r>
            <a:r>
              <a:rPr lang="pt-BR" dirty="0"/>
              <a:t> INDEX </a:t>
            </a:r>
            <a:r>
              <a:rPr lang="pt-BR" dirty="0" err="1"/>
              <a:t>CONCURRENTLY</a:t>
            </a:r>
            <a:r>
              <a:rPr lang="pt-BR" dirty="0"/>
              <a:t> é ideal para produção, pois evita bloqueios — mas deve ser usado com cautela, já que é mais lento, não pode estar dentro de transações e pode deixar resíduos em caso de falha.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0231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370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Indexação e Estruturas de Índices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O que são índices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18200" y="960475"/>
            <a:ext cx="82932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São estruturas de dados que organizam referências as localizações dos dados reais das tabelas.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Por analogia, os índices nos banco de dados são similares aos índices apresentados em livros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Importância:</a:t>
            </a:r>
          </a:p>
          <a:p>
            <a:pPr marL="387350" lvl="6" indent="-285750" algn="just"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Lembre-se, que conforme o banco de dados cresce, em um determinado momento o desempenho das consultas tende a cair, não sendo mais satisfatório</a:t>
            </a:r>
          </a:p>
          <a:p>
            <a:pPr marL="387350" lvl="6" indent="-285750" algn="just"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Os índices são utilizados para melhorar o tempo de execução das consultas, sendo recursos bastante utilizados para a resolução desse problema</a:t>
            </a:r>
          </a:p>
          <a:p>
            <a:pPr marL="387350" lvl="6" indent="-285750" algn="just">
              <a:buSzPts val="2000"/>
              <a:buFontTx/>
              <a:buChar char="-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 (padrão) 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Tabela é um conjunto desordenado de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tuplas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exclusivas.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Por padrão, os dados são armazenados sem uma ordem particular, isto significa que: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44500" lvl="0" indent="-34290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adição de novos registo não necessita de uma reorganização dos dados existentes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melhor desempenho na inserção de dados</a:t>
            </a:r>
          </a:p>
          <a:p>
            <a:pPr marL="444500" lvl="0" indent="-34290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44500" lvl="0" indent="-34290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recuperação de informações é feita por busca por cada registro presente na tabela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maior tempo para a obtenção da informação.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 organizadas por índice 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418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Com os índices temos a nossa disposição uma estrutura adicional de organização  dos dados de todas as colunas das tabelas, melhorando a pesquisa de informações</a:t>
            </a: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Mas precisamos ter cuidado com a quantidade de índices por tabela, isso devido a sobrecarga durante as operações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DML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UPDATE e DELETE), pois quando cada uma das operações realizadas, é necessária a atualização dos índices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20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20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(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nome_coluna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20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20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idx_produtos_nome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produtos(nome);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11739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Tipos de índices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26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No PostgreSQL, temos a nossa disposição vários tipos de índices, entre eles:</a:t>
            </a:r>
          </a:p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B-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tree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Hash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44500" lvl="0" indent="-342900" algn="l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GIN.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Estes usam algoritmos diferentes que são utilizados para diferentes tipos de consultas.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4472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B-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tree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426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Padrão utilizado no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INDEX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Utiliza árvore balanceada: organiza os valores em uma estrutura de árvore com vários ramos que se reequilibram automaticamente para garantir performance constante nas consultas.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 operar todos os tipos de dados,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Pode ser utilizado para recuperar valores nulos.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Este tipo de índice é projetado para trabalhar muito bem com cache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Este o que se encaixa melhor nas situações mais cotidianas. 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76452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>
              <a:buClr>
                <a:schemeClr val="lt1"/>
              </a:buClr>
              <a:buSzPts val="3200"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B-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tree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  <p:pic>
        <p:nvPicPr>
          <p:cNvPr id="1026" name="Picture 2" descr="Conteúdo do artigo">
            <a:extLst>
              <a:ext uri="{FF2B5EF4-FFF2-40B4-BE49-F238E27FC236}">
                <a16:creationId xmlns:a16="http://schemas.microsoft.com/office/drawing/2014/main" id="{253F4861-49FD-46B3-A551-D39D4C9B5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8276"/>
            <a:ext cx="8541572" cy="211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6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Hash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4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mais utilizado em bancos de dados não relacionais.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5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Utilizam uma função de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hash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para converter um valor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ex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CPF, e-mail, código) em um código numérico fixo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Na busca, em vez de comparar valor por valor, 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compara os códigos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hash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o que é muito mais rápido — mas só funciona para igualdade (=).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A0AD3A-2DF3-4CF2-B4D3-1DB61383B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074" y="2342767"/>
            <a:ext cx="6146651" cy="57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3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Hash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Indices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hash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são especialmente úteis para buscas por igualdade em colunas com valores aleatórios ou não sequenciais, como CPFs, e-mails,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UUIDs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etc</a:t>
            </a: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EFACD6-8CBC-4179-904B-F445A11D7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564" y="984531"/>
            <a:ext cx="6370872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0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Hash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Até versões anteriores ao PostgreSQL 10, índices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hash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não garantiam transações seguras, exigindo reconstrução manual em caso de falhas.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Nas versões mais recentes, passaram a ser seguros, mas ainda são pouco utilizados, já que os índices B-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Tree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costumam oferecer desempenho semelhante com mais flexibilidade.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USING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hash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nome_coluna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</a:p>
          <a:p>
            <a:pPr marL="101600" algn="just">
              <a:buSzPts val="2000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idx_clientes_email_hash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clientes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USING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hash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(email);</a:t>
            </a:r>
          </a:p>
          <a:p>
            <a:pPr marL="101600" algn="just">
              <a:buSzPts val="2000"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SELECT * FROM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clientes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WHERE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email = ‘aaaa@gmail.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com’;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543776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GIN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GIN (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Generalized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Inverted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Indexes) foi projetado para lidar com casos em que os itens a serem indexados são valores compostos e as consultas a serem tratadas pelo índice precisam buscar valores de elementos que aparecem dentro dos itens compostos.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Diferente do B-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Tree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que são otimizados para valores chave únicos</a:t>
            </a: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36BCA91-9721-480D-BE9F-285BCB4A0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00" y="3005485"/>
            <a:ext cx="8510087" cy="183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GIN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índice GIN funciona como uma estrutura semelhante a uma árvore invertida (árvore de componentes), que armazena todos os valores possíveis encontrados dentro das colunas indexadas.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Para cada valor encontrado, o índice mantém uma lista (ou conjunto) de ponteiros para todas as linhas da tabela onde aquele valor aparece.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Por isso, uma única linha da tabela pode aparecer várias vezes dentro do índice,</a:t>
            </a:r>
          </a:p>
          <a:p>
            <a:pPr marL="101600" algn="just">
              <a:buSzPts val="2000"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393061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GIN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'verão' → {linha 1, linha 3}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9A4E97A-4C3A-4C4C-B5EA-CF896E699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50" y="1847860"/>
            <a:ext cx="8510087" cy="183466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4A96E31-6B23-4B82-A2B4-9680A825FC19}"/>
              </a:ext>
            </a:extLst>
          </p:cNvPr>
          <p:cNvSpPr txBox="1"/>
          <p:nvPr/>
        </p:nvSpPr>
        <p:spPr>
          <a:xfrm>
            <a:off x="0" y="3922887"/>
            <a:ext cx="9102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pt-BR" sz="1800" dirty="0" err="1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USING</a:t>
            </a:r>
            <a:r>
              <a:rPr lang="pt-BR" sz="1800" b="1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GIN </a:t>
            </a:r>
            <a: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nome_coluna</a:t>
            </a:r>
            <a: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);</a:t>
            </a:r>
            <a:b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</a:br>
            <a:br>
              <a:rPr lang="pt-BR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</a:br>
            <a:endParaRPr lang="pt-BR" sz="18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63095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GIN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297725" y="733668"/>
            <a:ext cx="8279100" cy="492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 habilitar extensão uma vez no banco</a:t>
            </a: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EXTENSION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IF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NOT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EXISTS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pg_trgm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;</a:t>
            </a:r>
          </a:p>
          <a:p>
            <a:pPr marL="101600" algn="just">
              <a:buSzPts val="2000"/>
            </a:pPr>
            <a:endParaRPr lang="pt-BR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 busca por pedaços do nome do produto (ex.: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ILIKE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'%aço%’)</a:t>
            </a: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gin_trgm_ops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permite criar índices GIN baseados em trigramas </a:t>
            </a: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idx_produtos_nome_trgm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produtos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USING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gin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(nome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gin_trgm_ops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</a:p>
          <a:p>
            <a:pPr marL="101600" algn="just">
              <a:buSzPts val="2000"/>
            </a:pPr>
            <a:endParaRPr lang="pt-BR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--Busca todos os produtos cujo nome contém a palavra “aço” em qualquer posição.</a:t>
            </a: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ILIKE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é semelhante ao LIKE, mas ignora maiúsculas e minúsculas.</a:t>
            </a: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SELECT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produto_id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, nome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FROM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produtos 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WHERE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nome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ILIKE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‘%caixa%’;</a:t>
            </a:r>
          </a:p>
          <a:p>
            <a:pPr marL="101600" algn="just">
              <a:buSzPts val="2000"/>
            </a:pPr>
            <a:endParaRPr lang="pt-BR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 Usa o operador de similaridade (%) oferecido pela extensão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pg_trgm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.</a:t>
            </a:r>
          </a:p>
          <a:p>
            <a:pPr marL="101600" algn="just">
              <a:buSzPts val="2000"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--Retorna registros onde o texto em nome é similar ou se parece com 'cimento', mesmo que não seja exatamente igual.</a:t>
            </a:r>
          </a:p>
          <a:p>
            <a:pPr marL="101600" algn="just">
              <a:buSzPts val="2000"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SELECT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*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FROM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produtos 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WHERE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nome % ‘camisa’;</a:t>
            </a:r>
          </a:p>
          <a:p>
            <a:pPr marL="101600" algn="just">
              <a:buSzPts val="2000"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84952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GIN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048" y="756340"/>
            <a:ext cx="82791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 id SERIAL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PRIMARY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KEY,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[] -- coluna com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de texto 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['promoção', 'verão']);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['inverno', 'liquidação']);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['infantil', 'novidade']);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['esporte', 'leve', 'confortável']);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['casual']);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['luxo', 'exclusivo', 'premium']);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['tecnologia', 'lançamento']);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['ecológico', 'reciclável']);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['importado', 'alta performance']);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['básico', 'cotidiano’]);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INDEX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idx_catags_tags_gin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ON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gin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--@&gt; significa contém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-- os dois vão retornar o mesmo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WHERE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@&gt;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['promoção'];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WHERE 'promoção' =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ANY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-- Busca itens que contenham AO MESMO TEMPO 'promoção' E 'verão'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WHERE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@&gt;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['promoção', 'verão'];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-- Busca itens que contenham 'promoção' OU 'verão'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WHERE 'promoção' =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ANY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OR 'verão' =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ANY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--Verifica se existe algum elemento em comum entre os dois lados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catags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WHERE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tags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&amp;&amp;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ARRAY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['inverno', 'luxo’];11</a:t>
            </a:r>
          </a:p>
        </p:txBody>
      </p:sp>
    </p:spTree>
    <p:extLst>
      <p:ext uri="{BB962C8B-B14F-4D97-AF65-F5344CB8AC3E}">
        <p14:creationId xmlns:p14="http://schemas.microsoft.com/office/powerpoint/2010/main" val="2058124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GiST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é uma abreviação de “árvore de busca generalizada”. 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Esta é uma árvore de busca balanceada, assim como o b-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tree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Diferente da B-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Tree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o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não depende de operadores de comparação tradicionais (&lt;, &gt;, =).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783133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GiST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é útil quando para os tipos de dados armazenados os operadores de comparação tradicionais simplesmente não fazem sentido, ou seja, dados que não têm ordem natural, como:</a:t>
            </a:r>
          </a:p>
          <a:p>
            <a:pPr marL="387350" lvl="1" indent="-285750" algn="just"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Coordenadas geográficas (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PostGIS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387350" lvl="1" indent="-285750" algn="just"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Intervalos de datas (ranges)</a:t>
            </a:r>
          </a:p>
          <a:p>
            <a:pPr marL="387350" lvl="1" indent="-285750" algn="just"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Imagens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é flexível e ideal para estes tipos de dados pois:</a:t>
            </a: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Permite definir uma regra para distribuir dados de um tipo arbitrário em uma árvore balanceada </a:t>
            </a: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Permite definir um método para usar essa representação para acesso por algum operador. </a:t>
            </a: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6017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GiST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4647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Pense o seguinte, para criar um método de indexação do zero, um desenvolvedor precisaria dominar profundamente o funcionamento interno do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SGBD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kumimoji="0" lang="pt-B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Isso inclui definir como os dados serão estruturados na memória, como serão armazenados em disco e ainda implementar mecanismos de controle de concorrência e bloqueio para garantir segurança em acessos simultâneos.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funciona como um “</a:t>
            </a:r>
            <a:r>
              <a:rPr lang="pt-BR" sz="1800" dirty="0" err="1">
                <a:latin typeface="Nunito"/>
                <a:ea typeface="Nunito"/>
                <a:cs typeface="Nunito"/>
                <a:sym typeface="Nunito"/>
              </a:rPr>
              <a:t>template</a:t>
            </a:r>
            <a:r>
              <a:rPr lang="pt-BR" sz="1800" dirty="0">
                <a:latin typeface="Nunito"/>
                <a:ea typeface="Nunito"/>
                <a:cs typeface="Nunito"/>
                <a:sym typeface="Nunito"/>
              </a:rPr>
              <a:t> de índice”: ele cuida de toda a parte estrutural e o desenvolvedor só precisa informar como comparar os dados. Por isso ele é considerado um framework para criação de novos métodos de acesso.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USING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gist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nome_coluna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089604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GiST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reservas (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 id SERIAL,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periodo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endParaRPr lang="pt-BR" sz="12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2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INTO reservas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periodo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endParaRPr lang="pt-BR" sz="12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('2025-01-05', '2025-01-12')),   -- sobrepõe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('2025-01-10', '2025-01-15')),   -- sobrepõe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('2025-01-01', '2025-01-08')),   -- NÃO sobrepõe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('2025-01-18', '2025-01-25')),   -- sobrepõe (final)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('2025-02-01', '2025-02-10')),   -- NÃO sobrepõe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('2025-01-19', '2025-01-21'));   -- sobrepõe (final)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2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INDEX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idx_reservas_gist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ON reservas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periodo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1200" dirty="0">
              <a:latin typeface="Nunito"/>
              <a:ea typeface="Nunito"/>
              <a:cs typeface="Nunito"/>
              <a:sym typeface="Nunito"/>
            </a:endParaRP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&amp;&amp; significa “tem interseção?” </a:t>
            </a: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Verifica se há algum elemento em comum entre os dois lados.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*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reservas WHERE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periodo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 &amp;&amp; </a:t>
            </a:r>
            <a:r>
              <a:rPr lang="pt-BR" sz="1200" dirty="0" err="1">
                <a:latin typeface="Nunito"/>
                <a:ea typeface="Nunito"/>
                <a:cs typeface="Nunito"/>
                <a:sym typeface="Nunito"/>
              </a:rPr>
              <a:t>daterange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('2025-01-10', '2025-01-20');</a:t>
            </a:r>
          </a:p>
        </p:txBody>
      </p:sp>
    </p:spTree>
    <p:extLst>
      <p:ext uri="{BB962C8B-B14F-4D97-AF65-F5344CB8AC3E}">
        <p14:creationId xmlns:p14="http://schemas.microsoft.com/office/powerpoint/2010/main" val="348153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GiST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048" y="761405"/>
            <a:ext cx="8279100" cy="407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-- Criar tabela de locais com coordenadas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locais (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   id SERIAL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PRIMARY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KEY,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   nome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TEXT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NOT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NULL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   coordenada POINT -- formato: (longitude, latitude)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1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-- Inserir alguns pontos de exemplo (coordenadas fictícias)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INTO locais (nome, coordenada)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VALUES</a:t>
            </a:r>
            <a:endParaRPr lang="pt-BR" sz="11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('Restaurante Central',      POINT(-49.25, -16.68)),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('Supermercado Popular',     POINT(-49.23, -16.67)),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('Posto de Gasolina',        POINT(-49.30, -16.70)),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('Praça Municipal',          POINT(-49.24, -16.65)),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('Escola Estadual',          POINT(-49.20, -16.69)),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('Hospital Regional',        POINT(-49.28, -16.72));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1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INDEX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idx_locais_gist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ON locais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USING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(coordenada);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11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-- &lt;-&gt; é o operador de “distância” </a:t>
            </a:r>
            <a:r>
              <a:rPr lang="pt-BR" sz="11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-&gt; Traga os 3 locais mais próximos da coordenada (-49.26, -16.69).</a:t>
            </a:r>
            <a:endParaRPr lang="pt-BR" sz="11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SELECT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nome, coordenada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FROM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locais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ORDER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BY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coordenada &lt;-&gt; POINT(-49.26, -16.69)</a:t>
            </a:r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1100" dirty="0" err="1">
                <a:latin typeface="Nunito"/>
                <a:ea typeface="Nunito"/>
                <a:cs typeface="Nunito"/>
                <a:sym typeface="Nunito"/>
              </a:rPr>
              <a:t>LIMIT</a:t>
            </a:r>
            <a:r>
              <a:rPr lang="pt-BR" sz="1100" dirty="0">
                <a:latin typeface="Nunito"/>
                <a:ea typeface="Nunito"/>
                <a:cs typeface="Nunito"/>
                <a:sym typeface="Nunito"/>
              </a:rPr>
              <a:t> 3;</a:t>
            </a:r>
          </a:p>
        </p:txBody>
      </p:sp>
    </p:spTree>
    <p:extLst>
      <p:ext uri="{BB962C8B-B14F-4D97-AF65-F5344CB8AC3E}">
        <p14:creationId xmlns:p14="http://schemas.microsoft.com/office/powerpoint/2010/main" val="2277328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Índices em colunas múltiplas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" name="Google Shape;140;p21">
            <a:extLst>
              <a:ext uri="{FF2B5EF4-FFF2-40B4-BE49-F238E27FC236}">
                <a16:creationId xmlns:a16="http://schemas.microsoft.com/office/drawing/2014/main" id="{6054F0CF-EA51-40F2-B5AC-2B87AE3D0BF5}"/>
              </a:ext>
            </a:extLst>
          </p:cNvPr>
          <p:cNvSpPr txBox="1"/>
          <p:nvPr/>
        </p:nvSpPr>
        <p:spPr>
          <a:xfrm>
            <a:off x="418200" y="884275"/>
            <a:ext cx="8279100" cy="4647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Um índice pode ser criado utilizando mais de uma coluna da tabela.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kumimoji="0" lang="pt-BR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B-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Tree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multicoluna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: pode ser utilizado em consultas que envolvem qualquer subconjunto das colunas, mas funciona melhor quando a primeira coluna do índice é usada na condição de busca.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GiST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e GIN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multicoluna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: são mais flexíveis na combinação das colunas — a consulta pode usar qualquer uma delas e ainda aproveitar o índice.</a:t>
            </a: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coluna1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coluna2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</a:p>
          <a:p>
            <a:pPr marL="101600" algn="just">
              <a:buSzPts val="2000"/>
              <a:defRPr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produtos_mult_index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produtos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codigo_produto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preco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  <a:b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</a:b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SELECT * FROM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produtos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WHERE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codigo_produto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&lt; 400 </a:t>
            </a: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AND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preco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&lt; 300;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44884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Índices concorrentes</a:t>
            </a: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" name="Google Shape;140;p21">
            <a:extLst>
              <a:ext uri="{FF2B5EF4-FFF2-40B4-BE49-F238E27FC236}">
                <a16:creationId xmlns:a16="http://schemas.microsoft.com/office/drawing/2014/main" id="{6054F0CF-EA51-40F2-B5AC-2B87AE3D0BF5}"/>
              </a:ext>
            </a:extLst>
          </p:cNvPr>
          <p:cNvSpPr txBox="1"/>
          <p:nvPr/>
        </p:nvSpPr>
        <p:spPr>
          <a:xfrm>
            <a:off x="418200" y="884275"/>
            <a:ext cx="82791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Ao criar um índice de forma tradicional, o PostgreSQL bloqueia a tabela para escritas (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INSERT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, UPDATE, DELETE) até que o índice seja finalizado.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Em tabelas grandes, esse processo pode demorar bastante, causando impacto em sistemas em produção.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Para evitar essa interrupção, o PostgreSQL oferece a opção de criação concorrente de índices, por meio da cláusula </a:t>
            </a:r>
            <a:r>
              <a:rPr kumimoji="0" lang="pt-B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CONCURRENTLY</a:t>
            </a: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Ela permite que o índice seja criado sem bloquear operações de escrita, o que torna essa abordagem ideal para ambientes que precisam continuar funcionando enquanto o índice é construído.</a:t>
            </a: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01600" algn="just">
              <a:buSzPts val="2000"/>
              <a:defRPr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CONCURRENTLY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tabela (coluna);</a:t>
            </a: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006534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REINDEX</a:t>
            </a:r>
            <a:endParaRPr lang="pt-BR"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" name="Google Shape;140;p21">
            <a:extLst>
              <a:ext uri="{FF2B5EF4-FFF2-40B4-BE49-F238E27FC236}">
                <a16:creationId xmlns:a16="http://schemas.microsoft.com/office/drawing/2014/main" id="{6054F0CF-EA51-40F2-B5AC-2B87AE3D0BF5}"/>
              </a:ext>
            </a:extLst>
          </p:cNvPr>
          <p:cNvSpPr txBox="1"/>
          <p:nvPr/>
        </p:nvSpPr>
        <p:spPr>
          <a:xfrm>
            <a:off x="418200" y="884275"/>
            <a:ext cx="8279100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Por fim, temos a reindexação, onde quando um índice torna-se ineficiente devido ao inchaço, a utilização da reindexação passa a ser uma opção favorável para a obtenção de um máximo desempenho dos índices</a:t>
            </a:r>
          </a:p>
          <a:p>
            <a:pPr marL="457200" marR="0" lvl="0" indent="-3556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unito"/>
              <a:buChar char="●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REINDEX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TABLE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nome_tabela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;</a:t>
            </a:r>
          </a:p>
          <a:p>
            <a:pPr marL="101600" algn="just">
              <a:buSzPts val="2000"/>
              <a:defRPr/>
            </a:pPr>
            <a:endParaRPr lang="pt-BR" sz="1800" b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pt-BR" sz="1800" b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INDEX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produtos_mult_index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ON produtos (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codigo_produto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,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preco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);</a:t>
            </a:r>
            <a:b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</a:b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algn="just">
              <a:buSzPts val="2000"/>
              <a:defRPr/>
            </a:pP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SELECT * FROM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produtos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WHERE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codigo_produto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&lt; 400 </a:t>
            </a:r>
            <a:r>
              <a:rPr lang="en-US" sz="1800" b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AND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preco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&lt; 300;</a:t>
            </a: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tabLst/>
              <a:defRPr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  <a:p>
            <a:pPr marL="387350" lvl="0" indent="-285750" algn="just" rtl="0">
              <a:spcBef>
                <a:spcPts val="0"/>
              </a:spcBef>
              <a:spcAft>
                <a:spcPts val="0"/>
              </a:spcAft>
              <a:buSzPts val="2000"/>
              <a:buFontTx/>
              <a:buChar char="-"/>
            </a:pPr>
            <a:endParaRPr lang="pt-BR" sz="18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691532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4" name="Google Shape;314;p37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3361</TotalTime>
  <Words>2125</Words>
  <Application>Microsoft Office PowerPoint</Application>
  <PresentationFormat>Apresentação na tela (16:9)</PresentationFormat>
  <Paragraphs>259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1" baseType="lpstr">
      <vt:lpstr>Helvetica Neue</vt:lpstr>
      <vt:lpstr>Maven Pro Medium</vt:lpstr>
      <vt:lpstr>Nunito</vt:lpstr>
      <vt:lpstr>Arial</vt:lpstr>
      <vt:lpstr>Times New Roman</vt:lpstr>
      <vt:lpstr>Maven Pro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11</cp:revision>
  <dcterms:modified xsi:type="dcterms:W3CDTF">2025-11-11T22:45:02Z</dcterms:modified>
</cp:coreProperties>
</file>