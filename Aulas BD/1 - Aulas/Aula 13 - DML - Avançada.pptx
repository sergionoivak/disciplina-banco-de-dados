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83" r:id="rId2"/>
    <p:sldId id="272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</p:sldIdLst>
  <p:sldSz cx="9144000" cy="5143500" type="screen16x9"/>
  <p:notesSz cx="6858000" cy="9144000"/>
  <p:embeddedFontLst>
    <p:embeddedFont>
      <p:font typeface="Maven Pro Medium" panose="020B0604020202020204" charset="0"/>
      <p:regular r:id="rId24"/>
      <p:bold r:id="rId25"/>
    </p:embeddedFont>
    <p:embeddedFont>
      <p:font typeface="Maven Pro SemiBold" panose="020B0604020202020204" charset="0"/>
      <p:regular r:id="rId26"/>
      <p:bold r:id="rId27"/>
    </p:embeddedFont>
    <p:embeddedFont>
      <p:font typeface="Nunit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02eeda2570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202eeda2570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02eeda257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202eeda257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02eeda2570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202eeda2570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02eeda257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202eeda257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02eeda257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g202eeda257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02eeda2570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202eeda2570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02eeda257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202eeda257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02eeda2570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202eeda2570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02eeda257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202eeda257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02eeda2570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202eeda2570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02eeda2570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202eeda2570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02eeda2570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202eeda2570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02eeda2570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202eeda2570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02eeda2570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g202eeda2570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02eeda2570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202eeda2570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02eeda2570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g202eeda2570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02eeda2570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202eeda2570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02eeda2570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202eeda2570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02eeda2570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g202eeda2570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02eeda257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g202eeda257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9" name="Google Shape;349;p40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50" name="Google Shape;35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0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Linguagem de manipulação de dados</a:t>
            </a:r>
            <a:b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(Avançada)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18200" y="884275"/>
            <a:ext cx="8279100" cy="3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Linguagem de Manipulação de Dados (DML)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A linguagem de manipulação de dados (DML) é usada para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consultar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modificar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dados dentro das tabelas de um banco de dados. 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Os principais comandos DML são: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: Recupera dados de uma tabela.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: Insere novos dados em uma tabela.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UPDATE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: Modifica dados existentes em uma tabela.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DELETE</a:t>
            </a: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: Remove dados de uma tabela.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7" name="Google Shape;35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9" name="Google Shape;359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440628" y="960475"/>
            <a:ext cx="82791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Funções de Agregação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Funções de agregação </a:t>
            </a:r>
            <a:r>
              <a:rPr lang="pt-BR" sz="1800" i="1" u="sng">
                <a:latin typeface="Nunito"/>
                <a:ea typeface="Nunito"/>
                <a:cs typeface="Nunito"/>
                <a:sym typeface="Nunito"/>
              </a:rPr>
              <a:t>realizam cálculos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sobre um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conjunto de valores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i="1" u="sng">
                <a:latin typeface="Nunito"/>
                <a:ea typeface="Nunito"/>
                <a:cs typeface="Nunito"/>
                <a:sym typeface="Nunito"/>
              </a:rPr>
              <a:t>retornam um único valor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. 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COUNT()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: Retorna o número de linhas.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SUM()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: Retorna a soma dos valores.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AVG()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: Retorna a média dos valores.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MAX()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: Retorna o valor máximo.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MIN()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: Retorna o valor mínimo.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4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7" name="Google Shape;36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9" name="Google Shape;369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0" name="Google Shape;370;p42"/>
          <p:cNvSpPr txBox="1"/>
          <p:nvPr/>
        </p:nvSpPr>
        <p:spPr>
          <a:xfrm>
            <a:off x="418200" y="884275"/>
            <a:ext cx="82791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 - </a:t>
            </a:r>
            <a:r>
              <a:rPr lang="pt-BR" sz="1600" i="1">
                <a:latin typeface="Nunito"/>
                <a:ea typeface="Nunito"/>
                <a:cs typeface="Nunito"/>
                <a:sym typeface="Nunito"/>
              </a:rPr>
              <a:t>Retornar o número de alunos, a média de idade, a idade máxima e mínima por curso.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p4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72" name="Google Shape;37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113" y="2314400"/>
            <a:ext cx="6493773" cy="1227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8" name="Google Shape;37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418200" y="884275"/>
            <a:ext cx="8279100" cy="14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 - </a:t>
            </a:r>
            <a:r>
              <a:rPr lang="pt-BR" sz="1600" i="1">
                <a:latin typeface="Nunito"/>
                <a:ea typeface="Nunito"/>
                <a:cs typeface="Nunito"/>
                <a:sym typeface="Nunito"/>
              </a:rPr>
              <a:t>Retornar o número de alunos, a média de idade, a idade máxima e mínima por curso.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4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83" name="Google Shape;38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113" y="2314400"/>
            <a:ext cx="6493773" cy="1227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84" name="Google Shape;38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1825" y="3594150"/>
            <a:ext cx="6869092" cy="12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83;p43">
            <a:extLst>
              <a:ext uri="{FF2B5EF4-FFF2-40B4-BE49-F238E27FC236}">
                <a16:creationId xmlns:a16="http://schemas.microsoft.com/office/drawing/2014/main" id="{E3BBE8A1-EAF6-4C7E-B23C-52B2B4FC97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113" y="2341375"/>
            <a:ext cx="6493773" cy="1227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90" name="Google Shape;39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2" name="Google Shape;392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3" name="Google Shape;393;p44"/>
          <p:cNvSpPr txBox="1"/>
          <p:nvPr/>
        </p:nvSpPr>
        <p:spPr>
          <a:xfrm>
            <a:off x="418200" y="884275"/>
            <a:ext cx="8279100" cy="20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SUBCONSULTAS 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600" i="1">
                <a:latin typeface="Nunito"/>
                <a:ea typeface="Nunito"/>
                <a:cs typeface="Nunito"/>
                <a:sym typeface="Nunito"/>
              </a:rPr>
              <a:t>Subconsultas são consultas aninhadas dentro de outra consulta.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6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6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4" name="Google Shape;394;p4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95" name="Google Shape;3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89" y="3009699"/>
            <a:ext cx="6568975" cy="15332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1" name="Google Shape;40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418200" y="884275"/>
            <a:ext cx="827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100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SUBCONSULTAS </a:t>
            </a:r>
            <a:endParaRPr sz="16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p4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06" name="Google Shape;40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7278" y="1511138"/>
            <a:ext cx="5539988" cy="12930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07" name="Google Shape;40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100" y="3323125"/>
            <a:ext cx="4883250" cy="11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3375" y="3323788"/>
            <a:ext cx="1248800" cy="74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45"/>
          <p:cNvCxnSpPr>
            <a:stCxn id="406" idx="2"/>
          </p:cNvCxnSpPr>
          <p:nvPr/>
        </p:nvCxnSpPr>
        <p:spPr>
          <a:xfrm>
            <a:off x="4437272" y="2804162"/>
            <a:ext cx="2344200" cy="6012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5" name="Google Shape;41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7" name="Google Shape;417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8" name="Google Shape;418;p46"/>
          <p:cNvSpPr txBox="1"/>
          <p:nvPr/>
        </p:nvSpPr>
        <p:spPr>
          <a:xfrm>
            <a:off x="418200" y="960475"/>
            <a:ext cx="8279100" cy="39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JOINS</a:t>
            </a: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■"/>
            </a:pP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é utilizado para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combinar informações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de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duas ou mais tabelas</a:t>
            </a:r>
          </a:p>
          <a:p>
            <a:pPr marL="1016000" lvl="2" algn="just" rtl="0">
              <a:spcBef>
                <a:spcPts val="1000"/>
              </a:spcBef>
              <a:spcAft>
                <a:spcPts val="0"/>
              </a:spcAft>
              <a:buSzPts val="2000"/>
            </a:pPr>
            <a:endParaRPr lang="pt-BR" sz="1800" i="1" u="sng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■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Existem  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tipos diferentes de </a:t>
            </a:r>
            <a:r>
              <a:rPr lang="pt-BR" sz="1800" u="sng" dirty="0" err="1">
                <a:latin typeface="Nunito"/>
                <a:ea typeface="Nunito"/>
                <a:cs typeface="Nunito"/>
                <a:sym typeface="Nunito"/>
              </a:rPr>
              <a:t>JOINs</a:t>
            </a:r>
            <a:endParaRPr lang="pt-BR" sz="1800" u="sng" dirty="0">
              <a:latin typeface="Nunito"/>
              <a:ea typeface="Nunito"/>
              <a:cs typeface="Nunito"/>
              <a:sym typeface="Nunito"/>
            </a:endParaRPr>
          </a:p>
          <a:p>
            <a:pPr marL="1301750" lvl="3" indent="-285750" algn="just">
              <a:spcBef>
                <a:spcPts val="1000"/>
              </a:spcBef>
              <a:buSzPts val="2000"/>
              <a:buFontTx/>
              <a:buChar char="-"/>
            </a:pP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INNER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01750" lvl="3" indent="-285750" algn="just">
              <a:spcBef>
                <a:spcPts val="1000"/>
              </a:spcBef>
              <a:buSzPts val="2000"/>
              <a:buFontTx/>
              <a:buChar char="-"/>
            </a:pP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LEFT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01750" lvl="3" indent="-285750" algn="just">
              <a:spcBef>
                <a:spcPts val="1000"/>
              </a:spcBef>
              <a:buSzPts val="2000"/>
              <a:buFontTx/>
              <a:buChar char="-"/>
            </a:pP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RIGHT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01750" lvl="3" indent="-285750" algn="just">
              <a:spcBef>
                <a:spcPts val="1000"/>
              </a:spcBef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FULL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301750" lvl="3" indent="-285750" algn="just">
              <a:spcBef>
                <a:spcPts val="1000"/>
              </a:spcBef>
              <a:buSzPts val="2000"/>
              <a:buFontTx/>
              <a:buChar char="-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9" name="Google Shape;419;p4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5" name="Google Shape;42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8" name="Google Shape;428;p47"/>
          <p:cNvSpPr txBox="1"/>
          <p:nvPr/>
        </p:nvSpPr>
        <p:spPr>
          <a:xfrm>
            <a:off x="418200" y="1036675"/>
            <a:ext cx="8279100" cy="2390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INNER</a:t>
            </a: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INNER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retorna apenas as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linhas que têm correspondência em ambas as tabelas 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envolvidas na junção. 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Combina linhas de duas tabelas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onde há uma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correspondência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nos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valores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das colunas especificadas.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p4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9B098C-87F1-4402-8FB5-23A09689C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14" y="3086729"/>
            <a:ext cx="2682472" cy="17679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5" name="Google Shape;435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7" name="Google Shape;437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8" name="Google Shape;438;p48"/>
          <p:cNvSpPr txBox="1"/>
          <p:nvPr/>
        </p:nvSpPr>
        <p:spPr>
          <a:xfrm>
            <a:off x="418200" y="8842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p4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40" name="Google Shape;4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813" y="3186038"/>
            <a:ext cx="4250525" cy="1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8"/>
          <p:cNvSpPr txBox="1"/>
          <p:nvPr/>
        </p:nvSpPr>
        <p:spPr>
          <a:xfrm>
            <a:off x="321650" y="1861300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Alunos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2" name="Google Shape;442;p48"/>
          <p:cNvSpPr txBox="1"/>
          <p:nvPr/>
        </p:nvSpPr>
        <p:spPr>
          <a:xfrm>
            <a:off x="326075" y="3838150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Cursos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3" name="Google Shape;44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575" y="1324411"/>
            <a:ext cx="4227550" cy="1789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43DF007-F3BD-41A1-98C6-5867CFC46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245" y="2159482"/>
            <a:ext cx="2682472" cy="17679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49" name="Google Shape;449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2" name="Google Shape;452;p49"/>
          <p:cNvSpPr txBox="1"/>
          <p:nvPr/>
        </p:nvSpPr>
        <p:spPr>
          <a:xfrm>
            <a:off x="418200" y="8842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3" name="Google Shape;453;p4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54" name="Google Shape;45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813" y="3186038"/>
            <a:ext cx="4250525" cy="1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9"/>
          <p:cNvSpPr txBox="1"/>
          <p:nvPr/>
        </p:nvSpPr>
        <p:spPr>
          <a:xfrm>
            <a:off x="321650" y="1861300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Alunos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326075" y="3838150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Cursos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49"/>
          <p:cNvSpPr txBox="1"/>
          <p:nvPr/>
        </p:nvSpPr>
        <p:spPr>
          <a:xfrm>
            <a:off x="5875125" y="22941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Como retornar apenas os alunos que estão matriculados em cursos que têm correspondência na tabela Cursos? </a:t>
            </a:r>
            <a:endParaRPr sz="1600" b="1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8" name="Google Shape;45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0575" y="1324411"/>
            <a:ext cx="4227550" cy="1789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4" name="Google Shape;46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7" name="Google Shape;467;p50"/>
          <p:cNvSpPr txBox="1"/>
          <p:nvPr/>
        </p:nvSpPr>
        <p:spPr>
          <a:xfrm>
            <a:off x="418200" y="8842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8" name="Google Shape;468;p5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69" name="Google Shape;46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76" y="1415524"/>
            <a:ext cx="7525852" cy="1661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70" name="Google Shape;47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4750" y="3130776"/>
            <a:ext cx="3625038" cy="16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76" name="Google Shape;47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8" name="Google Shape;478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9" name="Google Shape;479;p51"/>
          <p:cNvSpPr txBox="1"/>
          <p:nvPr/>
        </p:nvSpPr>
        <p:spPr>
          <a:xfrm>
            <a:off x="418200" y="1036675"/>
            <a:ext cx="8279100" cy="196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LEFT</a:t>
            </a: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LEFT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(ou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LEFT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OUTER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) retorna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todas as linhas da tabela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u="sng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à esquerda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e as </a:t>
            </a:r>
            <a:r>
              <a:rPr lang="pt-BR" sz="1800" b="1" i="1" u="sng" dirty="0">
                <a:latin typeface="Nunito"/>
                <a:ea typeface="Nunito"/>
                <a:cs typeface="Nunito"/>
                <a:sym typeface="Nunito"/>
              </a:rPr>
              <a:t>correspondentes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da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tabela à direita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. 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Para as linhas da tabela à esquerda que não têm correspondência na tabela à direita, os valores das colunas da tabela à direita serão </a:t>
            </a:r>
            <a:r>
              <a:rPr lang="pt-BR" sz="1800" i="1" dirty="0" err="1">
                <a:latin typeface="Nunito"/>
                <a:ea typeface="Nunito"/>
                <a:cs typeface="Nunito"/>
                <a:sym typeface="Nunito"/>
              </a:rPr>
              <a:t>NULL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0" name="Google Shape;480;p5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F265032-425E-4F85-8216-31C224D90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383" y="3224294"/>
            <a:ext cx="2225233" cy="15927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86" name="Google Shape;48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8" name="Google Shape;488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9" name="Google Shape;489;p52"/>
          <p:cNvSpPr txBox="1"/>
          <p:nvPr/>
        </p:nvSpPr>
        <p:spPr>
          <a:xfrm>
            <a:off x="418200" y="8842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0" name="Google Shape;490;p5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91" name="Google Shape;49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600" y="1365198"/>
            <a:ext cx="7843174" cy="176165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92" name="Google Shape;49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245" y="3179587"/>
            <a:ext cx="2891117" cy="16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8" name="Google Shape;49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0" name="Google Shape;500;p5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1" name="Google Shape;501;p53"/>
          <p:cNvSpPr txBox="1"/>
          <p:nvPr/>
        </p:nvSpPr>
        <p:spPr>
          <a:xfrm>
            <a:off x="418200" y="1036675"/>
            <a:ext cx="8279100" cy="224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RIGHT</a:t>
            </a: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RIGHT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(ou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RIGHT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OUTER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) retorna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todas as linhas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da </a:t>
            </a:r>
            <a:r>
              <a:rPr lang="pt-BR" sz="1800" b="1" i="1" u="sng" dirty="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tabela à direita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e as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correspondentes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da </a:t>
            </a:r>
            <a:r>
              <a:rPr lang="pt-BR" sz="1800" b="1" i="1" u="sng" dirty="0">
                <a:latin typeface="Nunito"/>
                <a:ea typeface="Nunito"/>
                <a:cs typeface="Nunito"/>
                <a:sym typeface="Nunito"/>
              </a:rPr>
              <a:t>tabela à esquerda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. 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Para as linhas da tabela à direita que não têm correspondência na tabela à esquerda, os valores das colunas da tabela à esquerda serão </a:t>
            </a:r>
            <a:r>
              <a:rPr lang="pt-BR" sz="1800" i="1" dirty="0" err="1">
                <a:latin typeface="Nunito"/>
                <a:ea typeface="Nunito"/>
                <a:cs typeface="Nunito"/>
                <a:sym typeface="Nunito"/>
              </a:rPr>
              <a:t>NULL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2" name="Google Shape;502;p5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2447D1-B652-46B4-BB77-A188B7F91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59" y="3274195"/>
            <a:ext cx="2293819" cy="1615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08" name="Google Shape;50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1" name="Google Shape;511;p54"/>
          <p:cNvSpPr txBox="1"/>
          <p:nvPr/>
        </p:nvSpPr>
        <p:spPr>
          <a:xfrm>
            <a:off x="418200" y="8842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5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13" name="Google Shape;51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181" y="1361263"/>
            <a:ext cx="7740268" cy="170828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14" name="Google Shape;51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2474" y="3069550"/>
            <a:ext cx="3217951" cy="17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20" name="Google Shape;52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2" name="Google Shape;522;p5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3" name="Google Shape;523;p55"/>
          <p:cNvSpPr txBox="1"/>
          <p:nvPr/>
        </p:nvSpPr>
        <p:spPr>
          <a:xfrm>
            <a:off x="418200" y="1036675"/>
            <a:ext cx="8279100" cy="211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 dirty="0">
                <a:latin typeface="Nunito"/>
                <a:ea typeface="Nunito"/>
                <a:cs typeface="Nunito"/>
                <a:sym typeface="Nunito"/>
              </a:rPr>
              <a:t>FULL </a:t>
            </a:r>
            <a:r>
              <a:rPr lang="pt-BR" sz="1900" b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FULL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(ou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FULL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OUTER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b="1" i="1" dirty="0" err="1">
                <a:latin typeface="Nunito"/>
                <a:ea typeface="Nunito"/>
                <a:cs typeface="Nunito"/>
                <a:sym typeface="Nunito"/>
              </a:rPr>
              <a:t>JOIN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retorna todas as linhas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quando há uma correspondência em uma das tabelas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. 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○"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Retorna </a:t>
            </a:r>
            <a:r>
              <a:rPr lang="pt-BR" sz="1800" i="1" dirty="0" err="1">
                <a:latin typeface="Nunito"/>
                <a:ea typeface="Nunito"/>
                <a:cs typeface="Nunito"/>
                <a:sym typeface="Nunito"/>
              </a:rPr>
              <a:t>NULL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para linhas sem correspondência em ambas as tabelas.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4" name="Google Shape;524;p5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A73482-4B4B-4693-B638-F1ADCBA50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847" y="3059501"/>
            <a:ext cx="2537680" cy="17146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30" name="Google Shape;53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2" name="Google Shape;532;p5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3" name="Google Shape;533;p56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4" name="Google Shape;534;p5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35" name="Google Shape;53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358" y="1242998"/>
            <a:ext cx="7792778" cy="175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6"/>
          <p:cNvPicPr preferRelativeResize="0"/>
          <p:nvPr/>
        </p:nvPicPr>
        <p:blipFill rotWithShape="1">
          <a:blip r:embed="rId5">
            <a:alphaModFix/>
          </a:blip>
          <a:srcRect t="5204"/>
          <a:stretch/>
        </p:blipFill>
        <p:spPr>
          <a:xfrm>
            <a:off x="2864585" y="3020200"/>
            <a:ext cx="3153865" cy="19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42" name="Google Shape;54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4" name="Google Shape;544;p5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5" name="Google Shape;545;p57"/>
          <p:cNvSpPr txBox="1"/>
          <p:nvPr/>
        </p:nvSpPr>
        <p:spPr>
          <a:xfrm>
            <a:off x="418200" y="1036675"/>
            <a:ext cx="8279100" cy="30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 com Subconsulta e INNER JOIN</a:t>
            </a:r>
            <a:endParaRPr sz="1900" b="1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9250" algn="just" rtl="0">
              <a:spcBef>
                <a:spcPts val="1000"/>
              </a:spcBef>
              <a:spcAft>
                <a:spcPts val="0"/>
              </a:spcAft>
              <a:buSzPts val="1900"/>
              <a:buFont typeface="Nunito"/>
              <a:buChar char="■"/>
            </a:pP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Suponha que temos as tabelas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Alunos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Cursos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, e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Professores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. 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49250" algn="just" rtl="0">
              <a:spcBef>
                <a:spcPts val="1000"/>
              </a:spcBef>
              <a:spcAft>
                <a:spcPts val="1000"/>
              </a:spcAft>
              <a:buSzPts val="1900"/>
              <a:buFont typeface="Nunito"/>
              <a:buChar char="■"/>
            </a:pP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Queremos encontrar os </a:t>
            </a: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nomes dos alunos que estão matriculados em cursos ministrados por um professor específico</a:t>
            </a:r>
            <a:r>
              <a:rPr lang="pt-BR" sz="1900">
                <a:latin typeface="Nunito"/>
                <a:ea typeface="Nunito"/>
                <a:cs typeface="Nunito"/>
                <a:sym typeface="Nunito"/>
              </a:rPr>
              <a:t>. </a:t>
            </a:r>
            <a:endParaRPr sz="1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6" name="Google Shape;546;p5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52" name="Google Shape;55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4" name="Google Shape;554;p5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5" name="Google Shape;555;p58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6" name="Google Shape;556;p5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57" name="Google Shape;55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25" y="1731463"/>
            <a:ext cx="3519116" cy="1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900" y="1765075"/>
            <a:ext cx="4284250" cy="13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575" y="3397113"/>
            <a:ext cx="2236300" cy="121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8"/>
          <p:cNvSpPr txBox="1"/>
          <p:nvPr/>
        </p:nvSpPr>
        <p:spPr>
          <a:xfrm>
            <a:off x="1569638" y="1326325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Alunos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1" name="Google Shape;561;p58"/>
          <p:cNvSpPr txBox="1"/>
          <p:nvPr/>
        </p:nvSpPr>
        <p:spPr>
          <a:xfrm>
            <a:off x="5485638" y="1210725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Cursos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2" name="Google Shape;562;p58"/>
          <p:cNvSpPr txBox="1"/>
          <p:nvPr/>
        </p:nvSpPr>
        <p:spPr>
          <a:xfrm>
            <a:off x="1730113" y="3841963"/>
            <a:ext cx="1410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Professores</a:t>
            </a:r>
            <a:endParaRPr sz="1600" i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SELECT Avançado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68" name="Google Shape;56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0" name="Google Shape;570;p5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1" name="Google Shape;571;p59"/>
          <p:cNvSpPr txBox="1"/>
          <p:nvPr/>
        </p:nvSpPr>
        <p:spPr>
          <a:xfrm>
            <a:off x="418200" y="808075"/>
            <a:ext cx="8279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1000"/>
              </a:spcAft>
              <a:buSzPts val="1900"/>
              <a:buFont typeface="Nunito"/>
              <a:buChar char="●"/>
            </a:pPr>
            <a:r>
              <a:rPr lang="pt-BR" sz="1900" b="1">
                <a:latin typeface="Nunito"/>
                <a:ea typeface="Nunito"/>
                <a:cs typeface="Nunito"/>
                <a:sym typeface="Nunito"/>
              </a:rPr>
              <a:t>EXEMPLOS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2" name="Google Shape;572;p5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73" name="Google Shape;57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300" y="1790151"/>
            <a:ext cx="8000000" cy="24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5125" y="1285075"/>
            <a:ext cx="1534475" cy="12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553</Words>
  <Application>Microsoft Office PowerPoint</Application>
  <PresentationFormat>Apresentação na tela (16:9)</PresentationFormat>
  <Paragraphs>120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Maven Pro SemiBold</vt:lpstr>
      <vt:lpstr>Helvetica Neue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4</cp:revision>
  <dcterms:modified xsi:type="dcterms:W3CDTF">2025-09-23T20:06:57Z</dcterms:modified>
</cp:coreProperties>
</file>