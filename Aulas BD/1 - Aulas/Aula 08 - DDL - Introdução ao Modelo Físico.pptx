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7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90" r:id="rId15"/>
    <p:sldId id="291" r:id="rId16"/>
    <p:sldId id="293" r:id="rId17"/>
    <p:sldId id="292" r:id="rId18"/>
    <p:sldId id="272" r:id="rId19"/>
    <p:sldId id="273" r:id="rId20"/>
    <p:sldId id="294" r:id="rId21"/>
    <p:sldId id="274" r:id="rId22"/>
    <p:sldId id="275" r:id="rId23"/>
    <p:sldId id="276" r:id="rId24"/>
    <p:sldId id="277" r:id="rId25"/>
    <p:sldId id="295" r:id="rId26"/>
  </p:sldIdLst>
  <p:sldSz cx="9144000" cy="5143500" type="screen16x9"/>
  <p:notesSz cx="6858000" cy="9144000"/>
  <p:embeddedFontLst>
    <p:embeddedFont>
      <p:font typeface="Maven Pro" panose="020B0604020202020204" charset="0"/>
      <p:regular r:id="rId28"/>
      <p:bold r:id="rId29"/>
    </p:embeddedFont>
    <p:embeddedFont>
      <p:font typeface="Maven Pro Medium" panose="020B0604020202020204" charset="0"/>
      <p:regular r:id="rId30"/>
      <p:bold r:id="rId31"/>
    </p:embeddedFont>
    <p:embeddedFont>
      <p:font typeface="Maven Pro SemiBold" panose="020B0604020202020204" charset="0"/>
      <p:regular r:id="rId32"/>
      <p:bold r:id="rId33"/>
    </p:embeddedFont>
    <p:embeddedFont>
      <p:font typeface="Nunito" panose="020B0604020202020204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2680" autoAdjust="0"/>
  </p:normalViewPr>
  <p:slideViewPr>
    <p:cSldViewPr snapToGrid="0">
      <p:cViewPr varScale="1">
        <p:scale>
          <a:sx n="93" d="100"/>
          <a:sy n="93" d="100"/>
        </p:scale>
        <p:origin x="116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f573f7c119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g1f573f7c119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f803dbf59e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g1f803dbf59e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f803dbf59e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g1f803dbf59e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f803dbf59e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g1f803dbf59e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f803dbf59e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1f803dbf59e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f803dbf59e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g1f803dbf59e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f803dbf59e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g1f803dbf59e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f80addd07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g1f80addd07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f803dbf59e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f803dbf59e_0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f803dbf59e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1f803dbf59e_0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f803dbf59e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g1f803dbf59e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1f803dbf59e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5" name="Google Shape;245;g1f803dbf59e_0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1f80addd075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8" name="Google Shape;268;g1f80addd075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dirty="0"/>
              <a:t>DDL (Data </a:t>
            </a:r>
            <a:r>
              <a:rPr lang="pt-BR" dirty="0" err="1"/>
              <a:t>Definition</a:t>
            </a:r>
            <a:r>
              <a:rPr lang="pt-BR" dirty="0"/>
              <a:t> </a:t>
            </a:r>
            <a:r>
              <a:rPr lang="pt-BR" dirty="0" err="1"/>
              <a:t>Language</a:t>
            </a:r>
            <a:r>
              <a:rPr lang="pt-BR" dirty="0"/>
              <a:t>) define e gerencia a estrutura de um banco de dados (como criar e alterar tabelas), </a:t>
            </a:r>
            <a:br>
              <a:rPr lang="pt-BR" dirty="0"/>
            </a:br>
            <a:r>
              <a:rPr lang="pt-BR" dirty="0" err="1"/>
              <a:t>DQL</a:t>
            </a:r>
            <a:r>
              <a:rPr lang="pt-BR" dirty="0"/>
              <a:t> incluiu o </a:t>
            </a:r>
            <a:r>
              <a:rPr lang="pt-BR" dirty="0" err="1"/>
              <a:t>select</a:t>
            </a:r>
            <a:r>
              <a:rPr lang="pt-BR" dirty="0"/>
              <a:t>, mas há autores que entendem essa fazer parte da </a:t>
            </a:r>
            <a:r>
              <a:rPr lang="pt-BR" dirty="0" err="1"/>
              <a:t>DML</a:t>
            </a:r>
            <a:br>
              <a:rPr lang="pt-BR" dirty="0"/>
            </a:br>
            <a:r>
              <a:rPr lang="pt-BR" dirty="0" err="1"/>
              <a:t>DML</a:t>
            </a:r>
            <a:r>
              <a:rPr lang="pt-BR" dirty="0"/>
              <a:t> (Data </a:t>
            </a:r>
            <a:r>
              <a:rPr lang="pt-BR" dirty="0" err="1"/>
              <a:t>Manipulation</a:t>
            </a:r>
            <a:r>
              <a:rPr lang="pt-BR" dirty="0"/>
              <a:t> </a:t>
            </a:r>
            <a:r>
              <a:rPr lang="pt-BR" dirty="0" err="1"/>
              <a:t>Language</a:t>
            </a:r>
            <a:r>
              <a:rPr lang="pt-BR" dirty="0"/>
              <a:t>) manipula os dados dentro dessas estruturas (como inserir, atualizar ou deletar dados)</a:t>
            </a:r>
            <a:r>
              <a:rPr lang="pt-BR" b="0" i="0" dirty="0">
                <a:solidFill>
                  <a:srgbClr val="001D35"/>
                </a:solidFill>
                <a:effectLst/>
                <a:latin typeface="Google Sans"/>
              </a:rPr>
              <a:t>.</a:t>
            </a:r>
            <a:br>
              <a:rPr lang="pt-BR" b="0" i="0" dirty="0">
                <a:solidFill>
                  <a:srgbClr val="001D35"/>
                </a:solidFill>
                <a:effectLst/>
                <a:latin typeface="Google Sans"/>
              </a:rPr>
            </a:br>
            <a:r>
              <a:rPr lang="pt-BR" b="0" i="0" dirty="0" err="1">
                <a:solidFill>
                  <a:srgbClr val="001D35"/>
                </a:solidFill>
                <a:effectLst/>
                <a:latin typeface="Google Sans"/>
              </a:rPr>
              <a:t>DCL</a:t>
            </a:r>
            <a:r>
              <a:rPr lang="pt-BR" b="0" i="0" dirty="0">
                <a:solidFill>
                  <a:srgbClr val="001D35"/>
                </a:solidFill>
                <a:effectLst/>
                <a:latin typeface="Google Sans"/>
              </a:rPr>
              <a:t> - </a:t>
            </a:r>
            <a:r>
              <a:rPr lang="pt-BR" b="0" i="0" dirty="0">
                <a:solidFill>
                  <a:srgbClr val="001D35"/>
                </a:solidFill>
                <a:effectLst/>
                <a:latin typeface="Arial" panose="020B0604020202020204" pitchFamily="34" charset="0"/>
              </a:rPr>
              <a:t> Controla a segurança e o acesso aos dados em um banco de dados, incluindo privilégios e criação de usuários</a:t>
            </a:r>
            <a:br>
              <a:rPr lang="pt-BR" b="0" i="0" dirty="0">
                <a:solidFill>
                  <a:srgbClr val="001D35"/>
                </a:solidFill>
                <a:effectLst/>
                <a:latin typeface="Arial" panose="020B0604020202020204" pitchFamily="34" charset="0"/>
              </a:rPr>
            </a:br>
            <a:r>
              <a:rPr lang="pt-BR" b="0" i="0" dirty="0" err="1">
                <a:solidFill>
                  <a:srgbClr val="001D35"/>
                </a:solidFill>
                <a:effectLst/>
                <a:latin typeface="Arial" panose="020B0604020202020204" pitchFamily="34" charset="0"/>
              </a:rPr>
              <a:t>DTL</a:t>
            </a:r>
            <a:r>
              <a:rPr lang="pt-BR" b="0" i="0" dirty="0">
                <a:solidFill>
                  <a:srgbClr val="001D35"/>
                </a:solidFill>
                <a:effectLst/>
                <a:latin typeface="Arial" panose="020B0604020202020204" pitchFamily="34" charset="0"/>
              </a:rPr>
              <a:t> - </a:t>
            </a:r>
            <a:r>
              <a:rPr lang="pt-BR" b="0" i="0" dirty="0">
                <a:solidFill>
                  <a:srgbClr val="545D7E"/>
                </a:solidFill>
                <a:effectLst/>
                <a:latin typeface="Arial" panose="020B0604020202020204" pitchFamily="34" charset="0"/>
              </a:rPr>
              <a:t>Gerencia transações, garantindo que um conjunto de operações seja executado como uma única unidade lógica.</a:t>
            </a:r>
            <a:br>
              <a:rPr lang="pt-BR" b="0" i="0" dirty="0">
                <a:solidFill>
                  <a:srgbClr val="001D35"/>
                </a:solidFill>
                <a:effectLst/>
                <a:latin typeface="Arial" panose="020B0604020202020204" pitchFamily="34" charset="0"/>
              </a:rPr>
            </a:b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752940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1f80addd075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8" name="Google Shape;268;g1f80addd075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554867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1f80addd075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8" name="Google Shape;268;g1f80addd075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525445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1f80addd075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8" name="Google Shape;268;g1f80addd075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292360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1f803dbf59e_0_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8" name="Google Shape;278;g1f803dbf59e_0_2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1f8088dd38a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1" name="Google Shape;291;g1f8088dd38a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1f8088dd38a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1" name="Google Shape;291;g1f8088dd38a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50530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1f8088dd38a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3" name="Google Shape;303;g1f8088dd38a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1f8088dd38a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5" name="Google Shape;315;g1f8088dd38a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f8088dd38a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" name="Google Shape;327;g1f8088dd38a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1f8088dd38a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0" name="Google Shape;340;g1f8088dd38a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1f8088dd38a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3" name="Google Shape;303;g1f8088dd38a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83420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pt.wikipedia.org/wiki/Dataflex" TargetMode="External"/><Relationship Id="rId13" Type="http://schemas.openxmlformats.org/officeDocument/2006/relationships/hyperlink" Target="https://pt.wikipedia.org/wiki/Informix" TargetMode="External"/><Relationship Id="rId18" Type="http://schemas.openxmlformats.org/officeDocument/2006/relationships/hyperlink" Target="https://pt.wikipedia.org/wiki/MySQL" TargetMode="External"/><Relationship Id="rId26" Type="http://schemas.openxmlformats.org/officeDocument/2006/relationships/hyperlink" Target="https://www.iso.org/standard/76583.html" TargetMode="External"/><Relationship Id="rId3" Type="http://schemas.openxmlformats.org/officeDocument/2006/relationships/image" Target="../media/image1.png"/><Relationship Id="rId21" Type="http://schemas.openxmlformats.org/officeDocument/2006/relationships/hyperlink" Target="https://pt.wikipedia.org/wiki/PostgreSQL" TargetMode="External"/><Relationship Id="rId7" Type="http://schemas.openxmlformats.org/officeDocument/2006/relationships/hyperlink" Target="https://pt.wikipedia.org/wiki/DB2" TargetMode="External"/><Relationship Id="rId12" Type="http://schemas.openxmlformats.org/officeDocument/2006/relationships/hyperlink" Target="https://pt.wikipedia.org/wiki/IMS" TargetMode="External"/><Relationship Id="rId17" Type="http://schemas.openxmlformats.org/officeDocument/2006/relationships/hyperlink" Target="https://pt.wikipedia.org/wiki/Microsoft_SQL_Server" TargetMode="External"/><Relationship Id="rId25" Type="http://schemas.openxmlformats.org/officeDocument/2006/relationships/hyperlink" Target="https://pt.wikipedia.org/wiki/Teradata" TargetMode="External"/><Relationship Id="rId2" Type="http://schemas.openxmlformats.org/officeDocument/2006/relationships/notesSlide" Target="../notesSlides/notesSlide13.xml"/><Relationship Id="rId16" Type="http://schemas.openxmlformats.org/officeDocument/2006/relationships/hyperlink" Target="https://pt.wikipedia.org/wiki/Microsoft_Access" TargetMode="External"/><Relationship Id="rId20" Type="http://schemas.openxmlformats.org/officeDocument/2006/relationships/hyperlink" Target="https://pt.wikipedia.org/wiki/PointBase_Micro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pt.wikipedia.org/wiki/Cach%C3%A9" TargetMode="External"/><Relationship Id="rId11" Type="http://schemas.openxmlformats.org/officeDocument/2006/relationships/hyperlink" Target="https://pt.wikipedia.org/w/index.php?title=IDMS&amp;action=edit&amp;redlink=1" TargetMode="External"/><Relationship Id="rId24" Type="http://schemas.openxmlformats.org/officeDocument/2006/relationships/hyperlink" Target="https://pt.wikipedia.org/wiki/Sybase" TargetMode="External"/><Relationship Id="rId5" Type="http://schemas.openxmlformats.org/officeDocument/2006/relationships/hyperlink" Target="https://pt.wikipedia.org/wiki/Apache_Derby" TargetMode="External"/><Relationship Id="rId15" Type="http://schemas.openxmlformats.org/officeDocument/2006/relationships/hyperlink" Target="https://pt.wikipedia.org/wiki/InterBase" TargetMode="External"/><Relationship Id="rId23" Type="http://schemas.openxmlformats.org/officeDocument/2006/relationships/hyperlink" Target="https://pt.wikipedia.org/w/index.php?title=LiteBase_Mobile&amp;action=edit&amp;redlink=1" TargetMode="External"/><Relationship Id="rId10" Type="http://schemas.openxmlformats.org/officeDocument/2006/relationships/hyperlink" Target="https://pt.wikipedia.org/wiki/HSQLDB" TargetMode="External"/><Relationship Id="rId19" Type="http://schemas.openxmlformats.org/officeDocument/2006/relationships/hyperlink" Target="https://pt.wikipedia.org/wiki/Oracle_(banco_de_dados)" TargetMode="External"/><Relationship Id="rId4" Type="http://schemas.openxmlformats.org/officeDocument/2006/relationships/hyperlink" Target="https://web.archive.org/web/20101008045513/http:/www.sybase.com.br/products/databasemanagement/advantagedatabaseserver" TargetMode="External"/><Relationship Id="rId9" Type="http://schemas.openxmlformats.org/officeDocument/2006/relationships/hyperlink" Target="https://pt.wikipedia.org/wiki/Firebird_(servidor_de_base_de_dados)" TargetMode="External"/><Relationship Id="rId14" Type="http://schemas.openxmlformats.org/officeDocument/2006/relationships/hyperlink" Target="https://pt.wikipedia.org/wiki/Ingres_(SGBD)" TargetMode="External"/><Relationship Id="rId22" Type="http://schemas.openxmlformats.org/officeDocument/2006/relationships/hyperlink" Target="https://pt.wikipedia.org/wiki/SQLite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>
          <a:xfrm>
            <a:off x="867373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68" name="Google Shape;68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23425" y="56679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/>
          <p:nvPr/>
        </p:nvSpPr>
        <p:spPr>
          <a:xfrm>
            <a:off x="508325" y="1719500"/>
            <a:ext cx="7857900" cy="17736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lang="pt-BR" sz="320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 Introdução ao Modelo Físico</a:t>
            </a:r>
            <a:endParaRPr sz="3200">
              <a:solidFill>
                <a:srgbClr val="FFFFFF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Introdução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418200" y="1265275"/>
            <a:ext cx="8279100" cy="32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Usa como base o modelo lógico.</a:t>
            </a: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Refinamento do modelo lógico</a:t>
            </a: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Preocupa em criar as estruturas de dados físicas no </a:t>
            </a:r>
            <a:r>
              <a:rPr lang="pt-BR" sz="2000" dirty="0" err="1">
                <a:latin typeface="Nunito"/>
                <a:ea typeface="Nunito"/>
                <a:cs typeface="Nunito"/>
                <a:sym typeface="Nunito"/>
              </a:rPr>
              <a:t>SGBD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.</a:t>
            </a: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É a etapa final antes de se partir para a criação do banco de dados.</a:t>
            </a:r>
            <a:endParaRPr sz="2000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</a:t>
            </a:fld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Introdução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85" name="Google Shape;85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6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418200" y="1112875"/>
            <a:ext cx="8279100" cy="35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Muitas das ferramentas de modelagem disponíveis no mercado possibilitam a geração do modelo físico a partir do modelo lógico desenvolvido.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Scripts em uma linguagem denominada: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○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SQL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○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DDL 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9" name="Google Shape;89;p16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3</a:t>
            </a:fld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/>
          <p:nvPr/>
        </p:nvSpPr>
        <p:spPr>
          <a:xfrm rot="10800000" flipH="1">
            <a:off x="2162350" y="2407277"/>
            <a:ext cx="4201775" cy="2225000"/>
          </a:xfrm>
          <a:prstGeom prst="flowChartMerg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7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Introdução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96" name="Google Shape;96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7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98" name="Google Shape;98;p17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99" name="Google Shape;99;p17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4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0" name="Google Shape;100;p17"/>
          <p:cNvSpPr/>
          <p:nvPr/>
        </p:nvSpPr>
        <p:spPr>
          <a:xfrm>
            <a:off x="3156784" y="869609"/>
            <a:ext cx="2212920" cy="799956"/>
          </a:xfrm>
          <a:prstGeom prst="cloud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Maven Pro SemiBold"/>
                <a:ea typeface="Maven Pro SemiBold"/>
                <a:cs typeface="Maven Pro SemiBold"/>
                <a:sym typeface="Maven Pro SemiBold"/>
              </a:rPr>
              <a:t>Mundo Real</a:t>
            </a:r>
            <a:endParaRPr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  <p:sp>
        <p:nvSpPr>
          <p:cNvPr id="101" name="Google Shape;101;p17"/>
          <p:cNvSpPr/>
          <p:nvPr/>
        </p:nvSpPr>
        <p:spPr>
          <a:xfrm>
            <a:off x="2845597" y="1958157"/>
            <a:ext cx="2835300" cy="344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Maven Pro SemiBold"/>
                <a:ea typeface="Maven Pro SemiBold"/>
                <a:cs typeface="Maven Pro SemiBold"/>
                <a:sym typeface="Maven Pro SemiBold"/>
              </a:rPr>
              <a:t>Especificação dos Requisitos</a:t>
            </a:r>
            <a:endParaRPr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3225975" y="2713016"/>
            <a:ext cx="2074500" cy="381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Maven Pro SemiBold"/>
                <a:ea typeface="Maven Pro SemiBold"/>
                <a:cs typeface="Maven Pro SemiBold"/>
                <a:sym typeface="Maven Pro SemiBold"/>
              </a:rPr>
              <a:t>Modelo Conceitual</a:t>
            </a:r>
            <a:endParaRPr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  <p:sp>
        <p:nvSpPr>
          <p:cNvPr id="103" name="Google Shape;103;p17"/>
          <p:cNvSpPr/>
          <p:nvPr/>
        </p:nvSpPr>
        <p:spPr>
          <a:xfrm>
            <a:off x="2845588" y="3275400"/>
            <a:ext cx="2835300" cy="381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Maven Pro SemiBold"/>
                <a:ea typeface="Maven Pro SemiBold"/>
                <a:cs typeface="Maven Pro SemiBold"/>
                <a:sym typeface="Maven Pro SemiBold"/>
              </a:rPr>
              <a:t>Modelo Lógico</a:t>
            </a:r>
            <a:endParaRPr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  <p:sp>
        <p:nvSpPr>
          <p:cNvPr id="104" name="Google Shape;104;p17"/>
          <p:cNvSpPr/>
          <p:nvPr/>
        </p:nvSpPr>
        <p:spPr>
          <a:xfrm>
            <a:off x="2483950" y="3846700"/>
            <a:ext cx="3558600" cy="381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Maven Pro SemiBold"/>
                <a:ea typeface="Maven Pro SemiBold"/>
                <a:cs typeface="Maven Pro SemiBold"/>
                <a:sym typeface="Maven Pro SemiBold"/>
              </a:rPr>
              <a:t>Modelo Físico</a:t>
            </a:r>
            <a:endParaRPr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  <p:grpSp>
        <p:nvGrpSpPr>
          <p:cNvPr id="105" name="Google Shape;105;p17"/>
          <p:cNvGrpSpPr/>
          <p:nvPr/>
        </p:nvGrpSpPr>
        <p:grpSpPr>
          <a:xfrm>
            <a:off x="3029552" y="4316050"/>
            <a:ext cx="2364600" cy="527700"/>
            <a:chOff x="1353152" y="4316050"/>
            <a:chExt cx="2364600" cy="527700"/>
          </a:xfrm>
        </p:grpSpPr>
        <p:sp>
          <p:nvSpPr>
            <p:cNvPr id="106" name="Google Shape;106;p17"/>
            <p:cNvSpPr/>
            <p:nvPr/>
          </p:nvSpPr>
          <p:spPr>
            <a:xfrm>
              <a:off x="1353152" y="4316050"/>
              <a:ext cx="2364600" cy="527700"/>
            </a:xfrm>
            <a:prstGeom prst="rect">
              <a:avLst/>
            </a:prstGeom>
            <a:solidFill>
              <a:srgbClr val="D0E0E3"/>
            </a:solidFill>
            <a:ln w="9525" cap="flat" cmpd="sng">
              <a:solidFill>
                <a:srgbClr val="4F81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b="1">
                  <a:latin typeface="Maven Pro"/>
                  <a:ea typeface="Maven Pro"/>
                  <a:cs typeface="Maven Pro"/>
                  <a:sym typeface="Maven Pro"/>
                </a:rPr>
                <a:t>BANCO DE DADOS</a:t>
              </a:r>
              <a:endParaRPr b="1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pic>
          <p:nvPicPr>
            <p:cNvPr id="107" name="Google Shape;107;p1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13950" y="4393300"/>
              <a:ext cx="373201" cy="373199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08" name="Google Shape;108;p17"/>
          <p:cNvCxnSpPr>
            <a:stCxn id="100" idx="1"/>
            <a:endCxn id="101" idx="0"/>
          </p:cNvCxnSpPr>
          <p:nvPr/>
        </p:nvCxnSpPr>
        <p:spPr>
          <a:xfrm>
            <a:off x="4263244" y="1668714"/>
            <a:ext cx="0" cy="289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9" name="Google Shape;109;p17"/>
          <p:cNvCxnSpPr>
            <a:stCxn id="101" idx="2"/>
            <a:endCxn id="102" idx="0"/>
          </p:cNvCxnSpPr>
          <p:nvPr/>
        </p:nvCxnSpPr>
        <p:spPr>
          <a:xfrm>
            <a:off x="4263247" y="2302857"/>
            <a:ext cx="0" cy="410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0" name="Google Shape;110;p17"/>
          <p:cNvCxnSpPr>
            <a:stCxn id="102" idx="2"/>
            <a:endCxn id="103" idx="0"/>
          </p:cNvCxnSpPr>
          <p:nvPr/>
        </p:nvCxnSpPr>
        <p:spPr>
          <a:xfrm>
            <a:off x="4263225" y="3094316"/>
            <a:ext cx="0" cy="181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1" name="Google Shape;111;p17"/>
          <p:cNvCxnSpPr>
            <a:stCxn id="103" idx="2"/>
            <a:endCxn id="104" idx="0"/>
          </p:cNvCxnSpPr>
          <p:nvPr/>
        </p:nvCxnSpPr>
        <p:spPr>
          <a:xfrm>
            <a:off x="4263238" y="3656700"/>
            <a:ext cx="0" cy="189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Introdução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17" name="Google Shape;117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8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19" name="Google Shape;119;p18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20" name="Google Shape;120;p18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5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21" name="Google Shape;121;p18"/>
          <p:cNvSpPr/>
          <p:nvPr/>
        </p:nvSpPr>
        <p:spPr>
          <a:xfrm>
            <a:off x="1480384" y="869609"/>
            <a:ext cx="2212920" cy="799956"/>
          </a:xfrm>
          <a:prstGeom prst="cloud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CC0000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Mundo Real</a:t>
            </a:r>
            <a:endParaRPr>
              <a:solidFill>
                <a:srgbClr val="CC0000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  <p:sp>
        <p:nvSpPr>
          <p:cNvPr id="122" name="Google Shape;122;p18"/>
          <p:cNvSpPr txBox="1"/>
          <p:nvPr/>
        </p:nvSpPr>
        <p:spPr>
          <a:xfrm>
            <a:off x="4572000" y="1387800"/>
            <a:ext cx="41061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➢"/>
            </a:pP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É </a:t>
            </a:r>
            <a:r>
              <a:rPr lang="pt-BR" sz="1800" b="1">
                <a:latin typeface="Nunito"/>
                <a:ea typeface="Nunito"/>
                <a:cs typeface="Nunito"/>
                <a:sym typeface="Nunito"/>
              </a:rPr>
              <a:t>fonte dos requisitos</a:t>
            </a: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 e o ponto de partida.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➢"/>
            </a:pP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Representa o ambiente sobre o qual o banco de dados é construído, incluindo os </a:t>
            </a:r>
            <a:r>
              <a:rPr lang="pt-BR" sz="1800" b="1">
                <a:latin typeface="Nunito"/>
                <a:ea typeface="Nunito"/>
                <a:cs typeface="Nunito"/>
                <a:sym typeface="Nunito"/>
              </a:rPr>
              <a:t>processos de negócios</a:t>
            </a: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 e as necessidades de informação.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Introdução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28" name="Google Shape;128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9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30" name="Google Shape;130;p19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31" name="Google Shape;131;p19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6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32" name="Google Shape;132;p19"/>
          <p:cNvSpPr/>
          <p:nvPr/>
        </p:nvSpPr>
        <p:spPr>
          <a:xfrm>
            <a:off x="1480384" y="869609"/>
            <a:ext cx="2212920" cy="799956"/>
          </a:xfrm>
          <a:prstGeom prst="cloud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Maven Pro SemiBold"/>
                <a:ea typeface="Maven Pro SemiBold"/>
                <a:cs typeface="Maven Pro SemiBold"/>
                <a:sym typeface="Maven Pro SemiBold"/>
              </a:rPr>
              <a:t>Mundo Real</a:t>
            </a:r>
            <a:endParaRPr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  <p:sp>
        <p:nvSpPr>
          <p:cNvPr id="133" name="Google Shape;133;p19"/>
          <p:cNvSpPr/>
          <p:nvPr/>
        </p:nvSpPr>
        <p:spPr>
          <a:xfrm>
            <a:off x="1169197" y="1958157"/>
            <a:ext cx="2835300" cy="344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CC0000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Especificação dos Requisitos</a:t>
            </a:r>
            <a:endParaRPr>
              <a:solidFill>
                <a:srgbClr val="CC0000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  <p:cxnSp>
        <p:nvCxnSpPr>
          <p:cNvPr id="134" name="Google Shape;134;p19"/>
          <p:cNvCxnSpPr>
            <a:stCxn id="132" idx="1"/>
            <a:endCxn id="133" idx="0"/>
          </p:cNvCxnSpPr>
          <p:nvPr/>
        </p:nvCxnSpPr>
        <p:spPr>
          <a:xfrm>
            <a:off x="2586844" y="1668714"/>
            <a:ext cx="0" cy="289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5" name="Google Shape;135;p19"/>
          <p:cNvSpPr txBox="1"/>
          <p:nvPr/>
        </p:nvSpPr>
        <p:spPr>
          <a:xfrm>
            <a:off x="4572000" y="1387800"/>
            <a:ext cx="4106100" cy="29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➢"/>
            </a:pP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É o processo de </a:t>
            </a:r>
            <a:r>
              <a:rPr lang="pt-BR" sz="1800" b="1">
                <a:latin typeface="Nunito"/>
                <a:ea typeface="Nunito"/>
                <a:cs typeface="Nunito"/>
                <a:sym typeface="Nunito"/>
              </a:rPr>
              <a:t>coleta e análise</a:t>
            </a: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 das necessidades de informação que o sistema de banco de dados deve atender. 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➢"/>
            </a:pP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Entender o que os </a:t>
            </a:r>
            <a:r>
              <a:rPr lang="pt-BR" sz="1800" b="1">
                <a:latin typeface="Nunito"/>
                <a:ea typeface="Nunito"/>
                <a:cs typeface="Nunito"/>
                <a:sym typeface="Nunito"/>
              </a:rPr>
              <a:t>usuários finais</a:t>
            </a: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 esperam do banco de dados em termos de </a:t>
            </a:r>
            <a:r>
              <a:rPr lang="pt-BR" sz="1800" b="1">
                <a:latin typeface="Nunito"/>
                <a:ea typeface="Nunito"/>
                <a:cs typeface="Nunito"/>
                <a:sym typeface="Nunito"/>
              </a:rPr>
              <a:t>armazenamento de dados</a:t>
            </a: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, </a:t>
            </a:r>
            <a:r>
              <a:rPr lang="pt-BR" sz="1800" b="1">
                <a:latin typeface="Nunito"/>
                <a:ea typeface="Nunito"/>
                <a:cs typeface="Nunito"/>
                <a:sym typeface="Nunito"/>
              </a:rPr>
              <a:t>consultas</a:t>
            </a: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, </a:t>
            </a:r>
            <a:r>
              <a:rPr lang="pt-BR" sz="1800" b="1">
                <a:latin typeface="Nunito"/>
                <a:ea typeface="Nunito"/>
                <a:cs typeface="Nunito"/>
                <a:sym typeface="Nunito"/>
              </a:rPr>
              <a:t>atualizações </a:t>
            </a: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e </a:t>
            </a:r>
            <a:r>
              <a:rPr lang="pt-BR" sz="1800" b="1" u="sng">
                <a:latin typeface="Nunito"/>
                <a:ea typeface="Nunito"/>
                <a:cs typeface="Nunito"/>
                <a:sym typeface="Nunito"/>
              </a:rPr>
              <a:t>relatórios</a:t>
            </a: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.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/>
          <p:nvPr/>
        </p:nvSpPr>
        <p:spPr>
          <a:xfrm rot="10800000" flipH="1">
            <a:off x="485950" y="2407277"/>
            <a:ext cx="4201775" cy="2225000"/>
          </a:xfrm>
          <a:prstGeom prst="flowChartMerg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20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Introdução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42" name="Google Shape;142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0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44" name="Google Shape;144;p20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45" name="Google Shape;145;p20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7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46" name="Google Shape;146;p20"/>
          <p:cNvSpPr/>
          <p:nvPr/>
        </p:nvSpPr>
        <p:spPr>
          <a:xfrm>
            <a:off x="1480384" y="869609"/>
            <a:ext cx="2212920" cy="799956"/>
          </a:xfrm>
          <a:prstGeom prst="cloud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Maven Pro SemiBold"/>
                <a:ea typeface="Maven Pro SemiBold"/>
                <a:cs typeface="Maven Pro SemiBold"/>
                <a:sym typeface="Maven Pro SemiBold"/>
              </a:rPr>
              <a:t>Mundo Real</a:t>
            </a:r>
            <a:endParaRPr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  <p:sp>
        <p:nvSpPr>
          <p:cNvPr id="147" name="Google Shape;147;p20"/>
          <p:cNvSpPr/>
          <p:nvPr/>
        </p:nvSpPr>
        <p:spPr>
          <a:xfrm>
            <a:off x="1169197" y="1958157"/>
            <a:ext cx="2835300" cy="344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Maven Pro SemiBold"/>
                <a:ea typeface="Maven Pro SemiBold"/>
                <a:cs typeface="Maven Pro SemiBold"/>
                <a:sym typeface="Maven Pro SemiBold"/>
              </a:rPr>
              <a:t>Especificação dos Requisitos</a:t>
            </a:r>
            <a:endParaRPr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  <p:sp>
        <p:nvSpPr>
          <p:cNvPr id="148" name="Google Shape;148;p20"/>
          <p:cNvSpPr/>
          <p:nvPr/>
        </p:nvSpPr>
        <p:spPr>
          <a:xfrm>
            <a:off x="1549575" y="2713016"/>
            <a:ext cx="2074500" cy="381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CC0000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Modelo Conceitual</a:t>
            </a:r>
            <a:endParaRPr>
              <a:solidFill>
                <a:srgbClr val="CC0000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  <p:grpSp>
        <p:nvGrpSpPr>
          <p:cNvPr id="149" name="Google Shape;149;p20"/>
          <p:cNvGrpSpPr/>
          <p:nvPr/>
        </p:nvGrpSpPr>
        <p:grpSpPr>
          <a:xfrm>
            <a:off x="1353152" y="4316050"/>
            <a:ext cx="2364600" cy="527700"/>
            <a:chOff x="1353152" y="4316050"/>
            <a:chExt cx="2364600" cy="527700"/>
          </a:xfrm>
        </p:grpSpPr>
        <p:sp>
          <p:nvSpPr>
            <p:cNvPr id="150" name="Google Shape;150;p20"/>
            <p:cNvSpPr/>
            <p:nvPr/>
          </p:nvSpPr>
          <p:spPr>
            <a:xfrm>
              <a:off x="1353152" y="4316050"/>
              <a:ext cx="2364600" cy="527700"/>
            </a:xfrm>
            <a:prstGeom prst="rect">
              <a:avLst/>
            </a:prstGeom>
            <a:solidFill>
              <a:srgbClr val="D0E0E3"/>
            </a:solidFill>
            <a:ln w="9525" cap="flat" cmpd="sng">
              <a:solidFill>
                <a:srgbClr val="4F81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b="1">
                  <a:latin typeface="Maven Pro"/>
                  <a:ea typeface="Maven Pro"/>
                  <a:cs typeface="Maven Pro"/>
                  <a:sym typeface="Maven Pro"/>
                </a:rPr>
                <a:t>BANCO DE DADOS</a:t>
              </a:r>
              <a:endParaRPr b="1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pic>
          <p:nvPicPr>
            <p:cNvPr id="151" name="Google Shape;151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13950" y="4393300"/>
              <a:ext cx="373201" cy="373199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52" name="Google Shape;152;p20"/>
          <p:cNvCxnSpPr>
            <a:stCxn id="146" idx="1"/>
            <a:endCxn id="147" idx="0"/>
          </p:cNvCxnSpPr>
          <p:nvPr/>
        </p:nvCxnSpPr>
        <p:spPr>
          <a:xfrm>
            <a:off x="2586844" y="1668714"/>
            <a:ext cx="0" cy="289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3" name="Google Shape;153;p20"/>
          <p:cNvCxnSpPr>
            <a:stCxn id="147" idx="2"/>
            <a:endCxn id="148" idx="0"/>
          </p:cNvCxnSpPr>
          <p:nvPr/>
        </p:nvCxnSpPr>
        <p:spPr>
          <a:xfrm>
            <a:off x="2586847" y="2302857"/>
            <a:ext cx="0" cy="410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4" name="Google Shape;154;p20"/>
          <p:cNvSpPr txBox="1"/>
          <p:nvPr/>
        </p:nvSpPr>
        <p:spPr>
          <a:xfrm>
            <a:off x="4403375" y="930600"/>
            <a:ext cx="4274700" cy="24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just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➢"/>
            </a:pP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Modelo abstrato</a:t>
            </a:r>
            <a:endParaRPr sz="1700" b="1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➢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Organiza os dados de acordo com as regras e estruturas do mundo real, </a:t>
            </a:r>
            <a:r>
              <a:rPr lang="pt-BR" sz="1700" i="1" u="sng">
                <a:latin typeface="Nunito"/>
                <a:ea typeface="Nunito"/>
                <a:cs typeface="Nunito"/>
                <a:sym typeface="Nunito"/>
              </a:rPr>
              <a:t>sem levar em conta como esses dados serão armazenados fisicamente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. 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➢"/>
            </a:pPr>
            <a:r>
              <a:rPr lang="pt-BR" b="1">
                <a:latin typeface="Nunito"/>
                <a:ea typeface="Nunito"/>
                <a:cs typeface="Nunito"/>
                <a:sym typeface="Nunito"/>
              </a:rPr>
              <a:t>Diagrama entidade-relacionamento (ER)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55" name="Google Shape;155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0" y="3598651"/>
            <a:ext cx="4403250" cy="842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1"/>
          <p:cNvSpPr/>
          <p:nvPr/>
        </p:nvSpPr>
        <p:spPr>
          <a:xfrm rot="10800000" flipH="1">
            <a:off x="485950" y="2407277"/>
            <a:ext cx="4201775" cy="2225000"/>
          </a:xfrm>
          <a:prstGeom prst="flowChartMerg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21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Introdução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62" name="Google Shape;162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1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64" name="Google Shape;164;p21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65" name="Google Shape;165;p21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8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66" name="Google Shape;166;p21"/>
          <p:cNvSpPr/>
          <p:nvPr/>
        </p:nvSpPr>
        <p:spPr>
          <a:xfrm>
            <a:off x="1480384" y="869609"/>
            <a:ext cx="2212920" cy="799956"/>
          </a:xfrm>
          <a:prstGeom prst="cloud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Maven Pro SemiBold"/>
                <a:ea typeface="Maven Pro SemiBold"/>
                <a:cs typeface="Maven Pro SemiBold"/>
                <a:sym typeface="Maven Pro SemiBold"/>
              </a:rPr>
              <a:t>Mundo Real</a:t>
            </a:r>
            <a:endParaRPr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  <p:sp>
        <p:nvSpPr>
          <p:cNvPr id="167" name="Google Shape;167;p21"/>
          <p:cNvSpPr/>
          <p:nvPr/>
        </p:nvSpPr>
        <p:spPr>
          <a:xfrm>
            <a:off x="1169197" y="1958157"/>
            <a:ext cx="2835300" cy="344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Maven Pro SemiBold"/>
                <a:ea typeface="Maven Pro SemiBold"/>
                <a:cs typeface="Maven Pro SemiBold"/>
                <a:sym typeface="Maven Pro SemiBold"/>
              </a:rPr>
              <a:t>Especificação dos Requisitos</a:t>
            </a:r>
            <a:endParaRPr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  <p:sp>
        <p:nvSpPr>
          <p:cNvPr id="168" name="Google Shape;168;p21"/>
          <p:cNvSpPr/>
          <p:nvPr/>
        </p:nvSpPr>
        <p:spPr>
          <a:xfrm>
            <a:off x="1549575" y="2713016"/>
            <a:ext cx="2074500" cy="381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Maven Pro SemiBold"/>
                <a:ea typeface="Maven Pro SemiBold"/>
                <a:cs typeface="Maven Pro SemiBold"/>
                <a:sym typeface="Maven Pro SemiBold"/>
              </a:rPr>
              <a:t>Modelo Conceitual</a:t>
            </a:r>
            <a:endParaRPr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  <p:sp>
        <p:nvSpPr>
          <p:cNvPr id="169" name="Google Shape;169;p21"/>
          <p:cNvSpPr/>
          <p:nvPr/>
        </p:nvSpPr>
        <p:spPr>
          <a:xfrm>
            <a:off x="1169188" y="3275400"/>
            <a:ext cx="2835300" cy="381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CC0000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Modelo Lógico</a:t>
            </a:r>
            <a:endParaRPr>
              <a:solidFill>
                <a:srgbClr val="CC0000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  <p:grpSp>
        <p:nvGrpSpPr>
          <p:cNvPr id="170" name="Google Shape;170;p21"/>
          <p:cNvGrpSpPr/>
          <p:nvPr/>
        </p:nvGrpSpPr>
        <p:grpSpPr>
          <a:xfrm>
            <a:off x="1353152" y="4316050"/>
            <a:ext cx="2364600" cy="527700"/>
            <a:chOff x="1353152" y="4316050"/>
            <a:chExt cx="2364600" cy="527700"/>
          </a:xfrm>
        </p:grpSpPr>
        <p:sp>
          <p:nvSpPr>
            <p:cNvPr id="171" name="Google Shape;171;p21"/>
            <p:cNvSpPr/>
            <p:nvPr/>
          </p:nvSpPr>
          <p:spPr>
            <a:xfrm>
              <a:off x="1353152" y="4316050"/>
              <a:ext cx="2364600" cy="527700"/>
            </a:xfrm>
            <a:prstGeom prst="rect">
              <a:avLst/>
            </a:prstGeom>
            <a:solidFill>
              <a:srgbClr val="D0E0E3"/>
            </a:solidFill>
            <a:ln w="9525" cap="flat" cmpd="sng">
              <a:solidFill>
                <a:srgbClr val="4F81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b="1">
                  <a:latin typeface="Maven Pro"/>
                  <a:ea typeface="Maven Pro"/>
                  <a:cs typeface="Maven Pro"/>
                  <a:sym typeface="Maven Pro"/>
                </a:rPr>
                <a:t>BANCO DE DADOS</a:t>
              </a:r>
              <a:endParaRPr b="1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pic>
          <p:nvPicPr>
            <p:cNvPr id="172" name="Google Shape;172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13950" y="4393300"/>
              <a:ext cx="373201" cy="373199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73" name="Google Shape;173;p21"/>
          <p:cNvCxnSpPr>
            <a:stCxn id="166" idx="1"/>
            <a:endCxn id="167" idx="0"/>
          </p:cNvCxnSpPr>
          <p:nvPr/>
        </p:nvCxnSpPr>
        <p:spPr>
          <a:xfrm>
            <a:off x="2586844" y="1668714"/>
            <a:ext cx="0" cy="289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4" name="Google Shape;174;p21"/>
          <p:cNvCxnSpPr>
            <a:stCxn id="167" idx="2"/>
            <a:endCxn id="168" idx="0"/>
          </p:cNvCxnSpPr>
          <p:nvPr/>
        </p:nvCxnSpPr>
        <p:spPr>
          <a:xfrm>
            <a:off x="2586847" y="2302857"/>
            <a:ext cx="0" cy="410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5" name="Google Shape;175;p21"/>
          <p:cNvCxnSpPr>
            <a:stCxn id="168" idx="2"/>
            <a:endCxn id="169" idx="0"/>
          </p:cNvCxnSpPr>
          <p:nvPr/>
        </p:nvCxnSpPr>
        <p:spPr>
          <a:xfrm>
            <a:off x="2586825" y="3094316"/>
            <a:ext cx="0" cy="181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6" name="Google Shape;176;p21"/>
          <p:cNvSpPr txBox="1"/>
          <p:nvPr/>
        </p:nvSpPr>
        <p:spPr>
          <a:xfrm>
            <a:off x="4572000" y="1006800"/>
            <a:ext cx="4106100" cy="2677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➢"/>
            </a:pP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O </a:t>
            </a:r>
            <a:r>
              <a:rPr lang="pt-BR" sz="1800" u="sng" dirty="0">
                <a:latin typeface="Nunito"/>
                <a:ea typeface="Nunito"/>
                <a:cs typeface="Nunito"/>
                <a:sym typeface="Nunito"/>
              </a:rPr>
              <a:t>modelo conceitual</a:t>
            </a: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 é </a:t>
            </a:r>
            <a:r>
              <a:rPr lang="pt-BR" sz="1800" b="1" dirty="0">
                <a:latin typeface="Nunito"/>
                <a:ea typeface="Nunito"/>
                <a:cs typeface="Nunito"/>
                <a:sym typeface="Nunito"/>
              </a:rPr>
              <a:t>traduzido </a:t>
            </a: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para um </a:t>
            </a:r>
            <a:r>
              <a:rPr lang="pt-BR" sz="1800" u="sng" dirty="0">
                <a:latin typeface="Nunito"/>
                <a:ea typeface="Nunito"/>
                <a:cs typeface="Nunito"/>
                <a:sym typeface="Nunito"/>
              </a:rPr>
              <a:t>modelo lógico</a:t>
            </a: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, que é </a:t>
            </a:r>
            <a:r>
              <a:rPr lang="pt-BR" sz="1800" b="1" u="sng" dirty="0">
                <a:latin typeface="Nunito"/>
                <a:ea typeface="Nunito"/>
                <a:cs typeface="Nunito"/>
                <a:sym typeface="Nunito"/>
              </a:rPr>
              <a:t>independente</a:t>
            </a:r>
            <a:r>
              <a:rPr lang="pt-BR" sz="1800" b="1" dirty="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do </a:t>
            </a:r>
            <a:r>
              <a:rPr lang="pt-BR" sz="1800" dirty="0" err="1">
                <a:latin typeface="Nunito"/>
                <a:ea typeface="Nunito"/>
                <a:cs typeface="Nunito"/>
                <a:sym typeface="Nunito"/>
              </a:rPr>
              <a:t>SGBD</a:t>
            </a: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 em que são implementados</a:t>
            </a: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➢"/>
            </a:pPr>
            <a:endParaRPr sz="18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➢"/>
            </a:pP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Envolve </a:t>
            </a:r>
            <a:r>
              <a:rPr lang="pt-BR" sz="1800" i="1" u="sng" dirty="0">
                <a:latin typeface="Nunito"/>
                <a:ea typeface="Nunito"/>
                <a:cs typeface="Nunito"/>
                <a:sym typeface="Nunito"/>
              </a:rPr>
              <a:t>definir</a:t>
            </a:r>
            <a:r>
              <a:rPr lang="pt-BR" sz="1800" u="sng" dirty="0">
                <a:latin typeface="Nunito"/>
                <a:ea typeface="Nunito"/>
                <a:cs typeface="Nunito"/>
                <a:sym typeface="Nunito"/>
              </a:rPr>
              <a:t> tabelas</a:t>
            </a: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, </a:t>
            </a:r>
            <a:r>
              <a:rPr lang="pt-BR" sz="1800" u="sng" dirty="0">
                <a:latin typeface="Nunito"/>
                <a:ea typeface="Nunito"/>
                <a:cs typeface="Nunito"/>
                <a:sym typeface="Nunito"/>
              </a:rPr>
              <a:t>chaves primárias</a:t>
            </a: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 e </a:t>
            </a:r>
            <a:r>
              <a:rPr lang="pt-BR" sz="1800" u="sng" dirty="0">
                <a:latin typeface="Nunito"/>
                <a:ea typeface="Nunito"/>
                <a:cs typeface="Nunito"/>
                <a:sym typeface="Nunito"/>
              </a:rPr>
              <a:t>estrangeiras</a:t>
            </a: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, e os </a:t>
            </a:r>
            <a:r>
              <a:rPr lang="pt-BR" sz="1800" b="1" u="sng" dirty="0">
                <a:latin typeface="Nunito"/>
                <a:ea typeface="Nunito"/>
                <a:cs typeface="Nunito"/>
                <a:sym typeface="Nunito"/>
              </a:rPr>
              <a:t>relacionamentos</a:t>
            </a: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 entre as tabelas.</a:t>
            </a:r>
            <a:endParaRPr sz="1800" dirty="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77" name="Google Shape;177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1" y="3998550"/>
            <a:ext cx="4399946" cy="34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2"/>
          <p:cNvSpPr/>
          <p:nvPr/>
        </p:nvSpPr>
        <p:spPr>
          <a:xfrm rot="10800000" flipH="1">
            <a:off x="485950" y="2407277"/>
            <a:ext cx="4201775" cy="2225000"/>
          </a:xfrm>
          <a:prstGeom prst="flowChartMerg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22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Introdução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84" name="Google Shape;184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2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86" name="Google Shape;186;p22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87" name="Google Shape;187;p22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9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88" name="Google Shape;188;p22"/>
          <p:cNvSpPr/>
          <p:nvPr/>
        </p:nvSpPr>
        <p:spPr>
          <a:xfrm>
            <a:off x="1480384" y="869609"/>
            <a:ext cx="2212920" cy="799956"/>
          </a:xfrm>
          <a:prstGeom prst="cloud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Maven Pro SemiBold"/>
                <a:ea typeface="Maven Pro SemiBold"/>
                <a:cs typeface="Maven Pro SemiBold"/>
                <a:sym typeface="Maven Pro SemiBold"/>
              </a:rPr>
              <a:t>Mundo Real</a:t>
            </a:r>
            <a:endParaRPr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  <p:sp>
        <p:nvSpPr>
          <p:cNvPr id="189" name="Google Shape;189;p22"/>
          <p:cNvSpPr/>
          <p:nvPr/>
        </p:nvSpPr>
        <p:spPr>
          <a:xfrm>
            <a:off x="1169197" y="1958157"/>
            <a:ext cx="2835300" cy="344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Maven Pro SemiBold"/>
                <a:ea typeface="Maven Pro SemiBold"/>
                <a:cs typeface="Maven Pro SemiBold"/>
                <a:sym typeface="Maven Pro SemiBold"/>
              </a:rPr>
              <a:t>Especificação dos Requisitos</a:t>
            </a:r>
            <a:endParaRPr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  <p:sp>
        <p:nvSpPr>
          <p:cNvPr id="190" name="Google Shape;190;p22"/>
          <p:cNvSpPr/>
          <p:nvPr/>
        </p:nvSpPr>
        <p:spPr>
          <a:xfrm>
            <a:off x="1549575" y="2713016"/>
            <a:ext cx="2074500" cy="381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Maven Pro SemiBold"/>
                <a:ea typeface="Maven Pro SemiBold"/>
                <a:cs typeface="Maven Pro SemiBold"/>
                <a:sym typeface="Maven Pro SemiBold"/>
              </a:rPr>
              <a:t>Modelo Conceitual</a:t>
            </a:r>
            <a:endParaRPr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  <p:sp>
        <p:nvSpPr>
          <p:cNvPr id="191" name="Google Shape;191;p22"/>
          <p:cNvSpPr/>
          <p:nvPr/>
        </p:nvSpPr>
        <p:spPr>
          <a:xfrm>
            <a:off x="1169188" y="3275400"/>
            <a:ext cx="2835300" cy="381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CC0000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Modelo Lógico</a:t>
            </a:r>
            <a:endParaRPr>
              <a:solidFill>
                <a:srgbClr val="CC0000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  <p:grpSp>
        <p:nvGrpSpPr>
          <p:cNvPr id="192" name="Google Shape;192;p22"/>
          <p:cNvGrpSpPr/>
          <p:nvPr/>
        </p:nvGrpSpPr>
        <p:grpSpPr>
          <a:xfrm>
            <a:off x="1353152" y="4316050"/>
            <a:ext cx="2364600" cy="527700"/>
            <a:chOff x="1353152" y="4316050"/>
            <a:chExt cx="2364600" cy="527700"/>
          </a:xfrm>
        </p:grpSpPr>
        <p:sp>
          <p:nvSpPr>
            <p:cNvPr id="193" name="Google Shape;193;p22"/>
            <p:cNvSpPr/>
            <p:nvPr/>
          </p:nvSpPr>
          <p:spPr>
            <a:xfrm>
              <a:off x="1353152" y="4316050"/>
              <a:ext cx="2364600" cy="527700"/>
            </a:xfrm>
            <a:prstGeom prst="rect">
              <a:avLst/>
            </a:prstGeom>
            <a:solidFill>
              <a:srgbClr val="D0E0E3"/>
            </a:solidFill>
            <a:ln w="9525" cap="flat" cmpd="sng">
              <a:solidFill>
                <a:srgbClr val="4F81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b="1">
                  <a:latin typeface="Maven Pro"/>
                  <a:ea typeface="Maven Pro"/>
                  <a:cs typeface="Maven Pro"/>
                  <a:sym typeface="Maven Pro"/>
                </a:rPr>
                <a:t>BANCO DE DADOS</a:t>
              </a:r>
              <a:endParaRPr b="1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pic>
          <p:nvPicPr>
            <p:cNvPr id="194" name="Google Shape;194;p2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13950" y="4393300"/>
              <a:ext cx="373201" cy="373199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95" name="Google Shape;195;p22"/>
          <p:cNvCxnSpPr>
            <a:stCxn id="188" idx="1"/>
            <a:endCxn id="189" idx="0"/>
          </p:cNvCxnSpPr>
          <p:nvPr/>
        </p:nvCxnSpPr>
        <p:spPr>
          <a:xfrm>
            <a:off x="2586844" y="1668714"/>
            <a:ext cx="0" cy="289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6" name="Google Shape;196;p22"/>
          <p:cNvCxnSpPr>
            <a:stCxn id="189" idx="2"/>
            <a:endCxn id="190" idx="0"/>
          </p:cNvCxnSpPr>
          <p:nvPr/>
        </p:nvCxnSpPr>
        <p:spPr>
          <a:xfrm>
            <a:off x="2586847" y="2302857"/>
            <a:ext cx="0" cy="410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7" name="Google Shape;197;p22"/>
          <p:cNvCxnSpPr>
            <a:stCxn id="190" idx="2"/>
            <a:endCxn id="191" idx="0"/>
          </p:cNvCxnSpPr>
          <p:nvPr/>
        </p:nvCxnSpPr>
        <p:spPr>
          <a:xfrm>
            <a:off x="2586825" y="3094316"/>
            <a:ext cx="0" cy="181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8" name="Google Shape;198;p22"/>
          <p:cNvSpPr txBox="1"/>
          <p:nvPr/>
        </p:nvSpPr>
        <p:spPr>
          <a:xfrm>
            <a:off x="4572000" y="1006800"/>
            <a:ext cx="4106100" cy="36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➢"/>
            </a:pPr>
            <a:r>
              <a:rPr lang="pt-BR" sz="1800" b="1">
                <a:latin typeface="Nunito"/>
                <a:ea typeface="Nunito"/>
                <a:cs typeface="Nunito"/>
                <a:sym typeface="Nunito"/>
              </a:rPr>
              <a:t>Normalização</a:t>
            </a:r>
            <a:endParaRPr sz="1800" b="1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pt-BR" sz="1600">
                <a:latin typeface="Nunito"/>
                <a:ea typeface="Nunito"/>
                <a:cs typeface="Nunito"/>
                <a:sym typeface="Nunito"/>
              </a:rPr>
              <a:t>Evitar a redundância de dados.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pt-BR" sz="1600">
                <a:latin typeface="Nunito"/>
                <a:ea typeface="Nunito"/>
                <a:cs typeface="Nunito"/>
                <a:sym typeface="Nunito"/>
              </a:rPr>
              <a:t>Melhorar a integridade dos dados.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pt-BR" sz="1600">
                <a:latin typeface="Nunito"/>
                <a:ea typeface="Nunito"/>
                <a:cs typeface="Nunito"/>
                <a:sym typeface="Nunito"/>
              </a:rPr>
              <a:t>Facilitar a manutenção dos dados.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pt-BR" sz="1600">
                <a:latin typeface="Nunito"/>
                <a:ea typeface="Nunito"/>
                <a:cs typeface="Nunito"/>
                <a:sym typeface="Nunito"/>
              </a:rPr>
              <a:t>Otimizar o desempenho das consultas.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pt-BR" sz="1600">
                <a:latin typeface="Nunito"/>
                <a:ea typeface="Nunito"/>
                <a:cs typeface="Nunito"/>
                <a:sym typeface="Nunito"/>
              </a:rPr>
              <a:t>Flexibilidade do banco de dados.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3"/>
          <p:cNvSpPr/>
          <p:nvPr/>
        </p:nvSpPr>
        <p:spPr>
          <a:xfrm rot="10800000" flipH="1">
            <a:off x="485950" y="2407277"/>
            <a:ext cx="4201775" cy="2225000"/>
          </a:xfrm>
          <a:prstGeom prst="flowChartMerg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23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Introdução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05" name="Google Shape;205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3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07" name="Google Shape;207;p23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08" name="Google Shape;208;p23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10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209" name="Google Shape;209;p23"/>
          <p:cNvSpPr/>
          <p:nvPr/>
        </p:nvSpPr>
        <p:spPr>
          <a:xfrm>
            <a:off x="1480384" y="869609"/>
            <a:ext cx="2212920" cy="799956"/>
          </a:xfrm>
          <a:prstGeom prst="cloud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Maven Pro SemiBold"/>
                <a:ea typeface="Maven Pro SemiBold"/>
                <a:cs typeface="Maven Pro SemiBold"/>
                <a:sym typeface="Maven Pro SemiBold"/>
              </a:rPr>
              <a:t>Mundo Real</a:t>
            </a:r>
            <a:endParaRPr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  <p:sp>
        <p:nvSpPr>
          <p:cNvPr id="210" name="Google Shape;210;p23"/>
          <p:cNvSpPr/>
          <p:nvPr/>
        </p:nvSpPr>
        <p:spPr>
          <a:xfrm>
            <a:off x="1169197" y="1958157"/>
            <a:ext cx="2835300" cy="344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Maven Pro SemiBold"/>
                <a:ea typeface="Maven Pro SemiBold"/>
                <a:cs typeface="Maven Pro SemiBold"/>
                <a:sym typeface="Maven Pro SemiBold"/>
              </a:rPr>
              <a:t>Especificação dos Requisitos</a:t>
            </a:r>
            <a:endParaRPr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  <p:sp>
        <p:nvSpPr>
          <p:cNvPr id="211" name="Google Shape;211;p23"/>
          <p:cNvSpPr/>
          <p:nvPr/>
        </p:nvSpPr>
        <p:spPr>
          <a:xfrm>
            <a:off x="1549575" y="2713016"/>
            <a:ext cx="2074500" cy="381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Maven Pro SemiBold"/>
                <a:ea typeface="Maven Pro SemiBold"/>
                <a:cs typeface="Maven Pro SemiBold"/>
                <a:sym typeface="Maven Pro SemiBold"/>
              </a:rPr>
              <a:t>Modelo Conceitual</a:t>
            </a:r>
            <a:endParaRPr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  <p:sp>
        <p:nvSpPr>
          <p:cNvPr id="212" name="Google Shape;212;p23"/>
          <p:cNvSpPr/>
          <p:nvPr/>
        </p:nvSpPr>
        <p:spPr>
          <a:xfrm>
            <a:off x="1169188" y="3275400"/>
            <a:ext cx="2835300" cy="381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Maven Pro SemiBold"/>
                <a:ea typeface="Maven Pro SemiBold"/>
                <a:cs typeface="Maven Pro SemiBold"/>
                <a:sym typeface="Maven Pro SemiBold"/>
              </a:rPr>
              <a:t>Modelo Lógico</a:t>
            </a:r>
            <a:endParaRPr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  <p:sp>
        <p:nvSpPr>
          <p:cNvPr id="213" name="Google Shape;213;p23"/>
          <p:cNvSpPr/>
          <p:nvPr/>
        </p:nvSpPr>
        <p:spPr>
          <a:xfrm>
            <a:off x="807550" y="3846700"/>
            <a:ext cx="3558600" cy="381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CC0000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Modelo Físico</a:t>
            </a:r>
            <a:endParaRPr>
              <a:solidFill>
                <a:srgbClr val="CC0000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  <p:grpSp>
        <p:nvGrpSpPr>
          <p:cNvPr id="214" name="Google Shape;214;p23"/>
          <p:cNvGrpSpPr/>
          <p:nvPr/>
        </p:nvGrpSpPr>
        <p:grpSpPr>
          <a:xfrm>
            <a:off x="1353152" y="4316050"/>
            <a:ext cx="2364600" cy="527700"/>
            <a:chOff x="1353152" y="4316050"/>
            <a:chExt cx="2364600" cy="527700"/>
          </a:xfrm>
        </p:grpSpPr>
        <p:sp>
          <p:nvSpPr>
            <p:cNvPr id="215" name="Google Shape;215;p23"/>
            <p:cNvSpPr/>
            <p:nvPr/>
          </p:nvSpPr>
          <p:spPr>
            <a:xfrm>
              <a:off x="1353152" y="4316050"/>
              <a:ext cx="2364600" cy="527700"/>
            </a:xfrm>
            <a:prstGeom prst="rect">
              <a:avLst/>
            </a:prstGeom>
            <a:solidFill>
              <a:srgbClr val="D0E0E3"/>
            </a:solidFill>
            <a:ln w="9525" cap="flat" cmpd="sng">
              <a:solidFill>
                <a:srgbClr val="4F81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b="1">
                  <a:latin typeface="Maven Pro"/>
                  <a:ea typeface="Maven Pro"/>
                  <a:cs typeface="Maven Pro"/>
                  <a:sym typeface="Maven Pro"/>
                </a:rPr>
                <a:t>BANCO DE DADOS</a:t>
              </a:r>
              <a:endParaRPr b="1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pic>
          <p:nvPicPr>
            <p:cNvPr id="216" name="Google Shape;216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13950" y="4393300"/>
              <a:ext cx="373201" cy="373199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17" name="Google Shape;217;p23"/>
          <p:cNvCxnSpPr>
            <a:stCxn id="209" idx="1"/>
            <a:endCxn id="210" idx="0"/>
          </p:cNvCxnSpPr>
          <p:nvPr/>
        </p:nvCxnSpPr>
        <p:spPr>
          <a:xfrm>
            <a:off x="2586844" y="1668714"/>
            <a:ext cx="0" cy="289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8" name="Google Shape;218;p23"/>
          <p:cNvCxnSpPr>
            <a:stCxn id="210" idx="2"/>
            <a:endCxn id="211" idx="0"/>
          </p:cNvCxnSpPr>
          <p:nvPr/>
        </p:nvCxnSpPr>
        <p:spPr>
          <a:xfrm>
            <a:off x="2586847" y="2302857"/>
            <a:ext cx="0" cy="410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9" name="Google Shape;219;p23"/>
          <p:cNvCxnSpPr>
            <a:stCxn id="211" idx="2"/>
            <a:endCxn id="212" idx="0"/>
          </p:cNvCxnSpPr>
          <p:nvPr/>
        </p:nvCxnSpPr>
        <p:spPr>
          <a:xfrm>
            <a:off x="2586825" y="3094316"/>
            <a:ext cx="0" cy="181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0" name="Google Shape;220;p23"/>
          <p:cNvCxnSpPr>
            <a:stCxn id="212" idx="2"/>
            <a:endCxn id="213" idx="0"/>
          </p:cNvCxnSpPr>
          <p:nvPr/>
        </p:nvCxnSpPr>
        <p:spPr>
          <a:xfrm>
            <a:off x="2586838" y="3656700"/>
            <a:ext cx="0" cy="189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1" name="Google Shape;221;p23"/>
          <p:cNvSpPr txBox="1"/>
          <p:nvPr/>
        </p:nvSpPr>
        <p:spPr>
          <a:xfrm>
            <a:off x="4572000" y="930600"/>
            <a:ext cx="4106100" cy="21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➢"/>
            </a:pP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O </a:t>
            </a:r>
            <a:r>
              <a:rPr lang="pt-BR" sz="1800" b="1">
                <a:latin typeface="Nunito"/>
                <a:ea typeface="Nunito"/>
                <a:cs typeface="Nunito"/>
                <a:sym typeface="Nunito"/>
              </a:rPr>
              <a:t>modelo lógico</a:t>
            </a: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 é transformado em um </a:t>
            </a:r>
            <a:r>
              <a:rPr lang="pt-BR" sz="1800" b="1">
                <a:latin typeface="Nunito"/>
                <a:ea typeface="Nunito"/>
                <a:cs typeface="Nunito"/>
                <a:sym typeface="Nunito"/>
              </a:rPr>
              <a:t>modelo físico</a:t>
            </a: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, que é a representação de </a:t>
            </a:r>
            <a:r>
              <a:rPr lang="pt-BR" sz="1800" i="1" u="sng">
                <a:latin typeface="Nunito"/>
                <a:ea typeface="Nunito"/>
                <a:cs typeface="Nunito"/>
                <a:sym typeface="Nunito"/>
              </a:rPr>
              <a:t>como os dados serão realmente armazenados em um meio físico</a:t>
            </a: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.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➢"/>
            </a:pP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Leva em conta o SGBD específico.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22" name="Google Shape;222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83740" y="3334564"/>
            <a:ext cx="1021636" cy="149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72915" y="3267200"/>
            <a:ext cx="2514269" cy="149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4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29" name="Google Shape;229;p24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30" name="Google Shape;230;p24"/>
          <p:cNvSpPr txBox="1">
            <a:spLocks noGrp="1"/>
          </p:cNvSpPr>
          <p:nvPr>
            <p:ph type="sldNum" idx="12"/>
          </p:nvPr>
        </p:nvSpPr>
        <p:spPr>
          <a:xfrm>
            <a:off x="867373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11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231" name="Google Shape;231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23425" y="56679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4"/>
          <p:cNvSpPr/>
          <p:nvPr/>
        </p:nvSpPr>
        <p:spPr>
          <a:xfrm>
            <a:off x="508325" y="1719500"/>
            <a:ext cx="7857900" cy="17736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lang="pt-BR" sz="320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 </a:t>
            </a:r>
            <a:r>
              <a:rPr lang="pt-BR" sz="3200" i="1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Structured Query Language</a:t>
            </a:r>
            <a:r>
              <a:rPr lang="pt-BR" sz="320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 (SQL)</a:t>
            </a:r>
            <a:endParaRPr sz="3200">
              <a:solidFill>
                <a:srgbClr val="FFFFFF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5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SQL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38" name="Google Shape;238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5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40" name="Google Shape;240;p25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41" name="Google Shape;241;p25"/>
          <p:cNvSpPr txBox="1"/>
          <p:nvPr/>
        </p:nvSpPr>
        <p:spPr>
          <a:xfrm>
            <a:off x="418200" y="960475"/>
            <a:ext cx="8279100" cy="37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É uma </a:t>
            </a:r>
            <a:r>
              <a:rPr lang="pt-BR" sz="2000" u="sng">
                <a:latin typeface="Nunito"/>
                <a:ea typeface="Nunito"/>
                <a:cs typeface="Nunito"/>
                <a:sym typeface="Nunito"/>
              </a:rPr>
              <a:t>linguagem</a:t>
            </a: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 para banco de dados </a:t>
            </a:r>
            <a:r>
              <a:rPr lang="pt-BR" sz="2000" b="1">
                <a:latin typeface="Nunito"/>
                <a:ea typeface="Nunito"/>
                <a:cs typeface="Nunito"/>
                <a:sym typeface="Nunito"/>
              </a:rPr>
              <a:t>relacional</a:t>
            </a: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.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Antes era chamada de </a:t>
            </a:r>
            <a:r>
              <a:rPr lang="pt-BR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Sequel (</a:t>
            </a:r>
            <a:r>
              <a:rPr lang="pt-BR" sz="2000" i="1">
                <a:latin typeface="Nunito"/>
                <a:ea typeface="Nunito"/>
                <a:cs typeface="Nunito"/>
                <a:sym typeface="Nunito"/>
              </a:rPr>
              <a:t>Structured English Query Language</a:t>
            </a: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). 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Desenvolvida pela </a:t>
            </a:r>
            <a:r>
              <a:rPr lang="pt-BR" sz="2000" b="1">
                <a:latin typeface="Nunito"/>
                <a:ea typeface="Nunito"/>
                <a:cs typeface="Nunito"/>
                <a:sym typeface="Nunito"/>
              </a:rPr>
              <a:t>IBM </a:t>
            </a: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no início da década de </a:t>
            </a:r>
            <a:r>
              <a:rPr lang="pt-BR" sz="2000" b="1">
                <a:latin typeface="Nunito"/>
                <a:ea typeface="Nunito"/>
                <a:cs typeface="Nunito"/>
                <a:sym typeface="Nunito"/>
              </a:rPr>
              <a:t>70</a:t>
            </a: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, por Codd. 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2000"/>
              <a:buFont typeface="Nunito"/>
              <a:buChar char="●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A linguagem evoluiu bastante, passando a se chamar simplesmente Structured Query Language (SQL).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2" name="Google Shape;242;p25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12</a:t>
            </a:fld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6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SQL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48" name="Google Shape;248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6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50" name="Google Shape;250;p26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51" name="Google Shape;251;p26"/>
          <p:cNvSpPr txBox="1"/>
          <p:nvPr/>
        </p:nvSpPr>
        <p:spPr>
          <a:xfrm>
            <a:off x="418200" y="884275"/>
            <a:ext cx="8279100" cy="11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Houve diversas variações da SQL (</a:t>
            </a:r>
            <a:r>
              <a:rPr lang="pt-BR" sz="1800" b="1">
                <a:latin typeface="Nunito"/>
                <a:ea typeface="Nunito"/>
                <a:cs typeface="Nunito"/>
                <a:sym typeface="Nunito"/>
              </a:rPr>
              <a:t>dialetos</a:t>
            </a: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).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42900" algn="just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Font typeface="Nunito"/>
              <a:buChar char="●"/>
            </a:pP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A American National Standards Institute (</a:t>
            </a:r>
            <a:r>
              <a:rPr lang="pt-BR" sz="1800" b="1">
                <a:latin typeface="Nunito"/>
                <a:ea typeface="Nunito"/>
                <a:cs typeface="Nunito"/>
                <a:sym typeface="Nunito"/>
              </a:rPr>
              <a:t>ANSI</a:t>
            </a: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) apresentou uma padronização em 1986 e a </a:t>
            </a:r>
            <a:r>
              <a:rPr lang="pt-BR" sz="1800" b="1">
                <a:latin typeface="Nunito"/>
                <a:ea typeface="Nunito"/>
                <a:cs typeface="Nunito"/>
                <a:sym typeface="Nunito"/>
              </a:rPr>
              <a:t>ISO </a:t>
            </a:r>
            <a:r>
              <a:rPr lang="pt-BR" sz="1800">
                <a:latin typeface="Nunito"/>
                <a:ea typeface="Nunito"/>
                <a:cs typeface="Nunito"/>
                <a:sym typeface="Nunito"/>
              </a:rPr>
              <a:t>em 1987.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2" name="Google Shape;252;p26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13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253" name="Google Shape;253;p26"/>
          <p:cNvSpPr txBox="1"/>
          <p:nvPr/>
        </p:nvSpPr>
        <p:spPr>
          <a:xfrm>
            <a:off x="772775" y="2044150"/>
            <a:ext cx="3783900" cy="23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pt-BR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Sybase Advantage Database Server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pt-BR">
                <a:solidFill>
                  <a:schemeClr val="dk1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Apache Derby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pt-BR">
                <a:solidFill>
                  <a:schemeClr val="dk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Caché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pt-BR">
                <a:solidFill>
                  <a:schemeClr val="dk1"/>
                </a:solidFill>
                <a:uFill>
                  <a:noFill/>
                </a:u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DB2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pt-BR">
                <a:solidFill>
                  <a:schemeClr val="dk1"/>
                </a:solidFill>
                <a:uFill>
                  <a:noFill/>
                </a:u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Dataflex</a:t>
            </a:r>
            <a:endParaRPr baseline="3000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pt-BR">
                <a:solidFill>
                  <a:schemeClr val="dk1"/>
                </a:solidFill>
                <a:uFill>
                  <a:noFill/>
                </a:u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Firebird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pt-BR">
                <a:solidFill>
                  <a:schemeClr val="dk1"/>
                </a:solidFill>
                <a:uFill>
                  <a:noFill/>
                </a:u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HSQLDB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pt-BR">
                <a:solidFill>
                  <a:schemeClr val="dk1"/>
                </a:solidFill>
                <a:uFill>
                  <a:noFill/>
                </a:uFill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IDMS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pt-BR">
                <a:solidFill>
                  <a:schemeClr val="dk1"/>
                </a:solidFill>
                <a:uFill>
                  <a:noFill/>
                </a:uFill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IMS</a:t>
            </a:r>
            <a:r>
              <a:rPr lang="pt-BR">
                <a:solidFill>
                  <a:schemeClr val="dk1"/>
                </a:solidFill>
                <a:uFill>
                  <a:noFill/>
                </a:uFill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Informix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pt-BR">
                <a:solidFill>
                  <a:schemeClr val="dk1"/>
                </a:solidFill>
                <a:uFill>
                  <a:noFill/>
                </a:uFill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Ingres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4" name="Google Shape;254;p26"/>
          <p:cNvSpPr txBox="1"/>
          <p:nvPr/>
        </p:nvSpPr>
        <p:spPr>
          <a:xfrm>
            <a:off x="4722975" y="1943548"/>
            <a:ext cx="3783900" cy="25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pt-BR">
                <a:solidFill>
                  <a:schemeClr val="dk1"/>
                </a:solidFill>
                <a:uFill>
                  <a:noFill/>
                </a:uFill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InterBase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pt-BR">
                <a:solidFill>
                  <a:schemeClr val="dk1"/>
                </a:solidFill>
                <a:uFill>
                  <a:noFill/>
                </a:uFill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Microsoft Access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pt-BR">
                <a:solidFill>
                  <a:schemeClr val="dk1"/>
                </a:solidFill>
                <a:uFill>
                  <a:noFill/>
                </a:uFill>
                <a:hlinkClick r:id="rId1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Microsoft SQL Server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pt-BR">
                <a:solidFill>
                  <a:schemeClr val="dk1"/>
                </a:solidFill>
                <a:uFill>
                  <a:noFill/>
                </a:uFill>
                <a:hlinkClick r:id="rId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MySQL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pt-BR">
                <a:solidFill>
                  <a:schemeClr val="dk1"/>
                </a:solidFill>
                <a:uFill>
                  <a:noFill/>
                </a:uFill>
                <a:hlinkClick r:id="rId1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Oracle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pt-BR">
                <a:solidFill>
                  <a:schemeClr val="dk1"/>
                </a:solidFill>
                <a:uFill>
                  <a:noFill/>
                </a:uFill>
                <a:hlinkClick r:id="rId2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PointBase Micro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pt-BR">
                <a:solidFill>
                  <a:schemeClr val="dk1"/>
                </a:solidFill>
                <a:uFill>
                  <a:noFill/>
                </a:uFill>
                <a:hlinkClick r:id="rId2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PostgreSQL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pt-BR">
                <a:solidFill>
                  <a:schemeClr val="dk1"/>
                </a:solidFill>
                <a:uFill>
                  <a:noFill/>
                </a:uFill>
                <a:hlinkClick r:id="rId2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SQLite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pt-BR">
                <a:solidFill>
                  <a:schemeClr val="dk1"/>
                </a:solidFill>
                <a:uFill>
                  <a:noFill/>
                </a:uFill>
                <a:hlinkClick r:id="rId2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LiteBase Mobile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pt-BR">
                <a:solidFill>
                  <a:schemeClr val="dk1"/>
                </a:solidFill>
                <a:uFill>
                  <a:noFill/>
                </a:uFill>
                <a:hlinkClick r:id="rId2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Sybase Adaptive Server Enterprise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pt-BR">
                <a:solidFill>
                  <a:schemeClr val="dk1"/>
                </a:solidFill>
                <a:uFill>
                  <a:noFill/>
                </a:uFill>
                <a:hlinkClick r:id="rId2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Teradata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5" name="Google Shape;255;p26"/>
          <p:cNvSpPr txBox="1"/>
          <p:nvPr/>
        </p:nvSpPr>
        <p:spPr>
          <a:xfrm>
            <a:off x="204725" y="4410700"/>
            <a:ext cx="7458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chemeClr val="dk1"/>
                </a:solidFill>
                <a:uFill>
                  <a:noFill/>
                </a:uFill>
                <a:hlinkClick r:id="rId2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https://www.iso.org/standard/76583.html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chemeClr val="dk1"/>
                </a:solidFill>
              </a:rPr>
              <a:t>https://blogs.oracle.com/sql/post/general-availability-of-the-sql2023-standard</a:t>
            </a:r>
            <a:endParaRPr sz="11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8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Estrutura da SQL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71" name="Google Shape;271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8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73" name="Google Shape;273;p28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74" name="Google Shape;274;p28"/>
          <p:cNvSpPr txBox="1"/>
          <p:nvPr/>
        </p:nvSpPr>
        <p:spPr>
          <a:xfrm>
            <a:off x="418200" y="960475"/>
            <a:ext cx="8279100" cy="4185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A SQL é composta por um conjunto de linguagens que permitem a </a:t>
            </a: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definição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, </a:t>
            </a: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consulta 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e </a:t>
            </a: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atualização de dados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, além de recursos adicionais para a </a:t>
            </a:r>
            <a:r>
              <a:rPr lang="pt-BR" sz="2000" i="1" u="sng" dirty="0">
                <a:latin typeface="Nunito"/>
                <a:ea typeface="Nunito"/>
                <a:cs typeface="Nunito"/>
                <a:sym typeface="Nunito"/>
              </a:rPr>
              <a:t>segurança e gestão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 do </a:t>
            </a:r>
            <a:r>
              <a:rPr lang="pt-BR" sz="2000" dirty="0" err="1">
                <a:latin typeface="Nunito"/>
                <a:ea typeface="Nunito"/>
                <a:cs typeface="Nunito"/>
                <a:sym typeface="Nunito"/>
              </a:rPr>
              <a:t>BD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.</a:t>
            </a: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1371600" lvl="2" indent="-355600" algn="just">
              <a:lnSpc>
                <a:spcPct val="150000"/>
              </a:lnSpc>
              <a:spcBef>
                <a:spcPts val="1000"/>
              </a:spcBef>
              <a:buSzPts val="2000"/>
              <a:buFont typeface="Nunito"/>
              <a:buChar char="■"/>
            </a:pPr>
            <a:r>
              <a:rPr lang="pt-BR" sz="2000" b="1" dirty="0">
                <a:solidFill>
                  <a:schemeClr val="tx1"/>
                </a:solidFill>
                <a:latin typeface="Nunito"/>
                <a:ea typeface="Nunito"/>
                <a:cs typeface="Nunito"/>
                <a:sym typeface="Nunito"/>
              </a:rPr>
              <a:t>DDL: </a:t>
            </a:r>
            <a:r>
              <a:rPr lang="pt-BR" sz="2000" dirty="0">
                <a:solidFill>
                  <a:schemeClr val="tx1"/>
                </a:solidFill>
                <a:latin typeface="Nunito"/>
                <a:ea typeface="Nunito"/>
                <a:cs typeface="Nunito"/>
                <a:sym typeface="Nunito"/>
              </a:rPr>
              <a:t>Linguagem de Definição de Dados;</a:t>
            </a:r>
            <a:endParaRPr lang="pt-BR" sz="2000" b="1" dirty="0">
              <a:solidFill>
                <a:schemeClr val="tx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1371600" lvl="2" indent="-355600" algn="just">
              <a:lnSpc>
                <a:spcPct val="150000"/>
              </a:lnSpc>
              <a:spcBef>
                <a:spcPts val="1000"/>
              </a:spcBef>
              <a:buSzPts val="2000"/>
              <a:buFont typeface="Nunito"/>
              <a:buChar char="■"/>
            </a:pPr>
            <a:r>
              <a:rPr lang="pt-BR" sz="2000" b="1" dirty="0" err="1">
                <a:solidFill>
                  <a:schemeClr val="tx1"/>
                </a:solidFill>
                <a:latin typeface="Nunito"/>
                <a:ea typeface="Nunito"/>
                <a:cs typeface="Nunito"/>
                <a:sym typeface="Nunito"/>
              </a:rPr>
              <a:t>DQL</a:t>
            </a:r>
            <a:r>
              <a:rPr lang="pt-BR" sz="2000" b="1" dirty="0">
                <a:solidFill>
                  <a:schemeClr val="tx1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lang="pt-BR" sz="2000" dirty="0">
                <a:solidFill>
                  <a:schemeClr val="tx1"/>
                </a:solidFill>
                <a:latin typeface="Nunito"/>
                <a:ea typeface="Nunito"/>
                <a:cs typeface="Nunito"/>
                <a:sym typeface="Nunito"/>
              </a:rPr>
              <a:t>Linguagem de Consulta de Dados</a:t>
            </a:r>
            <a:endParaRPr lang="pt-BR" sz="2000" b="1" dirty="0">
              <a:solidFill>
                <a:schemeClr val="tx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1371600" lvl="2" indent="-355600" algn="just">
              <a:lnSpc>
                <a:spcPct val="150000"/>
              </a:lnSpc>
              <a:spcBef>
                <a:spcPts val="1000"/>
              </a:spcBef>
              <a:buSzPts val="2000"/>
              <a:buFont typeface="Nunito"/>
              <a:buChar char="■"/>
            </a:pPr>
            <a:r>
              <a:rPr lang="pt-BR" sz="2000" b="1" dirty="0" err="1">
                <a:solidFill>
                  <a:schemeClr val="tx1"/>
                </a:solidFill>
                <a:latin typeface="Nunito"/>
                <a:ea typeface="Nunito"/>
                <a:cs typeface="Nunito"/>
                <a:sym typeface="Nunito"/>
              </a:rPr>
              <a:t>DML</a:t>
            </a:r>
            <a:r>
              <a:rPr lang="pt-BR" sz="2000" dirty="0">
                <a:solidFill>
                  <a:schemeClr val="tx1"/>
                </a:solidFill>
                <a:latin typeface="Nunito"/>
                <a:ea typeface="Nunito"/>
                <a:cs typeface="Nunito"/>
                <a:sym typeface="Nunito"/>
              </a:rPr>
              <a:t>: Linguagem de Manipulação de Dados;</a:t>
            </a:r>
            <a:endParaRPr lang="pt-BR" sz="2000" b="1" dirty="0">
              <a:latin typeface="Nunito"/>
              <a:ea typeface="Nunito"/>
              <a:cs typeface="Nunito"/>
              <a:sym typeface="Nunito"/>
            </a:endParaRPr>
          </a:p>
          <a:p>
            <a:pPr marL="1371600" lvl="2" indent="-355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Nunito"/>
              <a:buChar char="■"/>
            </a:pPr>
            <a:r>
              <a:rPr lang="pt-BR" sz="2000" b="1" dirty="0" err="1">
                <a:latin typeface="Nunito"/>
                <a:ea typeface="Nunito"/>
                <a:cs typeface="Nunito"/>
                <a:sym typeface="Nunito"/>
              </a:rPr>
              <a:t>DCL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: Linguagem de Controle de Dados;</a:t>
            </a: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1371600" lvl="2" indent="-355600" algn="just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2000"/>
              <a:buFont typeface="Nunito"/>
              <a:buChar char="■"/>
            </a:pPr>
            <a:r>
              <a:rPr lang="pt-BR" sz="2000" b="1" dirty="0" err="1">
                <a:latin typeface="Nunito"/>
                <a:ea typeface="Nunito"/>
                <a:cs typeface="Nunito"/>
                <a:sym typeface="Nunito"/>
              </a:rPr>
              <a:t>DTL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: Linguagem de Controle de Transações.</a:t>
            </a:r>
            <a:endParaRPr sz="2000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75" name="Google Shape;275;p28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14</a:t>
            </a:fld>
            <a:endParaRPr b="1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19873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8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Mãos à Obra!</a:t>
            </a:r>
            <a:endParaRPr sz="2000" b="0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72" name="Google Shape;272;p28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73" name="Google Shape;273;p28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74" name="Google Shape;274;p28"/>
          <p:cNvSpPr txBox="1"/>
          <p:nvPr/>
        </p:nvSpPr>
        <p:spPr>
          <a:xfrm>
            <a:off x="418200" y="960475"/>
            <a:ext cx="8279100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Abram o </a:t>
            </a:r>
            <a:r>
              <a:rPr lang="pt-BR" sz="2000" b="1" dirty="0" err="1">
                <a:latin typeface="Nunito"/>
                <a:ea typeface="Nunito"/>
                <a:cs typeface="Nunito"/>
                <a:sym typeface="Nunito"/>
              </a:rPr>
              <a:t>pgAdmin</a:t>
            </a:r>
            <a:endParaRPr lang="pt-BR" sz="2000" b="1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endParaRPr sz="2000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75" name="Google Shape;275;p28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15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1026" name="Picture 2" descr="2Q== (225×225)">
            <a:extLst>
              <a:ext uri="{FF2B5EF4-FFF2-40B4-BE49-F238E27FC236}">
                <a16:creationId xmlns:a16="http://schemas.microsoft.com/office/drawing/2014/main" id="{06CD1171-F014-4F4F-A338-0C4BE7168C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7632" y="-68054"/>
            <a:ext cx="1028529" cy="1028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61DEC025-BADF-4FAF-B82F-278241F12D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700" y="1445350"/>
            <a:ext cx="3499224" cy="6012753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A4F85A82-1D86-439E-A5B7-280F472D1A03}"/>
              </a:ext>
            </a:extLst>
          </p:cNvPr>
          <p:cNvSpPr/>
          <p:nvPr/>
        </p:nvSpPr>
        <p:spPr>
          <a:xfrm>
            <a:off x="418200" y="1950749"/>
            <a:ext cx="399272" cy="4373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D53738D0-453A-46D4-9DB8-05870059CA4C}"/>
              </a:ext>
            </a:extLst>
          </p:cNvPr>
          <p:cNvSpPr/>
          <p:nvPr/>
        </p:nvSpPr>
        <p:spPr>
          <a:xfrm>
            <a:off x="1408670" y="2968254"/>
            <a:ext cx="1194487" cy="33527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Google Shape;274;p28">
            <a:extLst>
              <a:ext uri="{FF2B5EF4-FFF2-40B4-BE49-F238E27FC236}">
                <a16:creationId xmlns:a16="http://schemas.microsoft.com/office/drawing/2014/main" id="{3BA9ED4E-EDAA-4DAD-A2E3-724D6A6DA8A2}"/>
              </a:ext>
            </a:extLst>
          </p:cNvPr>
          <p:cNvSpPr txBox="1"/>
          <p:nvPr/>
        </p:nvSpPr>
        <p:spPr>
          <a:xfrm>
            <a:off x="3974424" y="1314900"/>
            <a:ext cx="4897727" cy="3826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Quando você instala o PostgreSQL, o sistema automaticamente cria alguns DB</a:t>
            </a: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DB </a:t>
            </a:r>
            <a:r>
              <a:rPr lang="pt-BR" sz="2000" b="1" dirty="0" err="1">
                <a:latin typeface="Nunito"/>
                <a:ea typeface="Nunito"/>
                <a:cs typeface="Nunito"/>
                <a:sym typeface="Nunito"/>
              </a:rPr>
              <a:t>postgres</a:t>
            </a: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0200" algn="just" rtl="0">
              <a:spcBef>
                <a:spcPts val="1000"/>
              </a:spcBef>
              <a:spcAft>
                <a:spcPts val="1000"/>
              </a:spcAft>
              <a:buSzPts val="1600"/>
              <a:buFont typeface="Nunito"/>
              <a:buChar char="○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Esse banco é criado para que o administrador possa ter um ponto de acesso inicial ao servidor e executar comandos administrativos ou criar novos bancos.</a:t>
            </a:r>
          </a:p>
        </p:txBody>
      </p:sp>
    </p:spTree>
    <p:extLst>
      <p:ext uri="{BB962C8B-B14F-4D97-AF65-F5344CB8AC3E}">
        <p14:creationId xmlns:p14="http://schemas.microsoft.com/office/powerpoint/2010/main" val="11755035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8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>
              <a:buClr>
                <a:schemeClr val="lt1"/>
              </a:buClr>
              <a:buSzPts val="3200"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Mãos à Obra!</a:t>
            </a:r>
            <a:endParaRPr lang="pt-BR" sz="2000" b="0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72" name="Google Shape;272;p28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73" name="Google Shape;273;p28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75" name="Google Shape;275;p28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16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1026" name="Picture 2" descr="2Q== (225×225)">
            <a:extLst>
              <a:ext uri="{FF2B5EF4-FFF2-40B4-BE49-F238E27FC236}">
                <a16:creationId xmlns:a16="http://schemas.microsoft.com/office/drawing/2014/main" id="{06CD1171-F014-4F4F-A338-0C4BE7168C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7632" y="-68054"/>
            <a:ext cx="1028529" cy="1028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61DEC025-BADF-4FAF-B82F-278241F12D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13" y="1178011"/>
            <a:ext cx="3002802" cy="5159746"/>
          </a:xfrm>
          <a:prstGeom prst="rect">
            <a:avLst/>
          </a:prstGeom>
        </p:spPr>
      </p:pic>
      <p:sp>
        <p:nvSpPr>
          <p:cNvPr id="18" name="Google Shape;274;p28">
            <a:extLst>
              <a:ext uri="{FF2B5EF4-FFF2-40B4-BE49-F238E27FC236}">
                <a16:creationId xmlns:a16="http://schemas.microsoft.com/office/drawing/2014/main" id="{0410DD8C-9BC5-4384-96C0-6F2EAFBC454B}"/>
              </a:ext>
            </a:extLst>
          </p:cNvPr>
          <p:cNvSpPr txBox="1"/>
          <p:nvPr/>
        </p:nvSpPr>
        <p:spPr>
          <a:xfrm>
            <a:off x="3174215" y="960475"/>
            <a:ext cx="5853321" cy="4390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Um banco de dados chamado </a:t>
            </a:r>
            <a:r>
              <a:rPr lang="pt-BR" sz="2000" b="1" dirty="0" err="1">
                <a:latin typeface="Nunito"/>
                <a:ea typeface="Nunito"/>
                <a:cs typeface="Nunito"/>
                <a:sym typeface="Nunito"/>
              </a:rPr>
              <a:t>template1</a:t>
            </a: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:</a:t>
            </a:r>
          </a:p>
          <a:p>
            <a:pPr marL="914400" lvl="1" indent="-330200" algn="just" rtl="0">
              <a:spcBef>
                <a:spcPts val="1000"/>
              </a:spcBef>
              <a:spcAft>
                <a:spcPts val="1000"/>
              </a:spcAft>
              <a:buSzPts val="1600"/>
              <a:buFont typeface="Nunito"/>
              <a:buChar char="○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Serve como modelo para criação de novos bancos. Sempre que você cria um banco novo sem especificar um modelo, o PostgreSQL copia a estrutura e os objetos do </a:t>
            </a:r>
            <a:r>
              <a:rPr lang="pt-BR" sz="2000" dirty="0" err="1">
                <a:latin typeface="Nunito"/>
                <a:ea typeface="Nunito"/>
                <a:cs typeface="Nunito"/>
                <a:sym typeface="Nunito"/>
              </a:rPr>
              <a:t>template1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.</a:t>
            </a:r>
          </a:p>
          <a:p>
            <a:pPr marL="457200" marR="0" lvl="0" indent="-3556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unito"/>
              <a:buChar char="●"/>
              <a:tabLst/>
              <a:defRPr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Um banco chamado </a:t>
            </a:r>
            <a:r>
              <a:rPr lang="pt-BR" sz="2000" b="1" dirty="0" err="1">
                <a:latin typeface="Nunito"/>
                <a:ea typeface="Nunito"/>
                <a:cs typeface="Nunito"/>
                <a:sym typeface="Nunito"/>
              </a:rPr>
              <a:t>template0</a:t>
            </a: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:</a:t>
            </a: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0200" algn="just" rtl="0">
              <a:spcBef>
                <a:spcPts val="1000"/>
              </a:spcBef>
              <a:spcAft>
                <a:spcPts val="1000"/>
              </a:spcAft>
              <a:buSzPts val="1600"/>
              <a:buFont typeface="Nunito"/>
              <a:buChar char="○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Usado como uma versão "limpa" do banco, sem personalizações, para permitir restaurações ou criação de bancos sem herdar modificações feitas no </a:t>
            </a:r>
            <a:r>
              <a:rPr lang="pt-BR" sz="2000" dirty="0" err="1">
                <a:latin typeface="Nunito"/>
                <a:ea typeface="Nunito"/>
                <a:cs typeface="Nunito"/>
                <a:sym typeface="Nunito"/>
              </a:rPr>
              <a:t>template1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.</a:t>
            </a: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endParaRPr sz="2000" dirty="0">
              <a:latin typeface="Nunito"/>
              <a:ea typeface="Nunito"/>
              <a:cs typeface="Nunito"/>
              <a:sym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125110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8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Estrutura da SQL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72" name="Google Shape;272;p28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73" name="Google Shape;273;p28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75" name="Google Shape;275;p28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17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BD7891D-165F-4184-B415-D5564AD9BF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792" y="124920"/>
            <a:ext cx="9338156" cy="464923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9A6ED04F-342F-450D-B397-1740BEA3A837}"/>
              </a:ext>
            </a:extLst>
          </p:cNvPr>
          <p:cNvSpPr/>
          <p:nvPr/>
        </p:nvSpPr>
        <p:spPr>
          <a:xfrm>
            <a:off x="70285" y="305587"/>
            <a:ext cx="362465" cy="3557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21C3518-1F30-4371-B1E9-030B5B346F27}"/>
              </a:ext>
            </a:extLst>
          </p:cNvPr>
          <p:cNvSpPr/>
          <p:nvPr/>
        </p:nvSpPr>
        <p:spPr>
          <a:xfrm>
            <a:off x="4662616" y="1055186"/>
            <a:ext cx="3204519" cy="4276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4449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9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Linguagem de Definição de Dados (DDL)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81" name="Google Shape;281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9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83" name="Google Shape;283;p29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84" name="Google Shape;284;p29"/>
          <p:cNvSpPr txBox="1"/>
          <p:nvPr/>
        </p:nvSpPr>
        <p:spPr>
          <a:xfrm>
            <a:off x="418200" y="960475"/>
            <a:ext cx="8279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1000"/>
              </a:spcAft>
              <a:buSzPts val="2000"/>
              <a:buFont typeface="Nunito"/>
              <a:buChar char="●"/>
            </a:pPr>
            <a:r>
              <a:rPr lang="pt-BR" sz="2000" b="1">
                <a:latin typeface="Nunito"/>
                <a:ea typeface="Nunito"/>
                <a:cs typeface="Nunito"/>
                <a:sym typeface="Nunito"/>
              </a:rPr>
              <a:t>Criar um Database (Banco de Dados):</a:t>
            </a:r>
            <a:endParaRPr sz="2000" b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5" name="Google Shape;285;p29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18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286" name="Google Shape;286;p29"/>
          <p:cNvPicPr preferRelativeResize="0"/>
          <p:nvPr/>
        </p:nvPicPr>
        <p:blipFill rotWithShape="1">
          <a:blip r:embed="rId4">
            <a:alphaModFix/>
          </a:blip>
          <a:srcRect t="23330" b="9971"/>
          <a:stretch/>
        </p:blipFill>
        <p:spPr>
          <a:xfrm>
            <a:off x="544290" y="1486804"/>
            <a:ext cx="4753674" cy="213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66375" y="1906720"/>
            <a:ext cx="2857500" cy="89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3E679E26-3472-47DB-8FBA-84BAF96A94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60145" y="3597134"/>
            <a:ext cx="4735805" cy="65371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0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Linguagem de Definição de Dados (DDL)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94" name="Google Shape;294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30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96" name="Google Shape;296;p30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97" name="Google Shape;297;p30"/>
          <p:cNvSpPr txBox="1"/>
          <p:nvPr/>
        </p:nvSpPr>
        <p:spPr>
          <a:xfrm>
            <a:off x="418199" y="960475"/>
            <a:ext cx="8462189" cy="2677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Criar um </a:t>
            </a:r>
            <a:r>
              <a:rPr lang="pt-BR" sz="2000" b="1" dirty="0" err="1">
                <a:latin typeface="Nunito"/>
                <a:ea typeface="Nunito"/>
                <a:cs typeface="Nunito"/>
                <a:sym typeface="Nunito"/>
              </a:rPr>
              <a:t>Schema</a:t>
            </a: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 (Esquema):</a:t>
            </a:r>
            <a:endParaRPr sz="2000" b="1" dirty="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0200" algn="just" rtl="0">
              <a:spcBef>
                <a:spcPts val="600"/>
              </a:spcBef>
              <a:spcAft>
                <a:spcPts val="600"/>
              </a:spcAft>
              <a:buSzPts val="1600"/>
              <a:buFont typeface="Nunito"/>
              <a:buChar char="○"/>
            </a:pPr>
            <a:r>
              <a:rPr lang="pt-BR" sz="1600" dirty="0">
                <a:latin typeface="Nunito"/>
                <a:ea typeface="Nunito"/>
                <a:cs typeface="Nunito"/>
                <a:sym typeface="Nunito"/>
              </a:rPr>
              <a:t>Após criar o banco de dados e conectar-se a ele, você pode criar um </a:t>
            </a:r>
            <a:r>
              <a:rPr lang="pt-BR" sz="1600" dirty="0" err="1">
                <a:latin typeface="Nunito"/>
                <a:ea typeface="Nunito"/>
                <a:cs typeface="Nunito"/>
                <a:sym typeface="Nunito"/>
              </a:rPr>
              <a:t>schema</a:t>
            </a:r>
            <a:endParaRPr lang="pt-BR" sz="1600" dirty="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0200" algn="just" rtl="0">
              <a:spcBef>
                <a:spcPts val="600"/>
              </a:spcBef>
              <a:spcAft>
                <a:spcPts val="600"/>
              </a:spcAft>
              <a:buSzPts val="1600"/>
              <a:buFont typeface="Nunito"/>
              <a:buChar char="○"/>
            </a:pPr>
            <a:r>
              <a:rPr lang="pt-BR" sz="1600" dirty="0">
                <a:latin typeface="Nunito"/>
                <a:ea typeface="Nunito"/>
                <a:cs typeface="Nunito"/>
                <a:sym typeface="Nunito"/>
              </a:rPr>
              <a:t>Um </a:t>
            </a:r>
            <a:r>
              <a:rPr lang="pt-BR" sz="1600" b="1" dirty="0" err="1">
                <a:latin typeface="Nunito"/>
                <a:ea typeface="Nunito"/>
                <a:cs typeface="Nunito"/>
                <a:sym typeface="Nunito"/>
              </a:rPr>
              <a:t>schema</a:t>
            </a:r>
            <a:r>
              <a:rPr lang="pt-BR" sz="1600" dirty="0">
                <a:latin typeface="Nunito"/>
                <a:ea typeface="Nunito"/>
                <a:cs typeface="Nunito"/>
                <a:sym typeface="Nunito"/>
              </a:rPr>
              <a:t> no PostgreSQL funciona como um contêiner lógico dentro de um banco de dados, atuando como um </a:t>
            </a:r>
            <a:r>
              <a:rPr lang="pt-BR" sz="1600" dirty="0" err="1">
                <a:latin typeface="Nunito"/>
                <a:ea typeface="Nunito"/>
                <a:cs typeface="Nunito"/>
                <a:sym typeface="Nunito"/>
              </a:rPr>
              <a:t>namespace</a:t>
            </a:r>
            <a:r>
              <a:rPr lang="pt-BR" sz="1600" dirty="0">
                <a:latin typeface="Nunito"/>
                <a:ea typeface="Nunito"/>
                <a:cs typeface="Nunito"/>
                <a:sym typeface="Nunito"/>
              </a:rPr>
              <a:t> para organizar objetos do banco, como tabelas, </a:t>
            </a:r>
            <a:r>
              <a:rPr lang="pt-BR" sz="1600" dirty="0" err="1">
                <a:latin typeface="Nunito"/>
                <a:ea typeface="Nunito"/>
                <a:cs typeface="Nunito"/>
                <a:sym typeface="Nunito"/>
              </a:rPr>
              <a:t>views</a:t>
            </a:r>
            <a:r>
              <a:rPr lang="pt-BR" sz="1600" dirty="0">
                <a:latin typeface="Nunito"/>
                <a:ea typeface="Nunito"/>
                <a:cs typeface="Nunito"/>
                <a:sym typeface="Nunito"/>
              </a:rPr>
              <a:t>, funções, tipos de dados, procedures armazenadas e outros objetos.</a:t>
            </a:r>
          </a:p>
          <a:p>
            <a:pPr marL="914400" lvl="1" indent="-330200" algn="just" rtl="0">
              <a:spcBef>
                <a:spcPts val="600"/>
              </a:spcBef>
              <a:spcAft>
                <a:spcPts val="600"/>
              </a:spcAft>
              <a:buSzPts val="1600"/>
              <a:buFont typeface="Nunito"/>
              <a:buChar char="○"/>
            </a:pPr>
            <a:r>
              <a:rPr lang="pt-BR" sz="1600" dirty="0">
                <a:latin typeface="Nunito"/>
                <a:ea typeface="Nunito"/>
                <a:cs typeface="Nunito"/>
                <a:sym typeface="Nunito"/>
              </a:rPr>
              <a:t>De forma muito simplificada, o </a:t>
            </a:r>
            <a:r>
              <a:rPr lang="pt-BR" sz="1600" dirty="0" err="1">
                <a:latin typeface="Nunito"/>
                <a:ea typeface="Nunito"/>
                <a:cs typeface="Nunito"/>
                <a:sym typeface="Nunito"/>
              </a:rPr>
              <a:t>schema</a:t>
            </a:r>
            <a:r>
              <a:rPr lang="pt-BR" sz="1600" dirty="0">
                <a:latin typeface="Nunito"/>
                <a:ea typeface="Nunito"/>
                <a:cs typeface="Nunito"/>
                <a:sym typeface="Nunito"/>
              </a:rPr>
              <a:t> é como uma “pasta” dentro de um banco de dados, que organiza tabelas, </a:t>
            </a:r>
            <a:r>
              <a:rPr lang="pt-BR" sz="1600" dirty="0" err="1">
                <a:latin typeface="Nunito"/>
                <a:ea typeface="Nunito"/>
                <a:cs typeface="Nunito"/>
                <a:sym typeface="Nunito"/>
              </a:rPr>
              <a:t>views</a:t>
            </a:r>
            <a:r>
              <a:rPr lang="pt-BR" sz="1600" dirty="0">
                <a:latin typeface="Nunito"/>
                <a:ea typeface="Nunito"/>
                <a:cs typeface="Nunito"/>
                <a:sym typeface="Nunito"/>
              </a:rPr>
              <a:t>, funções.....</a:t>
            </a:r>
          </a:p>
        </p:txBody>
      </p:sp>
      <p:sp>
        <p:nvSpPr>
          <p:cNvPr id="298" name="Google Shape;298;p30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19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2050" name="Picture 2" descr="Esquema PostgreSQL">
            <a:extLst>
              <a:ext uri="{FF2B5EF4-FFF2-40B4-BE49-F238E27FC236}">
                <a16:creationId xmlns:a16="http://schemas.microsoft.com/office/drawing/2014/main" id="{2C72CD4D-FBA4-4D9A-B23B-405C509A1F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2284" y="3400535"/>
            <a:ext cx="3656570" cy="1742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0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Linguagem de Definição de Dados (DDL)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94" name="Google Shape;294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30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96" name="Google Shape;296;p30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97" name="Google Shape;297;p30"/>
          <p:cNvSpPr txBox="1"/>
          <p:nvPr/>
        </p:nvSpPr>
        <p:spPr>
          <a:xfrm>
            <a:off x="418200" y="960475"/>
            <a:ext cx="50841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Criar um </a:t>
            </a:r>
            <a:r>
              <a:rPr lang="pt-BR" sz="2000" b="1" dirty="0" err="1">
                <a:latin typeface="Nunito"/>
                <a:ea typeface="Nunito"/>
                <a:cs typeface="Nunito"/>
                <a:sym typeface="Nunito"/>
              </a:rPr>
              <a:t>Schema</a:t>
            </a: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 (Esquema):</a:t>
            </a:r>
            <a:endParaRPr sz="2000" b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8" name="Google Shape;298;p30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20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299" name="Google Shape;299;p30"/>
          <p:cNvPicPr preferRelativeResize="0"/>
          <p:nvPr/>
        </p:nvPicPr>
        <p:blipFill rotWithShape="1">
          <a:blip r:embed="rId4">
            <a:alphaModFix/>
          </a:blip>
          <a:srcRect t="25023" b="9161"/>
          <a:stretch/>
        </p:blipFill>
        <p:spPr>
          <a:xfrm>
            <a:off x="541352" y="2162383"/>
            <a:ext cx="4633550" cy="1756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71875" y="982413"/>
            <a:ext cx="2868438" cy="37390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747654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1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Linguagem de Definição de Dados (DDL)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306" name="Google Shape;306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1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08" name="Google Shape;308;p31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09" name="Google Shape;309;p31"/>
          <p:cNvSpPr txBox="1"/>
          <p:nvPr/>
        </p:nvSpPr>
        <p:spPr>
          <a:xfrm>
            <a:off x="418200" y="960475"/>
            <a:ext cx="8293200" cy="11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b="1">
                <a:latin typeface="Nunito"/>
                <a:ea typeface="Nunito"/>
                <a:cs typeface="Nunito"/>
                <a:sym typeface="Nunito"/>
              </a:rPr>
              <a:t>Criar uma Table (Tabela):</a:t>
            </a:r>
            <a:endParaRPr sz="2000" b="1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0200" algn="just" rtl="0">
              <a:spcBef>
                <a:spcPts val="1000"/>
              </a:spcBef>
              <a:spcAft>
                <a:spcPts val="1000"/>
              </a:spcAft>
              <a:buSzPts val="1600"/>
              <a:buFont typeface="Nunito"/>
              <a:buChar char="○"/>
            </a:pPr>
            <a:r>
              <a:rPr lang="pt-BR" sz="1600">
                <a:latin typeface="Nunito"/>
                <a:ea typeface="Nunito"/>
                <a:cs typeface="Nunito"/>
                <a:sym typeface="Nunito"/>
              </a:rPr>
              <a:t>Dentro de um schema, você pode criar tabelas para definir a estrutura onde os dados serão armazenados: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0" name="Google Shape;310;p31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21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311" name="Google Shape;311;p31"/>
          <p:cNvPicPr preferRelativeResize="0"/>
          <p:nvPr/>
        </p:nvPicPr>
        <p:blipFill rotWithShape="1">
          <a:blip r:embed="rId4">
            <a:alphaModFix/>
          </a:blip>
          <a:srcRect l="7022" t="20367" r="8159" b="10823"/>
          <a:stretch/>
        </p:blipFill>
        <p:spPr>
          <a:xfrm>
            <a:off x="2261997" y="2367912"/>
            <a:ext cx="4163813" cy="221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2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Linguagem de Definição de Dados (DDL)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318" name="Google Shape;318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32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20" name="Google Shape;320;p32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21" name="Google Shape;321;p32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22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322" name="Google Shape;322;p32"/>
          <p:cNvPicPr preferRelativeResize="0"/>
          <p:nvPr/>
        </p:nvPicPr>
        <p:blipFill rotWithShape="1">
          <a:blip r:embed="rId4">
            <a:alphaModFix/>
          </a:blip>
          <a:srcRect l="7022" t="20367" r="8159" b="10823"/>
          <a:stretch/>
        </p:blipFill>
        <p:spPr>
          <a:xfrm>
            <a:off x="2180256" y="848290"/>
            <a:ext cx="4338920" cy="2304876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2"/>
          <p:cNvSpPr/>
          <p:nvPr/>
        </p:nvSpPr>
        <p:spPr>
          <a:xfrm>
            <a:off x="3573525" y="1469725"/>
            <a:ext cx="2496900" cy="2349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32"/>
          <p:cNvSpPr txBox="1"/>
          <p:nvPr/>
        </p:nvSpPr>
        <p:spPr>
          <a:xfrm>
            <a:off x="418200" y="3227925"/>
            <a:ext cx="8279100" cy="13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just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nome_do_esquema: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 O esquema ao qual a tabela pertencerá. Se você não especificar um esquema, a tabela será criada no esquema padrão (geralmente é o </a:t>
            </a: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public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).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just" rtl="0">
              <a:spcBef>
                <a:spcPts val="1000"/>
              </a:spcBef>
              <a:spcAft>
                <a:spcPts val="1000"/>
              </a:spcAft>
              <a:buSzPts val="1700"/>
              <a:buFont typeface="Nunito"/>
              <a:buChar char="●"/>
            </a:pP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nome_da_tabela: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 O nome que você deseja dar à sua tabela.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3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Linguagem de Definição de Dados (DDL)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330" name="Google Shape;330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3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32" name="Google Shape;332;p33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33" name="Google Shape;333;p33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23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334" name="Google Shape;334;p33"/>
          <p:cNvPicPr preferRelativeResize="0"/>
          <p:nvPr/>
        </p:nvPicPr>
        <p:blipFill rotWithShape="1">
          <a:blip r:embed="rId4">
            <a:alphaModFix/>
          </a:blip>
          <a:srcRect l="7022" t="20367" r="8159" b="10823"/>
          <a:stretch/>
        </p:blipFill>
        <p:spPr>
          <a:xfrm>
            <a:off x="1923524" y="848301"/>
            <a:ext cx="4595652" cy="2441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33"/>
          <p:cNvSpPr/>
          <p:nvPr/>
        </p:nvSpPr>
        <p:spPr>
          <a:xfrm>
            <a:off x="2676425" y="1708975"/>
            <a:ext cx="649200" cy="6309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33"/>
          <p:cNvSpPr txBox="1"/>
          <p:nvPr/>
        </p:nvSpPr>
        <p:spPr>
          <a:xfrm>
            <a:off x="418200" y="3532725"/>
            <a:ext cx="82791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just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coluna: 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O nome de uma coluna na tabela.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just" rtl="0">
              <a:spcBef>
                <a:spcPts val="1000"/>
              </a:spcBef>
              <a:spcAft>
                <a:spcPts val="1000"/>
              </a:spcAft>
              <a:buSzPts val="1700"/>
              <a:buFont typeface="Nunito"/>
              <a:buChar char="●"/>
            </a:pP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tipo_de_dado: 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O tipo de dados (como </a:t>
            </a: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INTEGER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, </a:t>
            </a: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VARCHAR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, </a:t>
            </a: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TIMESTAMP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) que a coluna irá armazenar.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7" name="Google Shape;337;p33"/>
          <p:cNvSpPr/>
          <p:nvPr/>
        </p:nvSpPr>
        <p:spPr>
          <a:xfrm>
            <a:off x="3380597" y="1708975"/>
            <a:ext cx="1119900" cy="6309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4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Linguagem de Definição de Dados (DDL)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343" name="Google Shape;343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34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45" name="Google Shape;345;p34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46" name="Google Shape;346;p34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24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347" name="Google Shape;347;p34"/>
          <p:cNvPicPr preferRelativeResize="0"/>
          <p:nvPr/>
        </p:nvPicPr>
        <p:blipFill rotWithShape="1">
          <a:blip r:embed="rId4">
            <a:alphaModFix/>
          </a:blip>
          <a:srcRect l="7022" t="20367" r="8159" b="10823"/>
          <a:stretch/>
        </p:blipFill>
        <p:spPr>
          <a:xfrm>
            <a:off x="1923524" y="1000701"/>
            <a:ext cx="4595652" cy="2441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4"/>
          <p:cNvSpPr txBox="1"/>
          <p:nvPr/>
        </p:nvSpPr>
        <p:spPr>
          <a:xfrm>
            <a:off x="418200" y="3532725"/>
            <a:ext cx="82791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just" rtl="0">
              <a:spcBef>
                <a:spcPts val="0"/>
              </a:spcBef>
              <a:spcAft>
                <a:spcPts val="1000"/>
              </a:spcAft>
              <a:buSzPts val="1700"/>
              <a:buFont typeface="Nunito"/>
              <a:buChar char="●"/>
            </a:pP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CONSTRAINTS: </a:t>
            </a:r>
            <a:r>
              <a:rPr lang="pt-BR" sz="1700" u="sng">
                <a:latin typeface="Nunito"/>
                <a:ea typeface="Nunito"/>
                <a:cs typeface="Nunito"/>
                <a:sym typeface="Nunito"/>
              </a:rPr>
              <a:t>Restrições opcionais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 para a coluna, como </a:t>
            </a: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NOT NULL, PRIMARY KEY, UNIQUE, etc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.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9" name="Google Shape;349;p34"/>
          <p:cNvSpPr/>
          <p:nvPr/>
        </p:nvSpPr>
        <p:spPr>
          <a:xfrm>
            <a:off x="4485602" y="1861375"/>
            <a:ext cx="1113900" cy="6309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1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Linguagem de Definição de Dados (DDL)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306" name="Google Shape;306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1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08" name="Google Shape;308;p31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09" name="Google Shape;309;p31"/>
          <p:cNvSpPr txBox="1"/>
          <p:nvPr/>
        </p:nvSpPr>
        <p:spPr>
          <a:xfrm>
            <a:off x="418200" y="960475"/>
            <a:ext cx="8293200" cy="11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b="1">
                <a:latin typeface="Nunito"/>
                <a:ea typeface="Nunito"/>
                <a:cs typeface="Nunito"/>
                <a:sym typeface="Nunito"/>
              </a:rPr>
              <a:t>Criar uma Table (Tabela):</a:t>
            </a:r>
            <a:endParaRPr sz="2000" b="1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0200" algn="just" rtl="0">
              <a:spcBef>
                <a:spcPts val="1000"/>
              </a:spcBef>
              <a:spcAft>
                <a:spcPts val="1000"/>
              </a:spcAft>
              <a:buSzPts val="1600"/>
              <a:buFont typeface="Nunito"/>
              <a:buChar char="○"/>
            </a:pPr>
            <a:r>
              <a:rPr lang="pt-BR" sz="1600">
                <a:latin typeface="Nunito"/>
                <a:ea typeface="Nunito"/>
                <a:cs typeface="Nunito"/>
                <a:sym typeface="Nunito"/>
              </a:rPr>
              <a:t>Dentro de um schema, você pode criar tabelas para definir a estrutura onde os dados serão armazenados: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0" name="Google Shape;310;p31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25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046CECC-01E4-4A21-B73B-9CBE3B3607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272" y="2311934"/>
            <a:ext cx="7543056" cy="2323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11378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</TotalTime>
  <Words>1179</Words>
  <Application>Microsoft Office PowerPoint</Application>
  <PresentationFormat>Apresentação na tela (16:9)</PresentationFormat>
  <Paragraphs>189</Paragraphs>
  <Slides>25</Slides>
  <Notes>25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33" baseType="lpstr">
      <vt:lpstr>Maven Pro</vt:lpstr>
      <vt:lpstr>Maven Pro SemiBold</vt:lpstr>
      <vt:lpstr>Helvetica Neue</vt:lpstr>
      <vt:lpstr>Maven Pro Medium</vt:lpstr>
      <vt:lpstr>Google Sans</vt:lpstr>
      <vt:lpstr>Nunito</vt:lpstr>
      <vt:lpstr>Arial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Leandro</cp:lastModifiedBy>
  <cp:revision>5</cp:revision>
  <dcterms:modified xsi:type="dcterms:W3CDTF">2025-09-06T20:59:07Z</dcterms:modified>
</cp:coreProperties>
</file>