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4"/>
  </p:notesMasterIdLst>
  <p:sldIdLst>
    <p:sldId id="257" r:id="rId2"/>
    <p:sldId id="258" r:id="rId3"/>
    <p:sldId id="301" r:id="rId4"/>
    <p:sldId id="302" r:id="rId5"/>
    <p:sldId id="303" r:id="rId6"/>
    <p:sldId id="300" r:id="rId7"/>
    <p:sldId id="259" r:id="rId8"/>
    <p:sldId id="260" r:id="rId9"/>
    <p:sldId id="261" r:id="rId10"/>
    <p:sldId id="262" r:id="rId11"/>
    <p:sldId id="263" r:id="rId12"/>
    <p:sldId id="264" r:id="rId13"/>
    <p:sldId id="30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5" r:id="rId24"/>
    <p:sldId id="276" r:id="rId25"/>
    <p:sldId id="274" r:id="rId26"/>
    <p:sldId id="279" r:id="rId27"/>
    <p:sldId id="281" r:id="rId28"/>
    <p:sldId id="282" r:id="rId29"/>
    <p:sldId id="283" r:id="rId30"/>
    <p:sldId id="285" r:id="rId31"/>
    <p:sldId id="286" r:id="rId32"/>
    <p:sldId id="287" r:id="rId33"/>
    <p:sldId id="288" r:id="rId34"/>
    <p:sldId id="289" r:id="rId35"/>
    <p:sldId id="290" r:id="rId36"/>
    <p:sldId id="292" r:id="rId37"/>
    <p:sldId id="294" r:id="rId38"/>
    <p:sldId id="295" r:id="rId39"/>
    <p:sldId id="296" r:id="rId40"/>
    <p:sldId id="297" r:id="rId41"/>
    <p:sldId id="298" r:id="rId42"/>
    <p:sldId id="299" r:id="rId43"/>
  </p:sldIdLst>
  <p:sldSz cx="9144000" cy="5143500" type="screen16x9"/>
  <p:notesSz cx="6858000" cy="9144000"/>
  <p:embeddedFontLst>
    <p:embeddedFont>
      <p:font typeface="Helvetica Neue" panose="020B0604020202020204" charset="0"/>
      <p:regular r:id="rId45"/>
      <p:bold r:id="rId46"/>
      <p:italic r:id="rId47"/>
      <p:boldItalic r:id="rId48"/>
    </p:embeddedFont>
    <p:embeddedFont>
      <p:font typeface="Maven Pro Medium" panose="020B0604020202020204" charset="0"/>
      <p:regular r:id="rId49"/>
      <p:bold r:id="rId50"/>
    </p:embeddedFont>
    <p:embeddedFont>
      <p:font typeface="Maven Pro SemiBold" panose="020B0604020202020204" charset="0"/>
      <p:regular r:id="rId51"/>
      <p:bold r:id="rId52"/>
    </p:embeddedFont>
    <p:embeddedFont>
      <p:font typeface="Nunito" panose="020B0604020202020204" charset="0"/>
      <p:regular r:id="rId53"/>
      <p:bold r:id="rId54"/>
      <p:italic r:id="rId55"/>
      <p:boldItalic r:id="rId56"/>
    </p:embeddedFont>
    <p:embeddedFont>
      <p:font typeface="Nunito Medium" panose="020B0604020202020204" charset="0"/>
      <p:regular r:id="rId57"/>
      <p:bold r:id="rId58"/>
      <p:italic r:id="rId59"/>
      <p:boldItalic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9D35F1D-3D7A-40EF-A4F0-E15C7EDC4135}">
  <a:tblStyle styleId="{09D35F1D-3D7A-40EF-A4F0-E15C7EDC413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7383" autoAdjust="0"/>
  </p:normalViewPr>
  <p:slideViewPr>
    <p:cSldViewPr snapToGrid="0">
      <p:cViewPr varScale="1">
        <p:scale>
          <a:sx n="76" d="100"/>
          <a:sy n="76" d="100"/>
        </p:scale>
        <p:origin x="1642" y="5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font" Target="fonts/font10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font" Target="fonts/font13.fntdata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0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59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f53ef4d9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1f53ef4d9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pt-BR" b="1" dirty="0"/>
              <a:t>Anomalias</a:t>
            </a:r>
            <a:r>
              <a:rPr lang="pt-BR" dirty="0"/>
              <a:t> são problemas que ocorrem quando os dados não estão bem estruturados.</a:t>
            </a:r>
          </a:p>
          <a:p>
            <a:pPr marL="158750" indent="0">
              <a:buNone/>
            </a:pPr>
            <a:r>
              <a:rPr lang="pt-BR" dirty="0"/>
              <a:t>Como redundâncias ou </a:t>
            </a:r>
            <a:r>
              <a:rPr lang="pt-BR" dirty="0" err="1"/>
              <a:t>inconcistências</a:t>
            </a:r>
            <a:endParaRPr lang="pt-B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A normalização é o processo de organizar os dados em tabelas de forma lógica e estruturada, reduzindo redundâncias e evitando problemas de inserção, atualização e exclusão. Isso garante um banco de dados </a:t>
            </a:r>
            <a:r>
              <a:rPr lang="pt-BR" b="1" dirty="0"/>
              <a:t>consistente, eficiente e confiável</a:t>
            </a:r>
            <a:r>
              <a:rPr lang="pt-BR" dirty="0"/>
              <a:t>.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f53ef4d9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1f53ef4d9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pt-BR" b="1" dirty="0"/>
              <a:t>Anomalias</a:t>
            </a:r>
            <a:r>
              <a:rPr lang="pt-BR" dirty="0"/>
              <a:t> são problemas que ocorrem quando os dados não estão bem estruturados.</a:t>
            </a:r>
          </a:p>
          <a:p>
            <a:pPr marL="158750" indent="0">
              <a:buNone/>
            </a:pPr>
            <a:r>
              <a:rPr lang="pt-BR" dirty="0"/>
              <a:t>Como redundâncias ou </a:t>
            </a:r>
            <a:r>
              <a:rPr lang="pt-BR" dirty="0" err="1"/>
              <a:t>inconcistências</a:t>
            </a:r>
            <a:endParaRPr lang="pt-B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A normalização é o processo de organizar os dados em tabelas de forma lógica e estruturada, reduzindo redundâncias e evitando problemas de inserção, atualização e exclusão. Isso garante um banco de dados </a:t>
            </a:r>
            <a:r>
              <a:rPr lang="pt-BR" b="1" dirty="0"/>
              <a:t>consistente, eficiente e confiável</a:t>
            </a:r>
            <a:r>
              <a:rPr lang="pt-BR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7667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f53ef4d9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1f53ef4d9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A normalização é o processo de organizar os dados em tabelas de forma lógica e estruturada, reduzindo redundâncias e evitando problemas de inserção, atualização e exclusão. Isso garante um banco de dados </a:t>
            </a:r>
            <a:r>
              <a:rPr lang="pt-BR" b="1" dirty="0"/>
              <a:t>consistente, eficiente e confiável</a:t>
            </a:r>
            <a:r>
              <a:rPr lang="pt-BR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48670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f53ef4d9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1f53ef4d9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A normalização é o processo de organizar os dados em tabelas de forma lógica e estruturada, reduzindo redundâncias e evitando problemas de inserção, atualização e exclusão. Isso garante um banco de dados </a:t>
            </a:r>
            <a:r>
              <a:rPr lang="pt-BR" b="1" dirty="0"/>
              <a:t>consistente, eficiente e confiável</a:t>
            </a:r>
            <a:r>
              <a:rPr lang="pt-BR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66482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f53ef4d9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1f53ef4d9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A normalização é o processo de organizar os dados em tabelas de forma lógica e estruturada, reduzindo redundâncias e evitando problemas de inserção, atualização e exclusão. Isso garante um banco de dados </a:t>
            </a:r>
            <a:r>
              <a:rPr lang="pt-BR" b="1" dirty="0"/>
              <a:t>consistente, eficiente e confiável</a:t>
            </a:r>
            <a:r>
              <a:rPr lang="pt-BR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71949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f573f7c11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g1f573f7c11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f573f7c119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1f573f7c119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f573f7c119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f573f7c119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f573f7c119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f573f7c119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f573f7c119_0_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g1f573f7c119_0_4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f573f7c119_0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1f573f7c119_0_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f573f7c119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g1f573f7c119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89756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f573f7c119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f573f7c119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f573f7c119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g1f573f7c119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f573f7c119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g1f573f7c119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f573f7c119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g1f573f7c119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f573f7c119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g1f573f7c119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f573f7c119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g1f573f7c119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f573f7c119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g1f573f7c119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f573f7c119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1f573f7c119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f573f7c119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g1f573f7c119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f573f7c119_0_4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g1f573f7c119_0_4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f573f7c119_0_4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1f573f7c119_0_4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f573f7c119_0_4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g1f573f7c119_0_4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f66277d305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1" name="Google Shape;321;g2f66277d305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f573f7c119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g1f573f7c119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f573f7c119_0_5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g1f573f7c119_0_5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f573f7c119_0_5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7" name="Google Shape;377;g1f573f7c119_0_5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f573f7c119_0_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3" name="Google Shape;413;g1f573f7c119_0_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1f573f7c119_0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3" name="Google Shape;423;g1f573f7c119_0_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1f573f7c119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" name="Google Shape;432;g1f573f7c119_0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1f573f7c119_0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2" name="Google Shape;442;g1f573f7c119_0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f5767075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g1f5767075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f57670758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6" name="Google Shape;466;g1f57670758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f576707582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g1f576707582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1f573f7c119_0_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9" name="Google Shape;519;g1f573f7c119_0_3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1f573f7c119_0_3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4" name="Google Shape;534;g1f573f7c119_0_3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417e273e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0" name="Google Shape;550;g3417e273e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1f576707582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5" name="Google Shape;565;g1f576707582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1f576707582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1" name="Google Shape;581;g1f576707582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4" name="Google Shape;594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Normalização 1/2</a:t>
            </a:r>
            <a:endParaRPr sz="320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8" name="Google Shape;78;p15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418200" y="960475"/>
            <a:ext cx="8279100" cy="3877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Ao modelar nossos banco de dados devemos evitar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anomalias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b="1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Anomalias são mudanças em dados que podem gerar uma inconsistência no banco de dados relacional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Dependendo do momento em que ocorre a inconsistência podemos ter</a:t>
            </a:r>
          </a:p>
          <a:p>
            <a:pPr marL="101600" lvl="1" algn="just">
              <a:buSzPts val="2000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     -Anomalia de inserção</a:t>
            </a:r>
          </a:p>
          <a:p>
            <a:pPr marL="101600" lvl="1" algn="just">
              <a:buSzPts val="2000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     -Anomalia de atualização</a:t>
            </a:r>
          </a:p>
          <a:p>
            <a:pPr marL="101600" lvl="1" algn="just">
              <a:buSzPts val="2000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     -Anomalia de remoção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8" name="Google Shape;78;p15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418200" y="960475"/>
            <a:ext cx="8279100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Anomalia de Inserção: 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a inconsistência acontece ao inserir um dado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Por exemplo, um novo funcionário para a agência 1550 deve usar exatamente o mesmo endereço dos outros dois funcionários que também trabalham nesta agência.</a:t>
            </a:r>
            <a:endParaRPr lang="pt-BR" sz="2000" u="sng" dirty="0">
              <a:latin typeface="Nunito"/>
              <a:ea typeface="Nunito"/>
              <a:cs typeface="Nunito"/>
              <a:sym typeface="Nunito"/>
            </a:endParaRP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026" name="Picture 2" descr="anomalia">
            <a:extLst>
              <a:ext uri="{FF2B5EF4-FFF2-40B4-BE49-F238E27FC236}">
                <a16:creationId xmlns:a16="http://schemas.microsoft.com/office/drawing/2014/main" id="{91EE6881-E7CD-4DB7-87B6-4C38E7D5E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018" y="2854168"/>
            <a:ext cx="5707464" cy="211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2311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8" name="Google Shape;78;p15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4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418200" y="960475"/>
            <a:ext cx="8279100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Anomalia de Remoção: 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a inconsistência acontece ao remover um registro 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Exemplo: o que acontece ser removemos o funcionário de número 05 </a:t>
            </a:r>
            <a:r>
              <a:rPr lang="pt-BR" sz="2000" dirty="0">
                <a:latin typeface="Nunito"/>
                <a:ea typeface="Nunito"/>
                <a:cs typeface="Nunito"/>
                <a:sym typeface="Wingdings" panose="05000000000000000000" pitchFamily="2" charset="2"/>
              </a:rPr>
              <a:t>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os dados da agência também são removidos.</a:t>
            </a:r>
          </a:p>
        </p:txBody>
      </p:sp>
      <p:pic>
        <p:nvPicPr>
          <p:cNvPr id="1026" name="Picture 2" descr="anomalia">
            <a:extLst>
              <a:ext uri="{FF2B5EF4-FFF2-40B4-BE49-F238E27FC236}">
                <a16:creationId xmlns:a16="http://schemas.microsoft.com/office/drawing/2014/main" id="{91EE6881-E7CD-4DB7-87B6-4C38E7D5E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018" y="2736718"/>
            <a:ext cx="5707464" cy="211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7421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8" name="Google Shape;78;p15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5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418200" y="960475"/>
            <a:ext cx="8279100" cy="172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Anomalia de Atualização: 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a inconsistência acontece ao atualizar um registro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Uma anomalia de atualização acontece quando modificamos o endereço da agência 1524. Neste caso, teremos que atualizar o endereço de todos os funcionários da agência 1524.</a:t>
            </a:r>
          </a:p>
        </p:txBody>
      </p:sp>
      <p:pic>
        <p:nvPicPr>
          <p:cNvPr id="1026" name="Picture 2" descr="anomalia">
            <a:extLst>
              <a:ext uri="{FF2B5EF4-FFF2-40B4-BE49-F238E27FC236}">
                <a16:creationId xmlns:a16="http://schemas.microsoft.com/office/drawing/2014/main" id="{91EE6881-E7CD-4DB7-87B6-4C38E7D5E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018" y="2736718"/>
            <a:ext cx="5707464" cy="211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4952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Normalização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8" name="Google Shape;78;p15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6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418200" y="960475"/>
            <a:ext cx="8279100" cy="3570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“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Bom design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” evita </a:t>
            </a:r>
            <a:r>
              <a:rPr lang="pt-BR" sz="2000" u="sng" dirty="0">
                <a:latin typeface="Nunito"/>
                <a:ea typeface="Nunito"/>
                <a:cs typeface="Nunito"/>
                <a:sym typeface="Nunito"/>
              </a:rPr>
              <a:t>redundância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de dados e </a:t>
            </a:r>
            <a:r>
              <a:rPr lang="pt-BR" sz="2000" u="sng" dirty="0">
                <a:latin typeface="Nunito"/>
                <a:ea typeface="Nunito"/>
                <a:cs typeface="Nunito"/>
                <a:sym typeface="Nunito"/>
              </a:rPr>
              <a:t>anomalias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u="sng" dirty="0">
                <a:latin typeface="Nunito"/>
                <a:ea typeface="Nunito"/>
                <a:cs typeface="Nunito"/>
                <a:sym typeface="Nunito"/>
              </a:rPr>
              <a:t>Mecanismo formal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para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analisar esquemas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de </a:t>
            </a:r>
            <a:r>
              <a:rPr lang="pt-BR" sz="2000" u="sng" dirty="0">
                <a:latin typeface="Nunito"/>
                <a:ea typeface="Nunito"/>
                <a:cs typeface="Nunito"/>
                <a:sym typeface="Nunito"/>
              </a:rPr>
              <a:t>relações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baseado nas suas chaves e nas dependências funcionais entre seus atributos.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Consiste da decomposição de esquemas para evitar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anomalias</a:t>
            </a: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b="1" i="1" dirty="0">
                <a:latin typeface="Nunito"/>
                <a:ea typeface="Nunito"/>
                <a:cs typeface="Nunito"/>
                <a:sym typeface="Nunito"/>
              </a:rPr>
              <a:t>Projeto conceitual bem feito resulta naturalmente em esquemas normalizados.</a:t>
            </a:r>
            <a:endParaRPr sz="2000" b="1" i="1" dirty="0"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810387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Normalização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85" name="Google Shape;8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3267" y="901425"/>
            <a:ext cx="4577471" cy="39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7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1FN</a:t>
            </a:r>
            <a:endParaRPr sz="320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98" name="Google Shape;98;p17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8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Primeira Forma Normal (1FN)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04" name="Google Shape;10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418200" y="1112875"/>
            <a:ext cx="8279100" cy="3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É parte da definição formal de uma relação. 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Foi definida para </a:t>
            </a: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não permitir atributos multivalorados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, atributos </a:t>
            </a: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compostos 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e suas combinações.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“Uma </a:t>
            </a: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relação/tabela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 está em </a:t>
            </a: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1FN 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se e somente se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todos os seus valores de atributos contêm apenas valores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atômicos 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(</a:t>
            </a:r>
            <a:r>
              <a:rPr lang="pt-BR" sz="2000" i="1">
                <a:latin typeface="Nunito"/>
                <a:ea typeface="Nunito"/>
                <a:cs typeface="Nunito"/>
                <a:sym typeface="Nunito"/>
              </a:rPr>
              <a:t>simples, indivisíveis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).”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8" name="Google Shape;108;p1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9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Primeira Forma Normal (1FN)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14" name="Google Shape;114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17" name="Google Shape;11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3213" y="855138"/>
            <a:ext cx="5648127" cy="399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9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10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599900" y="2251175"/>
            <a:ext cx="7101900" cy="259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9"/>
          <p:cNvSpPr txBox="1"/>
          <p:nvPr/>
        </p:nvSpPr>
        <p:spPr>
          <a:xfrm>
            <a:off x="432750" y="1459800"/>
            <a:ext cx="1847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rgbClr val="0D0D0D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Tabela Não Normalizada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Primeira Forma Normal (1FN)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26" name="Google Shape;126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28" name="Google Shape;128;p2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29" name="Google Shape;12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3213" y="855138"/>
            <a:ext cx="5648127" cy="399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11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5090150" y="2266950"/>
            <a:ext cx="2257500" cy="258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0"/>
          <p:cNvSpPr/>
          <p:nvPr/>
        </p:nvSpPr>
        <p:spPr>
          <a:xfrm>
            <a:off x="1108725" y="4197900"/>
            <a:ext cx="4219500" cy="57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0"/>
          <p:cNvSpPr/>
          <p:nvPr/>
        </p:nvSpPr>
        <p:spPr>
          <a:xfrm>
            <a:off x="1770700" y="4157650"/>
            <a:ext cx="204900" cy="402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0"/>
          <p:cNvSpPr txBox="1"/>
          <p:nvPr/>
        </p:nvSpPr>
        <p:spPr>
          <a:xfrm>
            <a:off x="2667000" y="2463025"/>
            <a:ext cx="1462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chemeClr val="dk2"/>
                </a:solidFill>
              </a:rPr>
              <a:t>Atributo composto</a:t>
            </a:r>
            <a:endParaRPr sz="1000" b="1">
              <a:solidFill>
                <a:schemeClr val="dk2"/>
              </a:solidFill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432750" y="1459800"/>
            <a:ext cx="1847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rgbClr val="0D0D0D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Tabela Não Normalizada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Primeira Forma Normal (1FN)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41" name="Google Shape;141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44" name="Google Shape;14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3213" y="855138"/>
            <a:ext cx="5648127" cy="399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1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46" name="Google Shape;146;p21"/>
          <p:cNvSpPr txBox="1"/>
          <p:nvPr/>
        </p:nvSpPr>
        <p:spPr>
          <a:xfrm>
            <a:off x="2667000" y="2463025"/>
            <a:ext cx="1462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chemeClr val="dk2"/>
                </a:solidFill>
              </a:rPr>
              <a:t>Atributo composto</a:t>
            </a:r>
            <a:endParaRPr sz="1000" b="1">
              <a:solidFill>
                <a:schemeClr val="dk2"/>
              </a:solidFill>
            </a:endParaRPr>
          </a:p>
        </p:txBody>
      </p:sp>
      <p:sp>
        <p:nvSpPr>
          <p:cNvPr id="147" name="Google Shape;147;p21"/>
          <p:cNvSpPr txBox="1"/>
          <p:nvPr/>
        </p:nvSpPr>
        <p:spPr>
          <a:xfrm>
            <a:off x="6292675" y="2422650"/>
            <a:ext cx="17451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chemeClr val="dk2"/>
                </a:solidFill>
              </a:rPr>
              <a:t>Atributo multivalorado</a:t>
            </a:r>
            <a:endParaRPr sz="1000" b="1">
              <a:solidFill>
                <a:schemeClr val="dk2"/>
              </a:solidFill>
            </a:endParaRPr>
          </a:p>
        </p:txBody>
      </p:sp>
      <p:sp>
        <p:nvSpPr>
          <p:cNvPr id="148" name="Google Shape;148;p21"/>
          <p:cNvSpPr txBox="1"/>
          <p:nvPr/>
        </p:nvSpPr>
        <p:spPr>
          <a:xfrm>
            <a:off x="432750" y="1459800"/>
            <a:ext cx="1847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rgbClr val="0D0D0D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Tabela Não Normalizada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22350" y="3320500"/>
            <a:ext cx="1847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rgbClr val="0D0D0D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Decomposição de esquemas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28" name="Google Shape;228;p2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29" name="Google Shape;22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8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 dirty="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DEPENDÊNCIA FUNCIONAL</a:t>
            </a:r>
            <a:endParaRPr sz="3200" dirty="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231" name="Google Shape;231;p2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13</a:t>
            </a:fld>
            <a:endParaRPr b="1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9571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Dependência Funcional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57" name="Google Shape;157;p2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418200" y="884275"/>
            <a:ext cx="8279100" cy="3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Em uma tabela relacional, diz-se que uma coluna C2 depende funcionalmente de uma coluna C1 ( ou que uma coluna C1 determina a coluna C2) quando, em todas as linhas da tabela, para cada valor de C1 que aparece na tabela, o mesmo valor de C2.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 b="1">
                <a:latin typeface="Nunito"/>
                <a:ea typeface="Nunito"/>
                <a:cs typeface="Nunito"/>
                <a:sym typeface="Nunito"/>
              </a:rPr>
              <a:t>C1 → C2</a:t>
            </a:r>
            <a:endParaRPr sz="23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DF deve ser explicitamente definida por alguém que conheça a semântica dos atributos de uma relação.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9" name="Google Shape;159;p22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14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Dependência Funcional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65" name="Google Shape;165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3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67" name="Google Shape;167;p23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68" name="Google Shape;16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2013" y="931775"/>
            <a:ext cx="1235200" cy="175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3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15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Dependência Funcional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75" name="Google Shape;175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77" name="Google Shape;177;p2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78" name="Google Shape;17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2013" y="931775"/>
            <a:ext cx="1235200" cy="175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80550" y="2467625"/>
            <a:ext cx="1190850" cy="195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4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16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Dependência Funcional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86" name="Google Shape;186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88" name="Google Shape;188;p2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89" name="Google Shape;18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2013" y="931775"/>
            <a:ext cx="1235200" cy="175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80550" y="2467625"/>
            <a:ext cx="1190850" cy="195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25"/>
          <p:cNvCxnSpPr/>
          <p:nvPr/>
        </p:nvCxnSpPr>
        <p:spPr>
          <a:xfrm>
            <a:off x="1084350" y="2581025"/>
            <a:ext cx="1319400" cy="190680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2" name="Google Shape;192;p25"/>
          <p:cNvCxnSpPr/>
          <p:nvPr/>
        </p:nvCxnSpPr>
        <p:spPr>
          <a:xfrm flipH="1">
            <a:off x="1135975" y="2622250"/>
            <a:ext cx="1329600" cy="186570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3" name="Google Shape;193;p25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17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Dependência Funcional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99" name="Google Shape;199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02" name="Google Shape;20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2013" y="931775"/>
            <a:ext cx="1235200" cy="175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80550" y="2467625"/>
            <a:ext cx="1190850" cy="195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87825" y="2477225"/>
            <a:ext cx="1190850" cy="1939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5" name="Google Shape;205;p26"/>
          <p:cNvCxnSpPr/>
          <p:nvPr/>
        </p:nvCxnSpPr>
        <p:spPr>
          <a:xfrm>
            <a:off x="1084350" y="2581025"/>
            <a:ext cx="1319400" cy="190680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26"/>
          <p:cNvCxnSpPr/>
          <p:nvPr/>
        </p:nvCxnSpPr>
        <p:spPr>
          <a:xfrm flipH="1">
            <a:off x="1135975" y="2622250"/>
            <a:ext cx="1329600" cy="186570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7" name="Google Shape;207;p26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18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Dependência Funcional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13" name="Google Shape;213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15" name="Google Shape;215;p2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16" name="Google Shape;21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2013" y="931775"/>
            <a:ext cx="1235200" cy="175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80550" y="2467625"/>
            <a:ext cx="1190850" cy="1958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7"/>
          <p:cNvSpPr txBox="1"/>
          <p:nvPr/>
        </p:nvSpPr>
        <p:spPr>
          <a:xfrm>
            <a:off x="6541927" y="4416475"/>
            <a:ext cx="1573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>
                <a:latin typeface="Nunito"/>
                <a:ea typeface="Nunito"/>
                <a:cs typeface="Nunito"/>
                <a:sym typeface="Nunito"/>
              </a:rPr>
              <a:t>CPF → NOME</a:t>
            </a:r>
            <a:endParaRPr sz="1500" b="1"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19" name="Google Shape;219;p27"/>
          <p:cNvCxnSpPr/>
          <p:nvPr/>
        </p:nvCxnSpPr>
        <p:spPr>
          <a:xfrm>
            <a:off x="1084350" y="2581025"/>
            <a:ext cx="1319400" cy="190680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" name="Google Shape;220;p27"/>
          <p:cNvCxnSpPr/>
          <p:nvPr/>
        </p:nvCxnSpPr>
        <p:spPr>
          <a:xfrm flipH="1">
            <a:off x="1135975" y="2622250"/>
            <a:ext cx="1329600" cy="186570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21" name="Google Shape;221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81555" y="2469060"/>
            <a:ext cx="1190850" cy="197137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7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19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28" name="Google Shape;228;p2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29" name="Google Shape;22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8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2FN</a:t>
            </a:r>
            <a:endParaRPr sz="320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231" name="Google Shape;231;p2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20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Segunda Forma Normal (2FN)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37" name="Google Shape;237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39" name="Google Shape;239;p2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40" name="Google Shape;240;p29"/>
          <p:cNvSpPr txBox="1"/>
          <p:nvPr/>
        </p:nvSpPr>
        <p:spPr>
          <a:xfrm>
            <a:off x="418200" y="1036675"/>
            <a:ext cx="8279100" cy="38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“Uma </a:t>
            </a:r>
            <a:r>
              <a:rPr lang="pt-BR" sz="2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relação/tabela</a:t>
            </a:r>
            <a:r>
              <a:rPr lang="pt-BR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encontra-se na </a:t>
            </a:r>
            <a:r>
              <a:rPr lang="pt-BR" sz="2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2FN </a:t>
            </a:r>
            <a:r>
              <a:rPr lang="pt-BR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se e somente se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estiver em </a:t>
            </a:r>
            <a:r>
              <a:rPr lang="pt-BR" sz="2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1FN </a:t>
            </a:r>
            <a:r>
              <a:rPr lang="pt-BR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 </a:t>
            </a:r>
            <a:r>
              <a:rPr lang="pt-BR" sz="2000" i="1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não contém dependências</a:t>
            </a:r>
            <a:endParaRPr sz="2000" i="1" u="sng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i="1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parciais</a:t>
            </a:r>
            <a:r>
              <a:rPr lang="pt-BR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ou seja, todos os atributos não-chave dependem completamente da chave primária, e não apenas de uma parte dela”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Dependência Parcial: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 ocorre quando uma coluna depende apenas de uma parte de uma chave primária composta.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Uma relação para estar na 2FN não deve possuir atributo não-chave funcionalmente determinado por parte da chave primária.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1" name="Google Shape;241;p29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21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0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Segunda Forma Normal (2FN)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47" name="Google Shape;24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49" name="Google Shape;249;p3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graphicFrame>
        <p:nvGraphicFramePr>
          <p:cNvPr id="250" name="Google Shape;250;p30"/>
          <p:cNvGraphicFramePr/>
          <p:nvPr/>
        </p:nvGraphicFramePr>
        <p:xfrm>
          <a:off x="487000" y="1244463"/>
          <a:ext cx="8253300" cy="1726815"/>
        </p:xfrm>
        <a:graphic>
          <a:graphicData uri="http://schemas.openxmlformats.org/drawingml/2006/table">
            <a:tbl>
              <a:tblPr>
                <a:noFill/>
                <a:tableStyleId>{09D35F1D-3D7A-40EF-A4F0-E15C7EDC4135}</a:tableStyleId>
              </a:tblPr>
              <a:tblGrid>
                <a:gridCol w="137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9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5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5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 u="sng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Emp_CPF</a:t>
                      </a:r>
                      <a:endParaRPr b="1" u="sng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 u="sng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Proj_Cod</a:t>
                      </a:r>
                      <a:endParaRPr b="1" u="sng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Horas_Trabalho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Emp_Nome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Proj_Nome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Proj_Local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333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1A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100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Lia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SisRH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RJ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222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3C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400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Caio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GTI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DF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111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3C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300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Ana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GTI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DF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333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2B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200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Lia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SisCorp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RS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1" name="Google Shape;251;p30"/>
          <p:cNvSpPr txBox="1"/>
          <p:nvPr/>
        </p:nvSpPr>
        <p:spPr>
          <a:xfrm>
            <a:off x="418200" y="808075"/>
            <a:ext cx="8279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1">
                <a:solidFill>
                  <a:srgbClr val="0B5394"/>
                </a:solidFill>
                <a:latin typeface="Nunito"/>
                <a:ea typeface="Nunito"/>
                <a:cs typeface="Nunito"/>
                <a:sym typeface="Nunito"/>
              </a:rPr>
              <a:t>Empregado_Projeto</a:t>
            </a:r>
            <a:endParaRPr sz="1900" b="1">
              <a:solidFill>
                <a:srgbClr val="0B539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2" name="Google Shape;252;p30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22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2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Segunda Forma Normal (2FN)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71" name="Google Shape;271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73" name="Google Shape;273;p3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graphicFrame>
        <p:nvGraphicFramePr>
          <p:cNvPr id="274" name="Google Shape;274;p32"/>
          <p:cNvGraphicFramePr/>
          <p:nvPr/>
        </p:nvGraphicFramePr>
        <p:xfrm>
          <a:off x="487000" y="1244463"/>
          <a:ext cx="8253300" cy="1726815"/>
        </p:xfrm>
        <a:graphic>
          <a:graphicData uri="http://schemas.openxmlformats.org/drawingml/2006/table">
            <a:tbl>
              <a:tblPr>
                <a:noFill/>
                <a:tableStyleId>{09D35F1D-3D7A-40EF-A4F0-E15C7EDC4135}</a:tableStyleId>
              </a:tblPr>
              <a:tblGrid>
                <a:gridCol w="137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9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5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5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 u="sng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Emp_CPF</a:t>
                      </a:r>
                      <a:endParaRPr b="1" u="sng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 u="sng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Proj_Cod</a:t>
                      </a:r>
                      <a:endParaRPr b="1" u="sng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Horas_Trabalho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Emp_Nome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Proj_Nome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Proj_Local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333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1A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100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Lia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SisRH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RJ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222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3C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400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Caio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GTI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DF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111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3C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300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Ana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GTI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DF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333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2B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200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Lia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SisCorp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RS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7" name="Google Shape;277;p32"/>
          <p:cNvSpPr/>
          <p:nvPr/>
        </p:nvSpPr>
        <p:spPr>
          <a:xfrm>
            <a:off x="1095270" y="2871475"/>
            <a:ext cx="4153355" cy="968925"/>
          </a:xfrm>
          <a:custGeom>
            <a:avLst/>
            <a:gdLst/>
            <a:ahLst/>
            <a:cxnLst/>
            <a:rect l="l" t="t" r="r" b="b"/>
            <a:pathLst>
              <a:path w="164509" h="38757" extrusionOk="0">
                <a:moveTo>
                  <a:pt x="0" y="19379"/>
                </a:moveTo>
                <a:lnTo>
                  <a:pt x="0" y="38757"/>
                </a:lnTo>
                <a:lnTo>
                  <a:pt x="164509" y="38757"/>
                </a:lnTo>
                <a:lnTo>
                  <a:pt x="164509" y="0"/>
                </a:ln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78" name="Google Shape;278;p32"/>
          <p:cNvSpPr txBox="1"/>
          <p:nvPr/>
        </p:nvSpPr>
        <p:spPr>
          <a:xfrm>
            <a:off x="418200" y="808075"/>
            <a:ext cx="8279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1">
                <a:solidFill>
                  <a:srgbClr val="0B5394"/>
                </a:solidFill>
                <a:latin typeface="Nunito"/>
                <a:ea typeface="Nunito"/>
                <a:cs typeface="Nunito"/>
                <a:sym typeface="Nunito"/>
              </a:rPr>
              <a:t>Empregado_Projeto</a:t>
            </a:r>
            <a:endParaRPr sz="1900" b="1">
              <a:solidFill>
                <a:srgbClr val="0B539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9" name="Google Shape;279;p32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23</a:t>
            </a:fld>
            <a:endParaRPr b="1">
              <a:solidFill>
                <a:schemeClr val="lt1"/>
              </a:solidFill>
            </a:endParaRPr>
          </a:p>
        </p:txBody>
      </p:sp>
      <p:cxnSp>
        <p:nvCxnSpPr>
          <p:cNvPr id="12" name="Google Shape;290;p33">
            <a:extLst>
              <a:ext uri="{FF2B5EF4-FFF2-40B4-BE49-F238E27FC236}">
                <a16:creationId xmlns:a16="http://schemas.microsoft.com/office/drawing/2014/main" id="{6135AE85-EA23-414F-88A2-42A900B1AACF}"/>
              </a:ext>
            </a:extLst>
          </p:cNvPr>
          <p:cNvCxnSpPr>
            <a:cxnSpLocks/>
          </p:cNvCxnSpPr>
          <p:nvPr/>
        </p:nvCxnSpPr>
        <p:spPr>
          <a:xfrm flipV="1">
            <a:off x="1095270" y="2871475"/>
            <a:ext cx="0" cy="65595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3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Segunda Forma Normal (2FN)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85" name="Google Shape;285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3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87" name="Google Shape;287;p33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graphicFrame>
        <p:nvGraphicFramePr>
          <p:cNvPr id="288" name="Google Shape;288;p33"/>
          <p:cNvGraphicFramePr/>
          <p:nvPr/>
        </p:nvGraphicFramePr>
        <p:xfrm>
          <a:off x="487000" y="1244463"/>
          <a:ext cx="8253300" cy="1726815"/>
        </p:xfrm>
        <a:graphic>
          <a:graphicData uri="http://schemas.openxmlformats.org/drawingml/2006/table">
            <a:tbl>
              <a:tblPr>
                <a:noFill/>
                <a:tableStyleId>{09D35F1D-3D7A-40EF-A4F0-E15C7EDC4135}</a:tableStyleId>
              </a:tblPr>
              <a:tblGrid>
                <a:gridCol w="137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9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5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5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 u="sng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Emp_CPF</a:t>
                      </a:r>
                      <a:endParaRPr b="1" u="sng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 u="sng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Proj_Cod</a:t>
                      </a:r>
                      <a:endParaRPr b="1" u="sng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Horas_Trabalho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Emp_Nome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Proj_Nome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Proj_Local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333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1A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100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Lia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SisRH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RJ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222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3C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400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Caio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GTI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DF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111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3C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300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Ana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GTI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DF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333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2B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200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Lia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SisCorp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RS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290" name="Google Shape;290;p33"/>
          <p:cNvCxnSpPr>
            <a:cxnSpLocks/>
          </p:cNvCxnSpPr>
          <p:nvPr/>
        </p:nvCxnSpPr>
        <p:spPr>
          <a:xfrm flipV="1">
            <a:off x="2414050" y="2850925"/>
            <a:ext cx="0" cy="65595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2" name="Google Shape;292;p33"/>
          <p:cNvSpPr/>
          <p:nvPr/>
        </p:nvSpPr>
        <p:spPr>
          <a:xfrm>
            <a:off x="2414050" y="2881775"/>
            <a:ext cx="4112725" cy="1267875"/>
          </a:xfrm>
          <a:custGeom>
            <a:avLst/>
            <a:gdLst/>
            <a:ahLst/>
            <a:cxnLst/>
            <a:rect l="l" t="t" r="r" b="b"/>
            <a:pathLst>
              <a:path w="164509" h="50715" extrusionOk="0">
                <a:moveTo>
                  <a:pt x="0" y="22016"/>
                </a:moveTo>
                <a:lnTo>
                  <a:pt x="0" y="50715"/>
                </a:lnTo>
                <a:lnTo>
                  <a:pt x="164509" y="50715"/>
                </a:lnTo>
                <a:lnTo>
                  <a:pt x="164097" y="0"/>
                </a:ln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93" name="Google Shape;293;p33"/>
          <p:cNvSpPr/>
          <p:nvPr/>
        </p:nvSpPr>
        <p:spPr>
          <a:xfrm>
            <a:off x="3877675" y="2881775"/>
            <a:ext cx="4112725" cy="1278150"/>
          </a:xfrm>
          <a:custGeom>
            <a:avLst/>
            <a:gdLst/>
            <a:ahLst/>
            <a:cxnLst/>
            <a:rect l="l" t="t" r="r" b="b"/>
            <a:pathLst>
              <a:path w="164509" h="51126" extrusionOk="0">
                <a:moveTo>
                  <a:pt x="414" y="51126"/>
                </a:moveTo>
                <a:lnTo>
                  <a:pt x="0" y="50715"/>
                </a:lnTo>
                <a:lnTo>
                  <a:pt x="164509" y="50715"/>
                </a:lnTo>
                <a:lnTo>
                  <a:pt x="164097" y="0"/>
                </a:ln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94" name="Google Shape;294;p33"/>
          <p:cNvSpPr txBox="1"/>
          <p:nvPr/>
        </p:nvSpPr>
        <p:spPr>
          <a:xfrm>
            <a:off x="418200" y="808075"/>
            <a:ext cx="8279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1">
                <a:solidFill>
                  <a:srgbClr val="0B5394"/>
                </a:solidFill>
                <a:latin typeface="Nunito"/>
                <a:ea typeface="Nunito"/>
                <a:cs typeface="Nunito"/>
                <a:sym typeface="Nunito"/>
              </a:rPr>
              <a:t>Empregado_Projeto</a:t>
            </a:r>
            <a:endParaRPr sz="1900" b="1">
              <a:solidFill>
                <a:srgbClr val="0B539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5" name="Google Shape;295;p33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24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Segunda Forma Normal (2FN)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58" name="Google Shape;258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60" name="Google Shape;260;p3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graphicFrame>
        <p:nvGraphicFramePr>
          <p:cNvPr id="261" name="Google Shape;261;p31"/>
          <p:cNvGraphicFramePr/>
          <p:nvPr/>
        </p:nvGraphicFramePr>
        <p:xfrm>
          <a:off x="487000" y="1244463"/>
          <a:ext cx="8253300" cy="1726815"/>
        </p:xfrm>
        <a:graphic>
          <a:graphicData uri="http://schemas.openxmlformats.org/drawingml/2006/table">
            <a:tbl>
              <a:tblPr>
                <a:noFill/>
                <a:tableStyleId>{09D35F1D-3D7A-40EF-A4F0-E15C7EDC4135}</a:tableStyleId>
              </a:tblPr>
              <a:tblGrid>
                <a:gridCol w="137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9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5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5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 u="sng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Emp_CPF</a:t>
                      </a:r>
                      <a:endParaRPr b="1" u="sng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 u="sng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Proj_Cod</a:t>
                      </a:r>
                      <a:endParaRPr b="1" u="sng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Horas_Trabalho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Emp_Nome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Proj_Nome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Proj_Local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333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1A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100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Lia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SisRH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RJ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222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3C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400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Caio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GTI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DF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111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3C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300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Ana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GTI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DF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333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2B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200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Lia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SisCorp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RS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2" name="Google Shape;262;p31"/>
          <p:cNvSpPr/>
          <p:nvPr/>
        </p:nvSpPr>
        <p:spPr>
          <a:xfrm>
            <a:off x="1135900" y="2846805"/>
            <a:ext cx="2741774" cy="494775"/>
          </a:xfrm>
          <a:custGeom>
            <a:avLst/>
            <a:gdLst/>
            <a:ahLst/>
            <a:cxnLst/>
            <a:rect l="l" t="t" r="r" b="b"/>
            <a:pathLst>
              <a:path w="53600" h="19791" extrusionOk="0">
                <a:moveTo>
                  <a:pt x="0" y="413"/>
                </a:moveTo>
                <a:lnTo>
                  <a:pt x="0" y="19791"/>
                </a:lnTo>
                <a:lnTo>
                  <a:pt x="53600" y="19791"/>
                </a:lnTo>
                <a:lnTo>
                  <a:pt x="53600" y="0"/>
                </a:ln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sp>
      <p:cxnSp>
        <p:nvCxnSpPr>
          <p:cNvPr id="263" name="Google Shape;263;p31"/>
          <p:cNvCxnSpPr/>
          <p:nvPr/>
        </p:nvCxnSpPr>
        <p:spPr>
          <a:xfrm rot="10800000">
            <a:off x="2414050" y="2850925"/>
            <a:ext cx="0" cy="49470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4" name="Google Shape;264;p31"/>
          <p:cNvSpPr txBox="1"/>
          <p:nvPr/>
        </p:nvSpPr>
        <p:spPr>
          <a:xfrm>
            <a:off x="418200" y="808075"/>
            <a:ext cx="8279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1">
                <a:solidFill>
                  <a:srgbClr val="0B5394"/>
                </a:solidFill>
                <a:latin typeface="Nunito"/>
                <a:ea typeface="Nunito"/>
                <a:cs typeface="Nunito"/>
                <a:sym typeface="Nunito"/>
              </a:rPr>
              <a:t>Empregado_Projeto</a:t>
            </a:r>
            <a:endParaRPr sz="1900" b="1">
              <a:solidFill>
                <a:srgbClr val="0B539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5" name="Google Shape;265;p31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25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Exclusão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24" name="Google Shape;324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26" name="Google Shape;326;p3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graphicFrame>
        <p:nvGraphicFramePr>
          <p:cNvPr id="327" name="Google Shape;327;p36"/>
          <p:cNvGraphicFramePr/>
          <p:nvPr/>
        </p:nvGraphicFramePr>
        <p:xfrm>
          <a:off x="487000" y="1244463"/>
          <a:ext cx="8253300" cy="2072178"/>
        </p:xfrm>
        <a:graphic>
          <a:graphicData uri="http://schemas.openxmlformats.org/drawingml/2006/table">
            <a:tbl>
              <a:tblPr>
                <a:noFill/>
                <a:tableStyleId>{09D35F1D-3D7A-40EF-A4F0-E15C7EDC4135}</a:tableStyleId>
              </a:tblPr>
              <a:tblGrid>
                <a:gridCol w="137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9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5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5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 u="sng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Emp_CPF</a:t>
                      </a:r>
                      <a:endParaRPr b="1" u="sng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 u="sng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Proj_Cod</a:t>
                      </a:r>
                      <a:endParaRPr b="1" u="sng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Horas_Trabalho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Emp_Nome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Proj_Nome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Proj_Local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333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1A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100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Lia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SisRH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RJ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222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3C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400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Caio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GTI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DF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111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3C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300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Ana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GTI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DF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333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2B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200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Lia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SisCorp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RS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CC0000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CC0000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CC0000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CC0000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CC0000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CC0000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8" name="Google Shape;328;p36"/>
          <p:cNvSpPr txBox="1"/>
          <p:nvPr/>
        </p:nvSpPr>
        <p:spPr>
          <a:xfrm>
            <a:off x="418200" y="808075"/>
            <a:ext cx="8279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1">
                <a:solidFill>
                  <a:srgbClr val="0B5394"/>
                </a:solidFill>
                <a:latin typeface="Nunito"/>
                <a:ea typeface="Nunito"/>
                <a:cs typeface="Nunito"/>
                <a:sym typeface="Nunito"/>
              </a:rPr>
              <a:t>Empregado_Projeto</a:t>
            </a:r>
            <a:endParaRPr sz="1900" b="1">
              <a:solidFill>
                <a:srgbClr val="0B539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9" name="Google Shape;329;p36"/>
          <p:cNvSpPr/>
          <p:nvPr/>
        </p:nvSpPr>
        <p:spPr>
          <a:xfrm>
            <a:off x="5958475" y="2641270"/>
            <a:ext cx="2073300" cy="3216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36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26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331" name="Google Shape;331;p36"/>
          <p:cNvSpPr txBox="1"/>
          <p:nvPr/>
        </p:nvSpPr>
        <p:spPr>
          <a:xfrm>
            <a:off x="4990950" y="3784750"/>
            <a:ext cx="36075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Font typeface="Nunito"/>
              <a:buChar char="●"/>
            </a:pPr>
            <a:r>
              <a:rPr lang="pt-BR" sz="1500" b="1">
                <a:solidFill>
                  <a:srgbClr val="0B5394"/>
                </a:solidFill>
                <a:latin typeface="Nunito"/>
                <a:ea typeface="Nunito"/>
                <a:cs typeface="Nunito"/>
                <a:sym typeface="Nunito"/>
              </a:rPr>
              <a:t>Perde o Projeto</a:t>
            </a:r>
            <a:endParaRPr sz="1500" b="1">
              <a:solidFill>
                <a:srgbClr val="0B5394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Font typeface="Nunito"/>
              <a:buChar char="●"/>
            </a:pPr>
            <a:r>
              <a:rPr lang="pt-BR" sz="1500" b="1">
                <a:solidFill>
                  <a:srgbClr val="0B5394"/>
                </a:solidFill>
                <a:latin typeface="Nunito"/>
                <a:ea typeface="Nunito"/>
                <a:cs typeface="Nunito"/>
                <a:sym typeface="Nunito"/>
              </a:rPr>
              <a:t>Poderia ter o projeto sem pessoas cadastradas.</a:t>
            </a:r>
            <a:endParaRPr sz="1500" b="1">
              <a:solidFill>
                <a:srgbClr val="0B539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32" name="Google Shape;332;p36"/>
          <p:cNvCxnSpPr>
            <a:stCxn id="329" idx="2"/>
            <a:endCxn id="331" idx="0"/>
          </p:cNvCxnSpPr>
          <p:nvPr/>
        </p:nvCxnSpPr>
        <p:spPr>
          <a:xfrm flipH="1">
            <a:off x="6794700" y="2962870"/>
            <a:ext cx="200425" cy="82188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Segunda Forma Normal (2FN)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53" name="Google Shape;353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55" name="Google Shape;355;p3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56" name="Google Shape;356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2450" y="845167"/>
            <a:ext cx="6229652" cy="4013563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27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358" name="Google Shape;358;p38"/>
          <p:cNvSpPr/>
          <p:nvPr/>
        </p:nvSpPr>
        <p:spPr>
          <a:xfrm>
            <a:off x="973675" y="3330871"/>
            <a:ext cx="7417800" cy="153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38"/>
          <p:cNvSpPr/>
          <p:nvPr/>
        </p:nvSpPr>
        <p:spPr>
          <a:xfrm>
            <a:off x="973675" y="2946025"/>
            <a:ext cx="1924200" cy="133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Segunda Forma Normal (2FN)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65" name="Google Shape;365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67" name="Google Shape;367;p3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68" name="Google Shape;36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2450" y="845167"/>
            <a:ext cx="6229652" cy="4013563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9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28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370" name="Google Shape;370;p39"/>
          <p:cNvSpPr/>
          <p:nvPr/>
        </p:nvSpPr>
        <p:spPr>
          <a:xfrm>
            <a:off x="2782450" y="3330875"/>
            <a:ext cx="5609100" cy="153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39"/>
          <p:cNvSpPr/>
          <p:nvPr/>
        </p:nvSpPr>
        <p:spPr>
          <a:xfrm>
            <a:off x="983300" y="2955628"/>
            <a:ext cx="1924200" cy="42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39"/>
          <p:cNvSpPr/>
          <p:nvPr/>
        </p:nvSpPr>
        <p:spPr>
          <a:xfrm>
            <a:off x="896700" y="3127275"/>
            <a:ext cx="625500" cy="161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39"/>
          <p:cNvSpPr/>
          <p:nvPr/>
        </p:nvSpPr>
        <p:spPr>
          <a:xfrm>
            <a:off x="1369325" y="3421650"/>
            <a:ext cx="233700" cy="17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39"/>
          <p:cNvSpPr/>
          <p:nvPr/>
        </p:nvSpPr>
        <p:spPr>
          <a:xfrm>
            <a:off x="1533450" y="3594573"/>
            <a:ext cx="75600" cy="17280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0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Segunda Forma Normal (2FN)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80" name="Google Shape;380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82" name="Google Shape;382;p4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83" name="Google Shape;38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2450" y="845167"/>
            <a:ext cx="6229652" cy="4013563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40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29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385" name="Google Shape;385;p40"/>
          <p:cNvSpPr/>
          <p:nvPr/>
        </p:nvSpPr>
        <p:spPr>
          <a:xfrm>
            <a:off x="2782450" y="3330875"/>
            <a:ext cx="3259800" cy="153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40"/>
          <p:cNvSpPr/>
          <p:nvPr/>
        </p:nvSpPr>
        <p:spPr>
          <a:xfrm>
            <a:off x="983300" y="2955628"/>
            <a:ext cx="1924200" cy="42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40"/>
          <p:cNvSpPr/>
          <p:nvPr/>
        </p:nvSpPr>
        <p:spPr>
          <a:xfrm>
            <a:off x="896700" y="3127275"/>
            <a:ext cx="625500" cy="161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40"/>
          <p:cNvSpPr/>
          <p:nvPr/>
        </p:nvSpPr>
        <p:spPr>
          <a:xfrm>
            <a:off x="1369325" y="3421650"/>
            <a:ext cx="233700" cy="17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40"/>
          <p:cNvSpPr/>
          <p:nvPr/>
        </p:nvSpPr>
        <p:spPr>
          <a:xfrm>
            <a:off x="1533450" y="3594573"/>
            <a:ext cx="75600" cy="17280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40"/>
          <p:cNvSpPr/>
          <p:nvPr/>
        </p:nvSpPr>
        <p:spPr>
          <a:xfrm>
            <a:off x="5451575" y="4521275"/>
            <a:ext cx="2598300" cy="33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2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Segunda Forma Normal (2FN)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16" name="Google Shape;416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4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18" name="Google Shape;418;p4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19" name="Google Shape;41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2450" y="845167"/>
            <a:ext cx="6229652" cy="4013563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42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30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3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26" name="Google Shape;426;p43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27" name="Google Shape;427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43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3FN</a:t>
            </a:r>
            <a:endParaRPr sz="320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429" name="Google Shape;429;p43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31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4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Terceira Forma Normal (3FN)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35" name="Google Shape;435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4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37" name="Google Shape;437;p4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38" name="Google Shape;438;p44"/>
          <p:cNvSpPr txBox="1"/>
          <p:nvPr/>
        </p:nvSpPr>
        <p:spPr>
          <a:xfrm>
            <a:off x="418200" y="960475"/>
            <a:ext cx="8279100" cy="38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“Uma relação está em </a:t>
            </a:r>
            <a:r>
              <a:rPr lang="pt-BR" sz="2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3FN </a:t>
            </a:r>
            <a:r>
              <a:rPr lang="pt-BR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se e somente se estiver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na </a:t>
            </a:r>
            <a:r>
              <a:rPr lang="pt-BR" sz="2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2FN </a:t>
            </a:r>
            <a:r>
              <a:rPr lang="pt-BR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 todos os seus atributos não-chave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forem mutuamente </a:t>
            </a:r>
            <a:r>
              <a:rPr lang="pt-BR" sz="20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independentes</a:t>
            </a:r>
            <a:r>
              <a:rPr lang="pt-BR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ou seja,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não houver dependências transitivas</a:t>
            </a:r>
            <a:r>
              <a:rPr lang="pt-BR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.”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Dependência Transitiva: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 ocorre quando uma coluna, além de depender da chave primária de uma tabela, depende de outra coluna ou conjunto de colunas da tabela.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Uma relação para estar na 3FN não deve ter um atributo não-chave funcionalmente determinado por um outro atributo não-chave.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9" name="Google Shape;439;p44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32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Terceira Forma Normal (3FN)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45" name="Google Shape;445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4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47" name="Google Shape;447;p4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48" name="Google Shape;448;p45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33</a:t>
            </a:fld>
            <a:endParaRPr b="1">
              <a:solidFill>
                <a:schemeClr val="lt1"/>
              </a:solidFill>
            </a:endParaRPr>
          </a:p>
        </p:txBody>
      </p:sp>
      <p:graphicFrame>
        <p:nvGraphicFramePr>
          <p:cNvPr id="449" name="Google Shape;449;p45"/>
          <p:cNvGraphicFramePr/>
          <p:nvPr/>
        </p:nvGraphicFramePr>
        <p:xfrm>
          <a:off x="479750" y="1332213"/>
          <a:ext cx="8210350" cy="1726815"/>
        </p:xfrm>
        <a:graphic>
          <a:graphicData uri="http://schemas.openxmlformats.org/drawingml/2006/table">
            <a:tbl>
              <a:tblPr>
                <a:noFill/>
                <a:tableStyleId>{09D35F1D-3D7A-40EF-A4F0-E15C7EDC4135}</a:tableStyleId>
              </a:tblPr>
              <a:tblGrid>
                <a:gridCol w="139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0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0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0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 u="sng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Emp_CPF</a:t>
                      </a:r>
                      <a:endParaRPr b="1" u="sng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Emp_Nome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Emp_Sexo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Dep_Cod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Dep_Nome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Dep_Ger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333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Lia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F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1A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RH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Igor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222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Caio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M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2B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Adm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Edu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111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Ana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F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3C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TI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Tiago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444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Beto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M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2B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Adm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Edu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50" name="Google Shape;450;p45"/>
          <p:cNvSpPr txBox="1"/>
          <p:nvPr/>
        </p:nvSpPr>
        <p:spPr>
          <a:xfrm>
            <a:off x="410950" y="895825"/>
            <a:ext cx="8279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1">
                <a:solidFill>
                  <a:srgbClr val="0B5394"/>
                </a:solidFill>
                <a:latin typeface="Nunito"/>
                <a:ea typeface="Nunito"/>
                <a:cs typeface="Nunito"/>
                <a:sym typeface="Nunito"/>
              </a:rPr>
              <a:t>Empregado_Departamento</a:t>
            </a:r>
            <a:endParaRPr sz="1900" b="1">
              <a:solidFill>
                <a:srgbClr val="0B539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Terceira Forma Normal (3FN)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56" name="Google Shape;456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4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58" name="Google Shape;458;p4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59" name="Google Shape;459;p46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34</a:t>
            </a:fld>
            <a:endParaRPr b="1">
              <a:solidFill>
                <a:schemeClr val="lt1"/>
              </a:solidFill>
            </a:endParaRPr>
          </a:p>
        </p:txBody>
      </p:sp>
      <p:graphicFrame>
        <p:nvGraphicFramePr>
          <p:cNvPr id="460" name="Google Shape;460;p46"/>
          <p:cNvGraphicFramePr/>
          <p:nvPr/>
        </p:nvGraphicFramePr>
        <p:xfrm>
          <a:off x="479750" y="1332213"/>
          <a:ext cx="8210350" cy="1726815"/>
        </p:xfrm>
        <a:graphic>
          <a:graphicData uri="http://schemas.openxmlformats.org/drawingml/2006/table">
            <a:tbl>
              <a:tblPr>
                <a:noFill/>
                <a:tableStyleId>{09D35F1D-3D7A-40EF-A4F0-E15C7EDC4135}</a:tableStyleId>
              </a:tblPr>
              <a:tblGrid>
                <a:gridCol w="139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0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0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0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 u="sng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Emp_CPF</a:t>
                      </a:r>
                      <a:endParaRPr b="1" u="sng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Emp_Nome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Emp_Sexo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Dep_Cod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Dep_Nome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Dep_Ger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333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Lia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F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1A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RH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Igor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222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Caio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M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2B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Adm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Edu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111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Ana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F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3C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TI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Tiago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444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Beto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M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2B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Adm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Edu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61" name="Google Shape;461;p46"/>
          <p:cNvSpPr/>
          <p:nvPr/>
        </p:nvSpPr>
        <p:spPr>
          <a:xfrm>
            <a:off x="1128650" y="2934550"/>
            <a:ext cx="1367872" cy="494775"/>
          </a:xfrm>
          <a:custGeom>
            <a:avLst/>
            <a:gdLst/>
            <a:ahLst/>
            <a:cxnLst/>
            <a:rect l="l" t="t" r="r" b="b"/>
            <a:pathLst>
              <a:path w="53600" h="19791" extrusionOk="0">
                <a:moveTo>
                  <a:pt x="0" y="413"/>
                </a:moveTo>
                <a:lnTo>
                  <a:pt x="0" y="19791"/>
                </a:lnTo>
                <a:lnTo>
                  <a:pt x="53600" y="19791"/>
                </a:lnTo>
                <a:lnTo>
                  <a:pt x="53600" y="0"/>
                </a:ln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62" name="Google Shape;462;p46"/>
          <p:cNvSpPr txBox="1"/>
          <p:nvPr/>
        </p:nvSpPr>
        <p:spPr>
          <a:xfrm>
            <a:off x="410950" y="895825"/>
            <a:ext cx="8279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1">
                <a:solidFill>
                  <a:srgbClr val="0B5394"/>
                </a:solidFill>
                <a:latin typeface="Nunito"/>
                <a:ea typeface="Nunito"/>
                <a:cs typeface="Nunito"/>
                <a:sym typeface="Nunito"/>
              </a:rPr>
              <a:t>Empregado_Departamento</a:t>
            </a:r>
            <a:endParaRPr sz="1900" b="1">
              <a:solidFill>
                <a:srgbClr val="0B539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3" name="Google Shape;463;p46"/>
          <p:cNvSpPr/>
          <p:nvPr/>
        </p:nvSpPr>
        <p:spPr>
          <a:xfrm>
            <a:off x="2496525" y="2934550"/>
            <a:ext cx="1367872" cy="494775"/>
          </a:xfrm>
          <a:custGeom>
            <a:avLst/>
            <a:gdLst/>
            <a:ahLst/>
            <a:cxnLst/>
            <a:rect l="l" t="t" r="r" b="b"/>
            <a:pathLst>
              <a:path w="53600" h="19791" extrusionOk="0">
                <a:moveTo>
                  <a:pt x="0" y="413"/>
                </a:moveTo>
                <a:lnTo>
                  <a:pt x="0" y="19791"/>
                </a:lnTo>
                <a:lnTo>
                  <a:pt x="53600" y="19791"/>
                </a:lnTo>
                <a:lnTo>
                  <a:pt x="53600" y="0"/>
                </a:ln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Terceira Forma Normal (3FN)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69" name="Google Shape;469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71" name="Google Shape;471;p4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72" name="Google Shape;472;p47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35</a:t>
            </a:fld>
            <a:endParaRPr b="1">
              <a:solidFill>
                <a:schemeClr val="lt1"/>
              </a:solidFill>
            </a:endParaRPr>
          </a:p>
        </p:txBody>
      </p:sp>
      <p:graphicFrame>
        <p:nvGraphicFramePr>
          <p:cNvPr id="473" name="Google Shape;473;p47"/>
          <p:cNvGraphicFramePr/>
          <p:nvPr/>
        </p:nvGraphicFramePr>
        <p:xfrm>
          <a:off x="479750" y="1332213"/>
          <a:ext cx="8210350" cy="1726815"/>
        </p:xfrm>
        <a:graphic>
          <a:graphicData uri="http://schemas.openxmlformats.org/drawingml/2006/table">
            <a:tbl>
              <a:tblPr>
                <a:noFill/>
                <a:tableStyleId>{09D35F1D-3D7A-40EF-A4F0-E15C7EDC4135}</a:tableStyleId>
              </a:tblPr>
              <a:tblGrid>
                <a:gridCol w="139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0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0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0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 u="sng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Emp_CPF</a:t>
                      </a:r>
                      <a:endParaRPr b="1" u="sng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Emp_Nome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Emp_Sexo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Dep_Cod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Dep_Nome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Dep_Ger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333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Lia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F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1A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RH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Igor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222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Caio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M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2B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Adm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Edu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111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Ana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F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3C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TI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Tiago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444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Beto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M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2B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Adm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Edu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74" name="Google Shape;474;p47"/>
          <p:cNvSpPr/>
          <p:nvPr/>
        </p:nvSpPr>
        <p:spPr>
          <a:xfrm>
            <a:off x="1128650" y="2934550"/>
            <a:ext cx="1367872" cy="494775"/>
          </a:xfrm>
          <a:custGeom>
            <a:avLst/>
            <a:gdLst/>
            <a:ahLst/>
            <a:cxnLst/>
            <a:rect l="l" t="t" r="r" b="b"/>
            <a:pathLst>
              <a:path w="53600" h="19791" extrusionOk="0">
                <a:moveTo>
                  <a:pt x="0" y="413"/>
                </a:moveTo>
                <a:lnTo>
                  <a:pt x="0" y="19791"/>
                </a:lnTo>
                <a:lnTo>
                  <a:pt x="53600" y="19791"/>
                </a:lnTo>
                <a:lnTo>
                  <a:pt x="53600" y="0"/>
                </a:ln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75" name="Google Shape;475;p47"/>
          <p:cNvSpPr txBox="1"/>
          <p:nvPr/>
        </p:nvSpPr>
        <p:spPr>
          <a:xfrm>
            <a:off x="410950" y="895825"/>
            <a:ext cx="8279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1">
                <a:solidFill>
                  <a:srgbClr val="0B5394"/>
                </a:solidFill>
                <a:latin typeface="Nunito"/>
                <a:ea typeface="Nunito"/>
                <a:cs typeface="Nunito"/>
                <a:sym typeface="Nunito"/>
              </a:rPr>
              <a:t>Empregado_Departamento</a:t>
            </a:r>
            <a:endParaRPr sz="1900" b="1">
              <a:solidFill>
                <a:srgbClr val="0B539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76" name="Google Shape;476;p47"/>
          <p:cNvSpPr/>
          <p:nvPr/>
        </p:nvSpPr>
        <p:spPr>
          <a:xfrm>
            <a:off x="2496525" y="2934550"/>
            <a:ext cx="1367872" cy="494775"/>
          </a:xfrm>
          <a:custGeom>
            <a:avLst/>
            <a:gdLst/>
            <a:ahLst/>
            <a:cxnLst/>
            <a:rect l="l" t="t" r="r" b="b"/>
            <a:pathLst>
              <a:path w="53600" h="19791" extrusionOk="0">
                <a:moveTo>
                  <a:pt x="0" y="413"/>
                </a:moveTo>
                <a:lnTo>
                  <a:pt x="0" y="19791"/>
                </a:lnTo>
                <a:lnTo>
                  <a:pt x="53600" y="19791"/>
                </a:lnTo>
                <a:lnTo>
                  <a:pt x="53600" y="0"/>
                </a:ln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77" name="Google Shape;477;p47"/>
          <p:cNvSpPr/>
          <p:nvPr/>
        </p:nvSpPr>
        <p:spPr>
          <a:xfrm>
            <a:off x="5379575" y="2934550"/>
            <a:ext cx="1281174" cy="494775"/>
          </a:xfrm>
          <a:custGeom>
            <a:avLst/>
            <a:gdLst/>
            <a:ahLst/>
            <a:cxnLst/>
            <a:rect l="l" t="t" r="r" b="b"/>
            <a:pathLst>
              <a:path w="53600" h="19791" extrusionOk="0">
                <a:moveTo>
                  <a:pt x="0" y="413"/>
                </a:moveTo>
                <a:lnTo>
                  <a:pt x="0" y="19791"/>
                </a:lnTo>
                <a:lnTo>
                  <a:pt x="53600" y="19791"/>
                </a:lnTo>
                <a:lnTo>
                  <a:pt x="53600" y="0"/>
                </a:ln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78" name="Google Shape;478;p47"/>
          <p:cNvSpPr/>
          <p:nvPr/>
        </p:nvSpPr>
        <p:spPr>
          <a:xfrm>
            <a:off x="6660750" y="2934540"/>
            <a:ext cx="1281174" cy="494775"/>
          </a:xfrm>
          <a:custGeom>
            <a:avLst/>
            <a:gdLst/>
            <a:ahLst/>
            <a:cxnLst/>
            <a:rect l="l" t="t" r="r" b="b"/>
            <a:pathLst>
              <a:path w="53600" h="19791" extrusionOk="0">
                <a:moveTo>
                  <a:pt x="0" y="413"/>
                </a:moveTo>
                <a:lnTo>
                  <a:pt x="0" y="19791"/>
                </a:lnTo>
                <a:lnTo>
                  <a:pt x="53600" y="19791"/>
                </a:lnTo>
                <a:lnTo>
                  <a:pt x="53600" y="0"/>
                </a:ln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INSERÇÃO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95" name="Google Shape;495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4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97" name="Google Shape;497;p4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98" name="Google Shape;498;p49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36</a:t>
            </a:fld>
            <a:endParaRPr b="1">
              <a:solidFill>
                <a:schemeClr val="lt1"/>
              </a:solidFill>
            </a:endParaRPr>
          </a:p>
        </p:txBody>
      </p:sp>
      <p:graphicFrame>
        <p:nvGraphicFramePr>
          <p:cNvPr id="499" name="Google Shape;499;p49"/>
          <p:cNvGraphicFramePr/>
          <p:nvPr/>
        </p:nvGraphicFramePr>
        <p:xfrm>
          <a:off x="479750" y="1332213"/>
          <a:ext cx="8210350" cy="2072178"/>
        </p:xfrm>
        <a:graphic>
          <a:graphicData uri="http://schemas.openxmlformats.org/drawingml/2006/table">
            <a:tbl>
              <a:tblPr>
                <a:noFill/>
                <a:tableStyleId>{09D35F1D-3D7A-40EF-A4F0-E15C7EDC4135}</a:tableStyleId>
              </a:tblPr>
              <a:tblGrid>
                <a:gridCol w="139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0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0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0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 u="sng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Emp_CPF</a:t>
                      </a:r>
                      <a:endParaRPr b="1" u="sng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Emp_Nome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Emp_Sexo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Dep_Cod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Dep_Nome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Dep_Ger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333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Lia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F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1A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RH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Igor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222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Caio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M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2B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Adm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Edu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111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Ana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F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3C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TI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Tiago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444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Beto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M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2B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Adm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Edu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rgbClr val="CC0000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555</a:t>
                      </a:r>
                      <a:endParaRPr>
                        <a:solidFill>
                          <a:srgbClr val="CC0000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rgbClr val="CC0000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João</a:t>
                      </a:r>
                      <a:endParaRPr>
                        <a:solidFill>
                          <a:srgbClr val="CC0000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rgbClr val="CC0000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M</a:t>
                      </a:r>
                      <a:endParaRPr>
                        <a:solidFill>
                          <a:srgbClr val="CC0000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rgbClr val="CC0000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1A</a:t>
                      </a:r>
                      <a:endParaRPr>
                        <a:solidFill>
                          <a:srgbClr val="CC0000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u="sng">
                          <a:solidFill>
                            <a:srgbClr val="CC0000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Adm</a:t>
                      </a:r>
                      <a:endParaRPr u="sng">
                        <a:solidFill>
                          <a:srgbClr val="CC0000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rgbClr val="CC0000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Igor</a:t>
                      </a:r>
                      <a:endParaRPr>
                        <a:solidFill>
                          <a:srgbClr val="CC0000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00" name="Google Shape;500;p49"/>
          <p:cNvSpPr txBox="1"/>
          <p:nvPr/>
        </p:nvSpPr>
        <p:spPr>
          <a:xfrm>
            <a:off x="410950" y="895825"/>
            <a:ext cx="8279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1">
                <a:solidFill>
                  <a:srgbClr val="0B5394"/>
                </a:solidFill>
                <a:latin typeface="Nunito"/>
                <a:ea typeface="Nunito"/>
                <a:cs typeface="Nunito"/>
                <a:sym typeface="Nunito"/>
              </a:rPr>
              <a:t>Empregado_Departamento</a:t>
            </a:r>
            <a:endParaRPr sz="1900" b="1">
              <a:solidFill>
                <a:srgbClr val="0B539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1" name="Google Shape;501;p49"/>
          <p:cNvSpPr/>
          <p:nvPr/>
        </p:nvSpPr>
        <p:spPr>
          <a:xfrm>
            <a:off x="4403400" y="2964363"/>
            <a:ext cx="2535600" cy="477000"/>
          </a:xfrm>
          <a:prstGeom prst="ellipse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49"/>
          <p:cNvSpPr txBox="1"/>
          <p:nvPr/>
        </p:nvSpPr>
        <p:spPr>
          <a:xfrm>
            <a:off x="4403400" y="4027875"/>
            <a:ext cx="43875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1" dirty="0">
                <a:solidFill>
                  <a:srgbClr val="0B5394"/>
                </a:solidFill>
                <a:latin typeface="Nunito"/>
                <a:ea typeface="Nunito"/>
                <a:cs typeface="Nunito"/>
                <a:sym typeface="Nunito"/>
              </a:rPr>
              <a:t>Nome errado!</a:t>
            </a:r>
            <a:endParaRPr sz="1900" b="1" dirty="0">
              <a:solidFill>
                <a:srgbClr val="0B539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503" name="Google Shape;503;p49"/>
          <p:cNvCxnSpPr>
            <a:cxnSpLocks/>
          </p:cNvCxnSpPr>
          <p:nvPr/>
        </p:nvCxnSpPr>
        <p:spPr>
          <a:xfrm>
            <a:off x="6443400" y="3404391"/>
            <a:ext cx="307500" cy="777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4" name="Google Shape;504;p49"/>
          <p:cNvSpPr/>
          <p:nvPr/>
        </p:nvSpPr>
        <p:spPr>
          <a:xfrm>
            <a:off x="4298100" y="1600850"/>
            <a:ext cx="2535600" cy="477000"/>
          </a:xfrm>
          <a:prstGeom prst="ellipse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ATUALIZAÇÃO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522" name="Google Shape;522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5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24" name="Google Shape;524;p5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25" name="Google Shape;525;p51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37</a:t>
            </a:fld>
            <a:endParaRPr b="1">
              <a:solidFill>
                <a:schemeClr val="lt1"/>
              </a:solidFill>
            </a:endParaRPr>
          </a:p>
        </p:txBody>
      </p:sp>
      <p:graphicFrame>
        <p:nvGraphicFramePr>
          <p:cNvPr id="526" name="Google Shape;526;p51"/>
          <p:cNvGraphicFramePr/>
          <p:nvPr/>
        </p:nvGraphicFramePr>
        <p:xfrm>
          <a:off x="479750" y="1332213"/>
          <a:ext cx="8210350" cy="1726815"/>
        </p:xfrm>
        <a:graphic>
          <a:graphicData uri="http://schemas.openxmlformats.org/drawingml/2006/table">
            <a:tbl>
              <a:tblPr>
                <a:noFill/>
                <a:tableStyleId>{09D35F1D-3D7A-40EF-A4F0-E15C7EDC4135}</a:tableStyleId>
              </a:tblPr>
              <a:tblGrid>
                <a:gridCol w="139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0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0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0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 u="sng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Emp_CPF</a:t>
                      </a:r>
                      <a:endParaRPr b="1" u="sng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Emp_Nome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Emp_Sexo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Dep_Cod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Dep_Nome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Dep_Ger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333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Lia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F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1A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RH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Igor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222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Caio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M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2B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Adm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Edu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111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Ana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F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3C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TI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Tiago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444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Beto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M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2B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Adm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Edu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27" name="Google Shape;527;p51"/>
          <p:cNvSpPr txBox="1"/>
          <p:nvPr/>
        </p:nvSpPr>
        <p:spPr>
          <a:xfrm>
            <a:off x="410950" y="895825"/>
            <a:ext cx="8279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1">
                <a:solidFill>
                  <a:srgbClr val="0B5394"/>
                </a:solidFill>
                <a:latin typeface="Nunito"/>
                <a:ea typeface="Nunito"/>
                <a:cs typeface="Nunito"/>
                <a:sym typeface="Nunito"/>
              </a:rPr>
              <a:t>Empregado_Departamento</a:t>
            </a:r>
            <a:endParaRPr sz="1900" b="1">
              <a:solidFill>
                <a:srgbClr val="0B539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28" name="Google Shape;528;p51"/>
          <p:cNvSpPr/>
          <p:nvPr/>
        </p:nvSpPr>
        <p:spPr>
          <a:xfrm>
            <a:off x="7238000" y="2030125"/>
            <a:ext cx="567000" cy="321300"/>
          </a:xfrm>
          <a:prstGeom prst="ellipse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51"/>
          <p:cNvSpPr/>
          <p:nvPr/>
        </p:nvSpPr>
        <p:spPr>
          <a:xfrm>
            <a:off x="7238000" y="2686276"/>
            <a:ext cx="567000" cy="321300"/>
          </a:xfrm>
          <a:prstGeom prst="ellipse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51"/>
          <p:cNvSpPr/>
          <p:nvPr/>
        </p:nvSpPr>
        <p:spPr>
          <a:xfrm>
            <a:off x="4463050" y="2034970"/>
            <a:ext cx="567000" cy="321300"/>
          </a:xfrm>
          <a:prstGeom prst="ellipse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51"/>
          <p:cNvSpPr/>
          <p:nvPr/>
        </p:nvSpPr>
        <p:spPr>
          <a:xfrm>
            <a:off x="4463050" y="2686276"/>
            <a:ext cx="567000" cy="321300"/>
          </a:xfrm>
          <a:prstGeom prst="ellipse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502;p49">
            <a:extLst>
              <a:ext uri="{FF2B5EF4-FFF2-40B4-BE49-F238E27FC236}">
                <a16:creationId xmlns:a16="http://schemas.microsoft.com/office/drawing/2014/main" id="{0348DF13-D5A9-41A5-9DC1-44AF89C9ED9A}"/>
              </a:ext>
            </a:extLst>
          </p:cNvPr>
          <p:cNvSpPr txBox="1"/>
          <p:nvPr/>
        </p:nvSpPr>
        <p:spPr>
          <a:xfrm>
            <a:off x="2836300" y="3682512"/>
            <a:ext cx="43875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1" dirty="0">
                <a:solidFill>
                  <a:srgbClr val="0B5394"/>
                </a:solidFill>
                <a:latin typeface="Nunito"/>
                <a:ea typeface="Nunito"/>
                <a:cs typeface="Nunito"/>
                <a:sym typeface="Nunito"/>
              </a:rPr>
              <a:t>Repetição de dados</a:t>
            </a:r>
            <a:endParaRPr sz="1900" b="1" dirty="0">
              <a:solidFill>
                <a:srgbClr val="0B539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4" name="Google Shape;503;p49">
            <a:extLst>
              <a:ext uri="{FF2B5EF4-FFF2-40B4-BE49-F238E27FC236}">
                <a16:creationId xmlns:a16="http://schemas.microsoft.com/office/drawing/2014/main" id="{0AD5914F-1B7A-4D3E-BFB9-AB4B37D42FF1}"/>
              </a:ext>
            </a:extLst>
          </p:cNvPr>
          <p:cNvCxnSpPr>
            <a:cxnSpLocks/>
          </p:cNvCxnSpPr>
          <p:nvPr/>
        </p:nvCxnSpPr>
        <p:spPr>
          <a:xfrm>
            <a:off x="4876300" y="3059028"/>
            <a:ext cx="307500" cy="777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52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Terceira Forma Normal (3FN)</a:t>
            </a:r>
            <a:endParaRPr sz="200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537" name="Google Shape;537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5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39" name="Google Shape;539;p5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40" name="Google Shape;540;p52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38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541" name="Google Shape;541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7113" y="865450"/>
            <a:ext cx="5629774" cy="3973025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52"/>
          <p:cNvSpPr/>
          <p:nvPr/>
        </p:nvSpPr>
        <p:spPr>
          <a:xfrm>
            <a:off x="1074050" y="3013950"/>
            <a:ext cx="3834300" cy="182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52"/>
          <p:cNvSpPr/>
          <p:nvPr/>
        </p:nvSpPr>
        <p:spPr>
          <a:xfrm>
            <a:off x="4571200" y="3079344"/>
            <a:ext cx="848100" cy="54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52"/>
          <p:cNvSpPr/>
          <p:nvPr/>
        </p:nvSpPr>
        <p:spPr>
          <a:xfrm>
            <a:off x="4973900" y="3622050"/>
            <a:ext cx="562500" cy="5940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52"/>
          <p:cNvSpPr/>
          <p:nvPr/>
        </p:nvSpPr>
        <p:spPr>
          <a:xfrm>
            <a:off x="3950294" y="2515075"/>
            <a:ext cx="648300" cy="26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52"/>
          <p:cNvSpPr/>
          <p:nvPr/>
        </p:nvSpPr>
        <p:spPr>
          <a:xfrm>
            <a:off x="4113119" y="2373436"/>
            <a:ext cx="648300" cy="26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52"/>
          <p:cNvSpPr/>
          <p:nvPr/>
        </p:nvSpPr>
        <p:spPr>
          <a:xfrm>
            <a:off x="4622600" y="3120975"/>
            <a:ext cx="2996700" cy="161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3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Terceira Forma Normal (3FN)</a:t>
            </a:r>
            <a:endParaRPr sz="200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553" name="Google Shape;553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53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55" name="Google Shape;555;p53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56" name="Google Shape;556;p53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39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557" name="Google Shape;557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7113" y="865450"/>
            <a:ext cx="5629774" cy="3973025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53"/>
          <p:cNvSpPr/>
          <p:nvPr/>
        </p:nvSpPr>
        <p:spPr>
          <a:xfrm>
            <a:off x="1074050" y="3013950"/>
            <a:ext cx="3834300" cy="182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53"/>
          <p:cNvSpPr/>
          <p:nvPr/>
        </p:nvSpPr>
        <p:spPr>
          <a:xfrm>
            <a:off x="4571200" y="3079344"/>
            <a:ext cx="848100" cy="54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53"/>
          <p:cNvSpPr/>
          <p:nvPr/>
        </p:nvSpPr>
        <p:spPr>
          <a:xfrm>
            <a:off x="4973900" y="3622050"/>
            <a:ext cx="562500" cy="5940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53"/>
          <p:cNvSpPr/>
          <p:nvPr/>
        </p:nvSpPr>
        <p:spPr>
          <a:xfrm>
            <a:off x="3950294" y="2515075"/>
            <a:ext cx="648300" cy="26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53"/>
          <p:cNvSpPr/>
          <p:nvPr/>
        </p:nvSpPr>
        <p:spPr>
          <a:xfrm>
            <a:off x="4113119" y="2373436"/>
            <a:ext cx="648300" cy="26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54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Terceira Forma Normal (3FN)</a:t>
            </a:r>
            <a:endParaRPr sz="200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568" name="Google Shape;568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5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70" name="Google Shape;570;p5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71" name="Google Shape;571;p54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40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572" name="Google Shape;572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7113" y="865450"/>
            <a:ext cx="5629774" cy="3973025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54"/>
          <p:cNvSpPr/>
          <p:nvPr/>
        </p:nvSpPr>
        <p:spPr>
          <a:xfrm>
            <a:off x="3998875" y="3013950"/>
            <a:ext cx="909600" cy="182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54"/>
          <p:cNvSpPr/>
          <p:nvPr/>
        </p:nvSpPr>
        <p:spPr>
          <a:xfrm>
            <a:off x="4571200" y="3079344"/>
            <a:ext cx="848100" cy="54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54"/>
          <p:cNvSpPr/>
          <p:nvPr/>
        </p:nvSpPr>
        <p:spPr>
          <a:xfrm>
            <a:off x="4973900" y="3622050"/>
            <a:ext cx="562500" cy="5940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54"/>
          <p:cNvSpPr/>
          <p:nvPr/>
        </p:nvSpPr>
        <p:spPr>
          <a:xfrm>
            <a:off x="3950294" y="2515075"/>
            <a:ext cx="648300" cy="26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54"/>
          <p:cNvSpPr/>
          <p:nvPr/>
        </p:nvSpPr>
        <p:spPr>
          <a:xfrm>
            <a:off x="4113119" y="2373436"/>
            <a:ext cx="648300" cy="26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54"/>
          <p:cNvSpPr/>
          <p:nvPr/>
        </p:nvSpPr>
        <p:spPr>
          <a:xfrm>
            <a:off x="3581375" y="3256450"/>
            <a:ext cx="909600" cy="36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5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Terceira Forma Normal (3FN)</a:t>
            </a:r>
            <a:endParaRPr sz="200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584" name="Google Shape;584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5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86" name="Google Shape;586;p5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87" name="Google Shape;587;p55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41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588" name="Google Shape;588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7113" y="865450"/>
            <a:ext cx="5629774" cy="3973025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55"/>
          <p:cNvSpPr/>
          <p:nvPr/>
        </p:nvSpPr>
        <p:spPr>
          <a:xfrm>
            <a:off x="4973900" y="3622050"/>
            <a:ext cx="562500" cy="5940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55"/>
          <p:cNvSpPr/>
          <p:nvPr/>
        </p:nvSpPr>
        <p:spPr>
          <a:xfrm>
            <a:off x="3950294" y="2515075"/>
            <a:ext cx="648300" cy="26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55"/>
          <p:cNvSpPr/>
          <p:nvPr/>
        </p:nvSpPr>
        <p:spPr>
          <a:xfrm>
            <a:off x="4113119" y="2373436"/>
            <a:ext cx="648300" cy="26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6"/>
          <p:cNvSpPr/>
          <p:nvPr/>
        </p:nvSpPr>
        <p:spPr>
          <a:xfrm>
            <a:off x="643050" y="7662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0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Continua na próxima aula…</a:t>
            </a:r>
            <a:endParaRPr sz="3000" b="0" i="0" u="none" strike="noStrike" cap="none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599" name="Google Shape;599;p56"/>
          <p:cNvSpPr txBox="1"/>
          <p:nvPr/>
        </p:nvSpPr>
        <p:spPr>
          <a:xfrm>
            <a:off x="559950" y="3760700"/>
            <a:ext cx="80241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5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UNIVERSIDADE DE RIO VERDE (UniRV)</a:t>
            </a:r>
            <a:endParaRPr sz="15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5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Bacharelado em Engenharia de Software</a:t>
            </a:r>
            <a:endParaRPr sz="1500" b="0" i="0" u="none" strike="noStrike" cap="none">
              <a:solidFill>
                <a:srgbClr val="5E5E5E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01" name="Google Shape;601;p56" descr="Image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8207" y="3162901"/>
            <a:ext cx="1371774" cy="137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56" descr="Imagem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54548" y="3317763"/>
            <a:ext cx="1595574" cy="10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1472</Words>
  <Application>Microsoft Office PowerPoint</Application>
  <PresentationFormat>Apresentação na tela (16:9)</PresentationFormat>
  <Paragraphs>477</Paragraphs>
  <Slides>42</Slides>
  <Notes>42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9" baseType="lpstr">
      <vt:lpstr>Maven Pro Medium</vt:lpstr>
      <vt:lpstr>Nunito</vt:lpstr>
      <vt:lpstr>Helvetica Neue</vt:lpstr>
      <vt:lpstr>Arial</vt:lpstr>
      <vt:lpstr>Maven Pro SemiBold</vt:lpstr>
      <vt:lpstr>Nunito Medium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Leandro</cp:lastModifiedBy>
  <cp:revision>6</cp:revision>
  <dcterms:modified xsi:type="dcterms:W3CDTF">2025-08-29T18:41:18Z</dcterms:modified>
</cp:coreProperties>
</file>