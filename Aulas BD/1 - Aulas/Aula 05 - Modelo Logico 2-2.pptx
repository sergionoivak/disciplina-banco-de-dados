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6" r:id="rId29"/>
    <p:sldId id="287" r:id="rId30"/>
    <p:sldId id="288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</p:sldIdLst>
  <p:sldSz cx="9144000" cy="5143500" type="screen16x9"/>
  <p:notesSz cx="6858000" cy="9144000"/>
  <p:embeddedFontLst>
    <p:embeddedFont>
      <p:font typeface="Maven Pro Medium" panose="020B0604020202020204" charset="0"/>
      <p:regular r:id="rId44"/>
      <p:bold r:id="rId45"/>
    </p:embeddedFont>
    <p:embeddedFont>
      <p:font typeface="Maven Pro SemiBold" panose="020B0604020202020204" charset="0"/>
      <p:regular r:id="rId46"/>
      <p:bold r:id="rId47"/>
    </p:embeddedFont>
    <p:embeddedFont>
      <p:font typeface="Nunito" panose="020B0604020202020204" charset="0"/>
      <p:regular r:id="rId48"/>
      <p:bold r:id="rId49"/>
      <p:italic r:id="rId50"/>
      <p:boldItalic r:id="rId51"/>
    </p:embeddedFont>
    <p:embeddedFont>
      <p:font typeface="Roboto Mono" panose="020B060402020202020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9230f28e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2c9230f28eb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f53ef4d9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1f53ef4d9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935eb7080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2c935eb7080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f53ef4d9d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f53ef4d9d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53ef4d9d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1f53ef4d9d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53ef4d9d1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f53ef4d9d1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53ef4d9d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f53ef4d9d1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53ef4d9d1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f53ef4d9d1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f53ef4d9d1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1f53ef4d9d1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f53ef4d9d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f53ef4d9d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f53ef4d9d1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1f53ef4d9d1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53ef4d9d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1f53ef4d9d1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53ef4d9d1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f53ef4d9d1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f53ef4d9d1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1f53ef4d9d1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f53ef4d9d1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1f53ef4d9d1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53ef4d9d1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1f53ef4d9d1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53ef4d9d1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1f53ef4d9d1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f53ef4d9d1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1f53ef4d9d1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/>
              <a:t>essa especificação é um </a:t>
            </a:r>
            <a:r>
              <a:rPr lang="pt-BR" b="1" dirty="0"/>
              <a:t>padrão textual</a:t>
            </a:r>
            <a:r>
              <a:rPr lang="pt-BR" dirty="0"/>
              <a:t> para representar o esquema de um banco de dados, antes de transformá-lo em código SQL.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f53ef4d9d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f53ef4d9d1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f53ef4d9d1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1f53ef4d9d1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f53ef4d9d1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1f53ef4d9d1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f53ef4d9d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1f53ef4d9d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f53ef4d9d1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1f53ef4d9d1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f53ef4d9d1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1f53ef4d9d1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f53ef4d9d1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1f53ef4d9d1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f53ef4d9d1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g1f53ef4d9d1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f53ef4d9d1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g1f53ef4d9d1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f53ef4d9d1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g1f53ef4d9d1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f53ef4d9d1_0_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1f53ef4d9d1_0_5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f53ef4d9d1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1f53ef4d9d1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f53ef4d9d1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g1f53ef4d9d1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f53ef4d9d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g1f53ef4d9d1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f53ef4d9d1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g1f53ef4d9d1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f53ef4d9d1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g1f53ef4d9d1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f53ef4d9d1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g1f53ef4d9d1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f53ef4d9d1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6" name="Google Shape;506;g1f53ef4d9d1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f53ef4d9d1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7" name="Google Shape;517;g1f53ef4d9d1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f53ef4d9d1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g1f53ef4d9d1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f53ef4d9d1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g1f53ef4d9d1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Introdução ao Modelo Lógico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2/2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Auto-Relacionamento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Auto-Relacionamento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18200" y="1417675"/>
            <a:ext cx="82791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Normalmente um relacionamento associa entidades diferentes. Há um caso especial no qual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há um relacionamento entre a mesma entidade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Nesta situação surge o conceito de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PAPEL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que identifica o relacionamento.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8737" y="848625"/>
            <a:ext cx="4586525" cy="40066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1031700" y="2422225"/>
            <a:ext cx="7005000" cy="244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8" name="Google Shape;108;p1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8737" y="848625"/>
            <a:ext cx="4586525" cy="400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5646" y="834524"/>
            <a:ext cx="4716549" cy="400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1031700" y="2422225"/>
            <a:ext cx="7005000" cy="2444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5646" y="834524"/>
            <a:ext cx="4716549" cy="400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/>
          <p:nvPr/>
        </p:nvSpPr>
        <p:spPr>
          <a:xfrm>
            <a:off x="3576250" y="1601125"/>
            <a:ext cx="286200" cy="18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</a:t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3576250" y="1596626"/>
            <a:ext cx="286200" cy="18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1" name="Google Shape;141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5505" y="830025"/>
            <a:ext cx="4763531" cy="404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1031700" y="2571750"/>
            <a:ext cx="7005000" cy="2295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5505" y="830025"/>
            <a:ext cx="4763531" cy="404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Relacionamentos Ternários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Relacionamentos Ternários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1" name="Google Shape;171;p2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418200" y="1417675"/>
            <a:ext cx="82791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abordagem ER permite que sejam definidos relacionamentos de graus maiores que dois.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Relacionamentos Ternários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1" name="Google Shape;181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  <p:pic>
        <p:nvPicPr>
          <p:cNvPr id="182" name="Google Shape;18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4413" y="830000"/>
            <a:ext cx="5925719" cy="404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/>
          <p:nvPr/>
        </p:nvSpPr>
        <p:spPr>
          <a:xfrm>
            <a:off x="1031700" y="2571750"/>
            <a:ext cx="7005000" cy="2295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Relacionamentos Ternários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  <p:pic>
        <p:nvPicPr>
          <p:cNvPr id="193" name="Google Shape;19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4413" y="830000"/>
            <a:ext cx="5925719" cy="404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00" name="Google Shape;200;p27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7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Generalização/Especialização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(Herança)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Generalização/Especialização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12" name="Google Shape;212;p28"/>
          <p:cNvPicPr preferRelativeResize="0"/>
          <p:nvPr/>
        </p:nvPicPr>
        <p:blipFill rotWithShape="1">
          <a:blip r:embed="rId4">
            <a:alphaModFix/>
          </a:blip>
          <a:srcRect t="999"/>
          <a:stretch/>
        </p:blipFill>
        <p:spPr>
          <a:xfrm>
            <a:off x="1780225" y="844971"/>
            <a:ext cx="5583551" cy="19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Herança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1" name="Google Shape;221;p2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4">
            <a:alphaModFix/>
          </a:blip>
          <a:srcRect t="999"/>
          <a:stretch/>
        </p:blipFill>
        <p:spPr>
          <a:xfrm>
            <a:off x="1780225" y="882351"/>
            <a:ext cx="5583551" cy="191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3413" y="2859425"/>
            <a:ext cx="3967714" cy="19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Herança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2" name="Google Shape;232;p3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33" name="Google Shape;233;p30"/>
          <p:cNvPicPr preferRelativeResize="0"/>
          <p:nvPr/>
        </p:nvPicPr>
        <p:blipFill rotWithShape="1">
          <a:blip r:embed="rId4">
            <a:alphaModFix/>
          </a:blip>
          <a:srcRect t="999"/>
          <a:stretch/>
        </p:blipFill>
        <p:spPr>
          <a:xfrm>
            <a:off x="1780225" y="882351"/>
            <a:ext cx="5583551" cy="191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3279" y="2811950"/>
            <a:ext cx="5937436" cy="200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Herança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0" name="Google Shape;24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3" name="Google Shape;243;p3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4">
            <a:alphaModFix/>
          </a:blip>
          <a:srcRect t="999"/>
          <a:stretch/>
        </p:blipFill>
        <p:spPr>
          <a:xfrm>
            <a:off x="1780225" y="882351"/>
            <a:ext cx="5583551" cy="191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9013" y="2911621"/>
            <a:ext cx="5276524" cy="180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1" name="Google Shape;251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2" name="Google Shape;252;p32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Especificação de Banco de Dados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3" name="Google Shape;263;p3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418200" y="1265275"/>
            <a:ext cx="82791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A especificação do Banco de Dados Relacional (BDR), ou esquema do BDR, deve conter no mínimo: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Tabelas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que formam o BDR;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Colunas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que as tabelas possuem;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Restrições de integridade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70" name="Google Shape;27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3" name="Google Shape;273;p3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74" name="Google Shape;274;p34"/>
          <p:cNvSpPr txBox="1"/>
          <p:nvPr/>
        </p:nvSpPr>
        <p:spPr>
          <a:xfrm>
            <a:off x="418200" y="731875"/>
            <a:ext cx="82791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Cada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tabela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é listada pelo seu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nome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Após o nome da tabela e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entre parêntesis são listados os nomes das colunas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, separados por </a:t>
            </a:r>
            <a:r>
              <a:rPr lang="pt-BR" sz="2000" i="1" u="sng">
                <a:latin typeface="Nunito"/>
                <a:ea typeface="Nunito"/>
                <a:cs typeface="Nunito"/>
                <a:sym typeface="Nunito"/>
              </a:rPr>
              <a:t>vírgula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A coluna ou colunas que contém a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chave primária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são </a:t>
            </a:r>
            <a:r>
              <a:rPr lang="pt-BR" sz="2000" u="sng">
                <a:latin typeface="Nunito"/>
                <a:ea typeface="Nunito"/>
                <a:cs typeface="Nunito"/>
                <a:sym typeface="Nunito"/>
              </a:rPr>
              <a:t>sublinhadas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. 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Após a definição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da tabela </a:t>
            </a:r>
            <a:r>
              <a:rPr lang="pt-BR" sz="2000" u="sng">
                <a:latin typeface="Nunito"/>
                <a:ea typeface="Nunito"/>
                <a:cs typeface="Nunito"/>
                <a:sym typeface="Nunito"/>
              </a:rPr>
              <a:t>são listada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s as definições d</a:t>
            </a:r>
            <a:r>
              <a:rPr lang="pt-BR" sz="2000" u="sng">
                <a:latin typeface="Nunito"/>
                <a:ea typeface="Nunito"/>
                <a:cs typeface="Nunito"/>
                <a:sym typeface="Nunito"/>
              </a:rPr>
              <a:t>as chaves estrangeiras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que aparecem na tabela.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Se a chave estrangeira é formada por várias colunas, elas são declaradas separadas por vírgulas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80" name="Google Shape;28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3" name="Google Shape;283;p3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84" name="Google Shape;28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99" y="994325"/>
            <a:ext cx="2478475" cy="20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90" name="Google Shape;29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3" name="Google Shape;293;p3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94" name="Google Shape;29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99" y="994325"/>
            <a:ext cx="2478475" cy="208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6"/>
          <p:cNvSpPr txBox="1"/>
          <p:nvPr/>
        </p:nvSpPr>
        <p:spPr>
          <a:xfrm>
            <a:off x="605575" y="3241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01" name="Google Shape;30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3" name="Google Shape;303;p3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4" name="Google Shape;304;p3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05" name="Google Shape;30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99" y="994325"/>
            <a:ext cx="2478475" cy="20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1775" y="994325"/>
            <a:ext cx="2863299" cy="285652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/>
          <p:nvPr/>
        </p:nvSpPr>
        <p:spPr>
          <a:xfrm>
            <a:off x="605575" y="3241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13" name="Google Shape;31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5" name="Google Shape;315;p3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6" name="Google Shape;316;p3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17" name="Google Shape;31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99" y="994325"/>
            <a:ext cx="2478475" cy="20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1775" y="994325"/>
            <a:ext cx="2863299" cy="285652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8"/>
          <p:cNvSpPr txBox="1"/>
          <p:nvPr/>
        </p:nvSpPr>
        <p:spPr>
          <a:xfrm>
            <a:off x="605575" y="3241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4283750" y="3973750"/>
            <a:ext cx="423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Estante(</a:t>
            </a:r>
            <a:r>
              <a:rPr lang="pt-BR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Corredor</a:t>
            </a:r>
            <a:r>
              <a:rPr lang="pt-BR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Prateleira</a:t>
            </a:r>
            <a:r>
              <a:rPr lang="pt-BR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Volume)</a:t>
            </a:r>
            <a:endParaRPr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26" name="Google Shape;32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8" name="Google Shape;328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9" name="Google Shape;329;p3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30" name="Google Shape;330;p39"/>
          <p:cNvPicPr preferRelativeResize="0"/>
          <p:nvPr/>
        </p:nvPicPr>
        <p:blipFill rotWithShape="1">
          <a:blip r:embed="rId4">
            <a:alphaModFix/>
          </a:blip>
          <a:srcRect b="54812"/>
          <a:stretch/>
        </p:blipFill>
        <p:spPr>
          <a:xfrm>
            <a:off x="432750" y="927863"/>
            <a:ext cx="4518865" cy="136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9"/>
          <p:cNvPicPr preferRelativeResize="0"/>
          <p:nvPr/>
        </p:nvPicPr>
        <p:blipFill rotWithShape="1">
          <a:blip r:embed="rId4">
            <a:alphaModFix/>
          </a:blip>
          <a:srcRect t="42062" r="-27485" b="54812"/>
          <a:stretch/>
        </p:blipFill>
        <p:spPr>
          <a:xfrm>
            <a:off x="4877050" y="2196725"/>
            <a:ext cx="4701925" cy="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9"/>
          <p:cNvSpPr txBox="1"/>
          <p:nvPr/>
        </p:nvSpPr>
        <p:spPr>
          <a:xfrm>
            <a:off x="407988" y="3108788"/>
            <a:ext cx="4568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sz="1300" b="1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Computador(</a:t>
            </a:r>
            <a:r>
              <a:rPr lang="pt-BR" sz="1300" b="1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Cod</a:t>
            </a: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Modelo, Marca, P_CPF)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P_CPF referencia Pessoa(CPF)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38" name="Google Shape;33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0" name="Google Shape;340;p4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1" name="Google Shape;341;p4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42" name="Google Shape;342;p40"/>
          <p:cNvPicPr preferRelativeResize="0"/>
          <p:nvPr/>
        </p:nvPicPr>
        <p:blipFill rotWithShape="1">
          <a:blip r:embed="rId4">
            <a:alphaModFix/>
          </a:blip>
          <a:srcRect b="54812"/>
          <a:stretch/>
        </p:blipFill>
        <p:spPr>
          <a:xfrm>
            <a:off x="432750" y="927863"/>
            <a:ext cx="4518865" cy="136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0"/>
          <p:cNvPicPr preferRelativeResize="0"/>
          <p:nvPr/>
        </p:nvPicPr>
        <p:blipFill rotWithShape="1">
          <a:blip r:embed="rId4">
            <a:alphaModFix/>
          </a:blip>
          <a:srcRect t="42062" r="-27485" b="54812"/>
          <a:stretch/>
        </p:blipFill>
        <p:spPr>
          <a:xfrm>
            <a:off x="4877050" y="2196725"/>
            <a:ext cx="4701925" cy="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0"/>
          <p:cNvSpPr txBox="1"/>
          <p:nvPr/>
        </p:nvSpPr>
        <p:spPr>
          <a:xfrm>
            <a:off x="407988" y="3108788"/>
            <a:ext cx="4568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Computador(</a:t>
            </a:r>
            <a:r>
              <a:rPr lang="pt-BR" sz="1300" b="1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Cod</a:t>
            </a: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Modelo, Marca, P_CPF)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P_CPF referencia Pessoa(CPF)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74" name="Google Shape;37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6" name="Google Shape;376;p4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7" name="Google Shape;377;p4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78" name="Google Shape;378;p43"/>
          <p:cNvPicPr preferRelativeResize="0"/>
          <p:nvPr/>
        </p:nvPicPr>
        <p:blipFill rotWithShape="1">
          <a:blip r:embed="rId4">
            <a:alphaModFix/>
          </a:blip>
          <a:srcRect b="54812"/>
          <a:stretch/>
        </p:blipFill>
        <p:spPr>
          <a:xfrm>
            <a:off x="432750" y="927863"/>
            <a:ext cx="4518865" cy="136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3"/>
          <p:cNvPicPr preferRelativeResize="0"/>
          <p:nvPr/>
        </p:nvPicPr>
        <p:blipFill rotWithShape="1">
          <a:blip r:embed="rId4">
            <a:alphaModFix/>
          </a:blip>
          <a:srcRect t="42062" r="-27485" b="54812"/>
          <a:stretch/>
        </p:blipFill>
        <p:spPr>
          <a:xfrm>
            <a:off x="4877050" y="2196725"/>
            <a:ext cx="4701925" cy="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3"/>
          <p:cNvPicPr preferRelativeResize="0"/>
          <p:nvPr/>
        </p:nvPicPr>
        <p:blipFill rotWithShape="1">
          <a:blip r:embed="rId4">
            <a:alphaModFix/>
          </a:blip>
          <a:srcRect t="45220" r="19652"/>
          <a:stretch/>
        </p:blipFill>
        <p:spPr>
          <a:xfrm>
            <a:off x="4817297" y="2392975"/>
            <a:ext cx="4210224" cy="192197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3"/>
          <p:cNvSpPr/>
          <p:nvPr/>
        </p:nvSpPr>
        <p:spPr>
          <a:xfrm>
            <a:off x="7088896" y="2782350"/>
            <a:ext cx="1938600" cy="183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2" name="Google Shape;382;p43"/>
          <p:cNvPicPr preferRelativeResize="0"/>
          <p:nvPr/>
        </p:nvPicPr>
        <p:blipFill rotWithShape="1">
          <a:blip r:embed="rId4">
            <a:alphaModFix/>
          </a:blip>
          <a:srcRect l="56933" t="55820"/>
          <a:stretch/>
        </p:blipFill>
        <p:spPr>
          <a:xfrm>
            <a:off x="6621683" y="2765898"/>
            <a:ext cx="2256674" cy="155007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3"/>
          <p:cNvSpPr txBox="1"/>
          <p:nvPr/>
        </p:nvSpPr>
        <p:spPr>
          <a:xfrm>
            <a:off x="407988" y="3108788"/>
            <a:ext cx="4568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Computador(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Cod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Modelo, Marca, P_CPF)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 referencia Pessoa(CPF)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89" name="Google Shape;38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1" name="Google Shape;391;p4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2" name="Google Shape;392;p4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93" name="Google Shape;393;p44"/>
          <p:cNvPicPr preferRelativeResize="0"/>
          <p:nvPr/>
        </p:nvPicPr>
        <p:blipFill rotWithShape="1">
          <a:blip r:embed="rId4">
            <a:alphaModFix/>
          </a:blip>
          <a:srcRect b="54714"/>
          <a:stretch/>
        </p:blipFill>
        <p:spPr>
          <a:xfrm>
            <a:off x="432750" y="882250"/>
            <a:ext cx="5148451" cy="157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4"/>
          <p:cNvSpPr txBox="1"/>
          <p:nvPr/>
        </p:nvSpPr>
        <p:spPr>
          <a:xfrm>
            <a:off x="514221" y="3202750"/>
            <a:ext cx="4568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sz="1300" b="1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Dependente(</a:t>
            </a:r>
            <a:r>
              <a:rPr lang="pt-BR" sz="1300" b="1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NrSeq</a:t>
            </a: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Nome, </a:t>
            </a:r>
            <a:r>
              <a:rPr lang="pt-BR" sz="1300" b="1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P_CPF</a:t>
            </a: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P_CPF referencia Pessoa(CPF)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95" name="Google Shape;395;p44"/>
          <p:cNvPicPr preferRelativeResize="0"/>
          <p:nvPr/>
        </p:nvPicPr>
        <p:blipFill rotWithShape="1">
          <a:blip r:embed="rId4">
            <a:alphaModFix/>
          </a:blip>
          <a:srcRect t="42366" r="48199" b="54797"/>
          <a:stretch/>
        </p:blipFill>
        <p:spPr>
          <a:xfrm>
            <a:off x="5448845" y="2354951"/>
            <a:ext cx="2666926" cy="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01" name="Google Shape;40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3" name="Google Shape;403;p4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4" name="Google Shape;404;p4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05" name="Google Shape;405;p45"/>
          <p:cNvPicPr preferRelativeResize="0"/>
          <p:nvPr/>
        </p:nvPicPr>
        <p:blipFill rotWithShape="1">
          <a:blip r:embed="rId4">
            <a:alphaModFix/>
          </a:blip>
          <a:srcRect b="54714"/>
          <a:stretch/>
        </p:blipFill>
        <p:spPr>
          <a:xfrm>
            <a:off x="432750" y="882250"/>
            <a:ext cx="5148451" cy="157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5"/>
          <p:cNvSpPr txBox="1"/>
          <p:nvPr/>
        </p:nvSpPr>
        <p:spPr>
          <a:xfrm>
            <a:off x="514221" y="3202750"/>
            <a:ext cx="4568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Dependente(</a:t>
            </a:r>
            <a:r>
              <a:rPr lang="pt-BR" sz="1300" b="1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NrSeq</a:t>
            </a: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Nome, </a:t>
            </a:r>
            <a:r>
              <a:rPr lang="pt-BR" sz="1300" b="1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P_CPF</a:t>
            </a: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P_CPF referencia Pessoa(CPF)</a:t>
            </a:r>
            <a:endParaRPr sz="1300" b="1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07" name="Google Shape;407;p45"/>
          <p:cNvPicPr preferRelativeResize="0"/>
          <p:nvPr/>
        </p:nvPicPr>
        <p:blipFill rotWithShape="1">
          <a:blip r:embed="rId4">
            <a:alphaModFix/>
          </a:blip>
          <a:srcRect t="42366" r="48199" b="54797"/>
          <a:stretch/>
        </p:blipFill>
        <p:spPr>
          <a:xfrm>
            <a:off x="5448845" y="2354951"/>
            <a:ext cx="2666926" cy="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37" name="Google Shape;43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9" name="Google Shape;439;p4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0" name="Google Shape;440;p4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41" name="Google Shape;441;p48"/>
          <p:cNvPicPr preferRelativeResize="0"/>
          <p:nvPr/>
        </p:nvPicPr>
        <p:blipFill rotWithShape="1">
          <a:blip r:embed="rId4">
            <a:alphaModFix/>
          </a:blip>
          <a:srcRect b="54714"/>
          <a:stretch/>
        </p:blipFill>
        <p:spPr>
          <a:xfrm>
            <a:off x="432750" y="882250"/>
            <a:ext cx="5148451" cy="157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8"/>
          <p:cNvSpPr txBox="1"/>
          <p:nvPr/>
        </p:nvSpPr>
        <p:spPr>
          <a:xfrm>
            <a:off x="514221" y="3202750"/>
            <a:ext cx="4568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Dependente(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NrSeq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 referencia Pessoa(CPF)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43" name="Google Shape;443;p48"/>
          <p:cNvPicPr preferRelativeResize="0"/>
          <p:nvPr/>
        </p:nvPicPr>
        <p:blipFill rotWithShape="1">
          <a:blip r:embed="rId4">
            <a:alphaModFix/>
          </a:blip>
          <a:srcRect t="42366" r="48199" b="54797"/>
          <a:stretch/>
        </p:blipFill>
        <p:spPr>
          <a:xfrm>
            <a:off x="5448845" y="2354951"/>
            <a:ext cx="2666926" cy="9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4" name="Google Shape;444;p48"/>
          <p:cNvGrpSpPr/>
          <p:nvPr/>
        </p:nvGrpSpPr>
        <p:grpSpPr>
          <a:xfrm>
            <a:off x="4674550" y="2608225"/>
            <a:ext cx="3614999" cy="1914325"/>
            <a:chOff x="-483900" y="2639025"/>
            <a:chExt cx="3614999" cy="1914325"/>
          </a:xfrm>
        </p:grpSpPr>
        <p:pic>
          <p:nvPicPr>
            <p:cNvPr id="445" name="Google Shape;445;p48"/>
            <p:cNvPicPr preferRelativeResize="0"/>
            <p:nvPr/>
          </p:nvPicPr>
          <p:blipFill rotWithShape="1">
            <a:blip r:embed="rId4">
              <a:alphaModFix/>
            </a:blip>
            <a:srcRect t="44821" r="43117"/>
            <a:stretch/>
          </p:blipFill>
          <p:spPr>
            <a:xfrm>
              <a:off x="-483900" y="2639025"/>
              <a:ext cx="2928551" cy="19143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48"/>
            <p:cNvPicPr preferRelativeResize="0"/>
            <p:nvPr/>
          </p:nvPicPr>
          <p:blipFill rotWithShape="1">
            <a:blip r:embed="rId4">
              <a:alphaModFix/>
            </a:blip>
            <a:srcRect l="62595" t="54350"/>
            <a:stretch/>
          </p:blipFill>
          <p:spPr>
            <a:xfrm>
              <a:off x="1205350" y="2969651"/>
              <a:ext cx="1925749" cy="1583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52" name="Google Shape;45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4" name="Google Shape;454;p4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5" name="Google Shape;455;p4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56" name="Google Shape;45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224" y="1027675"/>
            <a:ext cx="5181800" cy="35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9"/>
          <p:cNvPicPr preferRelativeResize="0"/>
          <p:nvPr/>
        </p:nvPicPr>
        <p:blipFill rotWithShape="1">
          <a:blip r:embed="rId4">
            <a:alphaModFix/>
          </a:blip>
          <a:srcRect l="38623" t="42505" b="54685"/>
          <a:stretch/>
        </p:blipFill>
        <p:spPr>
          <a:xfrm>
            <a:off x="5300549" y="2515074"/>
            <a:ext cx="3180324" cy="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9"/>
          <p:cNvSpPr txBox="1"/>
          <p:nvPr/>
        </p:nvSpPr>
        <p:spPr>
          <a:xfrm>
            <a:off x="5224121" y="2660213"/>
            <a:ext cx="45684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Computador(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Cod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Modelo, Marca)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Usa(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C_Cod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 referencia Pessoa(CPF)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C_Cod referencia Computador(Cod)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64" name="Google Shape;46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6" name="Google Shape;466;p5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7" name="Google Shape;467;p5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68" name="Google Shape;46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96" y="867224"/>
            <a:ext cx="4716549" cy="400667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0"/>
          <p:cNvSpPr/>
          <p:nvPr/>
        </p:nvSpPr>
        <p:spPr>
          <a:xfrm>
            <a:off x="358850" y="4537949"/>
            <a:ext cx="5068800" cy="328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50"/>
          <p:cNvPicPr preferRelativeResize="0"/>
          <p:nvPr/>
        </p:nvPicPr>
        <p:blipFill rotWithShape="1">
          <a:blip r:embed="rId4">
            <a:alphaModFix/>
          </a:blip>
          <a:srcRect l="34798" t="38736" b="57159"/>
          <a:stretch/>
        </p:blipFill>
        <p:spPr>
          <a:xfrm>
            <a:off x="5020725" y="2420807"/>
            <a:ext cx="3075225" cy="16439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0"/>
          <p:cNvSpPr txBox="1"/>
          <p:nvPr/>
        </p:nvSpPr>
        <p:spPr>
          <a:xfrm>
            <a:off x="3826096" y="3507188"/>
            <a:ext cx="4568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Sexo, P_CPF_Ger)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P_CPF_Ger referencia Pessoa(CPF)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Especificação de Banco de Dados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77" name="Google Shape;47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9" name="Google Shape;479;p5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80" name="Google Shape;480;p5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481" name="Google Shape;481;p51"/>
          <p:cNvSpPr/>
          <p:nvPr/>
        </p:nvSpPr>
        <p:spPr>
          <a:xfrm>
            <a:off x="358850" y="4537949"/>
            <a:ext cx="5068800" cy="328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2" name="Google Shape;48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755" y="830025"/>
            <a:ext cx="4763531" cy="404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1"/>
          <p:cNvPicPr preferRelativeResize="0"/>
          <p:nvPr/>
        </p:nvPicPr>
        <p:blipFill rotWithShape="1">
          <a:blip r:embed="rId5">
            <a:alphaModFix/>
          </a:blip>
          <a:srcRect l="34798" t="38736" b="57159"/>
          <a:stretch/>
        </p:blipFill>
        <p:spPr>
          <a:xfrm>
            <a:off x="5020725" y="2534387"/>
            <a:ext cx="3075225" cy="164399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1"/>
          <p:cNvSpPr txBox="1"/>
          <p:nvPr/>
        </p:nvSpPr>
        <p:spPr>
          <a:xfrm>
            <a:off x="4571996" y="3380113"/>
            <a:ext cx="45684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Pessoa(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CPF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Nome, Sexo)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Mono"/>
              <a:buChar char="●"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Gerencia(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P_CPF_Ger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pt-BR" sz="1300" b="1" u="sng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P_CPF_Sub</a:t>
            </a: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P_CPF_Ger referencia Pessoa(CPF)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P_CPF_Sub referencia Pessoa(CPF)</a:t>
            </a: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0" name="Google Shape;490;p5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1" name="Google Shape;491;p52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92" name="Google Shape;492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52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Considerações sobre o modelo ER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Modelo Conceitual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99" name="Google Shape;49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01" name="Google Shape;501;p5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02" name="Google Shape;502;p5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03" name="Google Shape;503;p53"/>
          <p:cNvSpPr txBox="1"/>
          <p:nvPr/>
        </p:nvSpPr>
        <p:spPr>
          <a:xfrm>
            <a:off x="418200" y="1112875"/>
            <a:ext cx="82791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Inúmeros autores propuseram inúmeros modelos.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Na prática e na literatura não há um só modelo ER.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Há variações na representação gráfica, na sintaxe e na semântica. 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Variantes do Modelo ER: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Modelo proposto por Peter Chen;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Notação de Engenharia da Informação (James Martin); 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MERISE (notação europeia);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e  UML.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Engenharia da Informação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09" name="Google Shape;50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11" name="Google Shape;511;p5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12" name="Google Shape;512;p5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13" name="Google Shape;513;p54"/>
          <p:cNvSpPr txBox="1"/>
          <p:nvPr/>
        </p:nvSpPr>
        <p:spPr>
          <a:xfrm>
            <a:off x="418200" y="808075"/>
            <a:ext cx="8279100" cy="34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Cardinalidades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1828800" lvl="3" indent="-3556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um ou mais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1828800" lvl="3" indent="-3556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zero ou mais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1828800" lvl="3" indent="-3556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zero ou um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1828800" lvl="3" indent="-355600" algn="just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um e apenas um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14" name="Google Shape;51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639" y="1435469"/>
            <a:ext cx="2101160" cy="293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Engenharia da Informação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20" name="Google Shape;52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22" name="Google Shape;522;p5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23" name="Google Shape;523;p5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24" name="Google Shape;524;p55"/>
          <p:cNvPicPr preferRelativeResize="0"/>
          <p:nvPr/>
        </p:nvPicPr>
        <p:blipFill rotWithShape="1">
          <a:blip r:embed="rId4">
            <a:alphaModFix/>
          </a:blip>
          <a:srcRect t="507"/>
          <a:stretch/>
        </p:blipFill>
        <p:spPr>
          <a:xfrm>
            <a:off x="1205675" y="990150"/>
            <a:ext cx="6463200" cy="374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Engenharia da Informação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30" name="Google Shape;53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32" name="Google Shape;532;p5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33" name="Google Shape;533;p5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34" name="Google Shape;534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737" y="922200"/>
            <a:ext cx="6603088" cy="385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Engenharia da Informação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40" name="Google Shape;540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42" name="Google Shape;542;p5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43" name="Google Shape;543;p5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44" name="Google Shape;544;p57"/>
          <p:cNvSpPr txBox="1"/>
          <p:nvPr/>
        </p:nvSpPr>
        <p:spPr>
          <a:xfrm>
            <a:off x="418200" y="1127827"/>
            <a:ext cx="827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Generalização/Especialização: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45" name="Google Shape;54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648" y="1818524"/>
            <a:ext cx="7568202" cy="23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8"/>
          <p:cNvSpPr/>
          <p:nvPr/>
        </p:nvSpPr>
        <p:spPr>
          <a:xfrm>
            <a:off x="643050" y="7662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0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Continua na próxima aula…</a:t>
            </a:r>
            <a:endParaRPr sz="30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553" name="Google Shape;553;p58"/>
          <p:cNvSpPr txBox="1"/>
          <p:nvPr/>
        </p:nvSpPr>
        <p:spPr>
          <a:xfrm>
            <a:off x="559950" y="3760700"/>
            <a:ext cx="8024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UNIVERSIDADE DE RIO VERDE (</a:t>
            </a:r>
            <a:r>
              <a:rPr lang="pt-BR" sz="1500" b="0" i="0" u="none" strike="noStrike" cap="none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UniRV</a:t>
            </a:r>
            <a:r>
              <a:rPr lang="pt-BR" sz="1500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sz="15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Bacharelado em Engenharia de Software</a:t>
            </a:r>
            <a:endParaRPr sz="1500" b="0" i="0" u="none" strike="noStrike" cap="none" dirty="0">
              <a:solidFill>
                <a:srgbClr val="5E5E5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55" name="Google Shape;555;p58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07" y="3162901"/>
            <a:ext cx="1371774" cy="13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8" descr="Imag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4548" y="3317763"/>
            <a:ext cx="1595574" cy="10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Apresentação na tela (16:9)</PresentationFormat>
  <Paragraphs>164</Paragraphs>
  <Slides>41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8" baseType="lpstr">
      <vt:lpstr>Helvetica Neue</vt:lpstr>
      <vt:lpstr>Roboto Mono</vt:lpstr>
      <vt:lpstr>Maven Pro SemiBold</vt:lpstr>
      <vt:lpstr>Maven Pro Medium</vt:lpstr>
      <vt:lpstr>Nunito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1</cp:revision>
  <dcterms:modified xsi:type="dcterms:W3CDTF">2025-08-19T18:36:01Z</dcterms:modified>
</cp:coreProperties>
</file>