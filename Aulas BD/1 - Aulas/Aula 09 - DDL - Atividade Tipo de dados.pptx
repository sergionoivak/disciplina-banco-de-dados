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67" r:id="rId2"/>
    <p:sldId id="295" r:id="rId3"/>
    <p:sldId id="282" r:id="rId4"/>
    <p:sldId id="283" r:id="rId5"/>
    <p:sldId id="284" r:id="rId6"/>
    <p:sldId id="278" r:id="rId7"/>
    <p:sldId id="279" r:id="rId8"/>
    <p:sldId id="280" r:id="rId9"/>
    <p:sldId id="281" r:id="rId10"/>
  </p:sldIdLst>
  <p:sldSz cx="9144000" cy="5143500" type="screen16x9"/>
  <p:notesSz cx="6858000" cy="9144000"/>
  <p:embeddedFontLst>
    <p:embeddedFont>
      <p:font typeface="Maven Pro Medium" panose="020B0604020202020204" charset="0"/>
      <p:regular r:id="rId12"/>
      <p:bold r:id="rId13"/>
    </p:embeddedFont>
    <p:embeddedFont>
      <p:font typeface="Maven Pro SemiBold" panose="020B0604020202020204" charset="0"/>
      <p:regular r:id="rId14"/>
      <p:bold r:id="rId15"/>
    </p:embeddedFont>
    <p:embeddedFont>
      <p:font typeface="Nunit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80" autoAdjust="0"/>
  </p:normalViewPr>
  <p:slideViewPr>
    <p:cSldViewPr snapToGrid="0">
      <p:cViewPr varScale="1">
        <p:scale>
          <a:sx n="93" d="100"/>
          <a:sy n="93" d="100"/>
        </p:scale>
        <p:origin x="11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03dbf59e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1f803dbf59e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8088dd38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1f8088dd38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342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f8088dd38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1f8088dd38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669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f8088dd38a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1f8088dd38a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4497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f8088dd38a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g1f8088dd38a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111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f8088dd38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g1f8088dd38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8088dd38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1f8088dd38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f8088dd38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1f8088dd38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f8088dd38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g1f8088dd38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0" name="Google Shape;230;p2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</a:t>
            </a:r>
            <a:r>
              <a:rPr lang="pt-BR" sz="3200" i="1" dirty="0" err="1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Structured</a:t>
            </a:r>
            <a:r>
              <a:rPr lang="pt-BR" sz="3200" i="1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Query </a:t>
            </a:r>
            <a:r>
              <a:rPr lang="pt-BR" sz="3200" i="1" dirty="0" err="1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Language</a:t>
            </a: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(SQL)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b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</a:b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DDL: Linguagem de Definição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6" name="Google Shape;30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0" name="Google Shape;310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29E924-DD2F-4BA5-AAB3-5A0D626EE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3" y="1053627"/>
            <a:ext cx="7835163" cy="354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1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95" name="Google Shape;39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7" name="Google Shape;397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8" name="Google Shape;398;p39"/>
          <p:cNvSpPr txBox="1"/>
          <p:nvPr/>
        </p:nvSpPr>
        <p:spPr>
          <a:xfrm>
            <a:off x="418200" y="960475"/>
            <a:ext cx="83220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PRIMARY KEY (Chave Primária):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Uma </a:t>
            </a: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PRIMARY KEY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 é uma </a:t>
            </a:r>
            <a:r>
              <a:rPr lang="pt-BR" sz="1600" b="1" u="sng">
                <a:latin typeface="Nunito"/>
                <a:ea typeface="Nunito"/>
                <a:cs typeface="Nunito"/>
                <a:sym typeface="Nunito"/>
              </a:rPr>
              <a:t>restrição</a:t>
            </a: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que identifica de forma única cada linha em uma tabela de banco de dados. Não podem existir duas linhas com a mesma chave primária, e ela não pode conter valores NULL.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9" name="Google Shape;399;p3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00" name="Google Shape;400;p39"/>
          <p:cNvPicPr preferRelativeResize="0"/>
          <p:nvPr/>
        </p:nvPicPr>
        <p:blipFill rotWithShape="1">
          <a:blip r:embed="rId4">
            <a:alphaModFix/>
          </a:blip>
          <a:srcRect l="10738" t="4415" r="10415" b="15731"/>
          <a:stretch/>
        </p:blipFill>
        <p:spPr>
          <a:xfrm>
            <a:off x="2657825" y="2385525"/>
            <a:ext cx="3494950" cy="235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031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6" name="Google Shape;40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8" name="Google Shape;408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9" name="Google Shape;409;p40"/>
          <p:cNvSpPr txBox="1"/>
          <p:nvPr/>
        </p:nvSpPr>
        <p:spPr>
          <a:xfrm>
            <a:off x="418200" y="884275"/>
            <a:ext cx="83220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FOREIGN KEY (Chave Estrangeira):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Uma </a:t>
            </a: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FOREIGN KEY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 é uma chave usada para </a:t>
            </a:r>
            <a:r>
              <a:rPr lang="pt-BR" sz="1600" b="1" u="sng">
                <a:latin typeface="Nunito"/>
                <a:ea typeface="Nunito"/>
                <a:cs typeface="Nunito"/>
                <a:sym typeface="Nunito"/>
              </a:rPr>
              <a:t>vincular duas tabelas juntas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. É uma coluna ou uma combinação de colunas usadas para estabelecer e </a:t>
            </a:r>
            <a:r>
              <a:rPr lang="pt-BR" sz="1600" u="sng">
                <a:latin typeface="Nunito"/>
                <a:ea typeface="Nunito"/>
                <a:cs typeface="Nunito"/>
                <a:sym typeface="Nunito"/>
              </a:rPr>
              <a:t>impor um link entre os dados de duas tabelas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 para controlar os dados que podem ser armazenados na tabela de foreign key.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0" name="Google Shape;410;p4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11" name="Google Shape;411;p40"/>
          <p:cNvPicPr preferRelativeResize="0"/>
          <p:nvPr/>
        </p:nvPicPr>
        <p:blipFill rotWithShape="1">
          <a:blip r:embed="rId4">
            <a:alphaModFix/>
          </a:blip>
          <a:srcRect b="11126"/>
          <a:stretch/>
        </p:blipFill>
        <p:spPr>
          <a:xfrm>
            <a:off x="1963050" y="2437175"/>
            <a:ext cx="5186049" cy="2436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357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17" name="Google Shape;41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9" name="Google Shape;419;p4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0" name="Google Shape;420;p41"/>
          <p:cNvSpPr txBox="1"/>
          <p:nvPr/>
        </p:nvSpPr>
        <p:spPr>
          <a:xfrm>
            <a:off x="418200" y="808075"/>
            <a:ext cx="83220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COMPOSITE KEY (Chave Composta):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É uma </a:t>
            </a: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chave primária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 que consiste em </a:t>
            </a:r>
            <a:r>
              <a:rPr lang="pt-BR" sz="1600" b="1" u="sng">
                <a:latin typeface="Nunito"/>
                <a:ea typeface="Nunito"/>
                <a:cs typeface="Nunito"/>
                <a:sym typeface="Nunito"/>
              </a:rPr>
              <a:t>duas ou mais colunas usadas juntas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 para criar uma chave primária para uma tabela. Isso é usado quando você deseja ter uma chave primária que contenha múltiplos atributos.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1" name="Google Shape;421;p4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22" name="Google Shape;422;p41"/>
          <p:cNvPicPr preferRelativeResize="0"/>
          <p:nvPr/>
        </p:nvPicPr>
        <p:blipFill rotWithShape="1">
          <a:blip r:embed="rId4">
            <a:alphaModFix/>
          </a:blip>
          <a:srcRect b="6733"/>
          <a:stretch/>
        </p:blipFill>
        <p:spPr>
          <a:xfrm>
            <a:off x="1505788" y="2167675"/>
            <a:ext cx="5862966" cy="2706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676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55" name="Google Shape;35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418200" y="1417675"/>
            <a:ext cx="82791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O tipo de dado que você escolhe ao criar uma tabela em SQL pode depender do SGBD que você está usando.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Cada SGBD pode suportar diferentes tipos de dados ou ter variações nos nomes e no comportamento dos tipos de dados.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3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8" name="Google Shape;368;p36"/>
          <p:cNvSpPr txBox="1"/>
          <p:nvPr/>
        </p:nvSpPr>
        <p:spPr>
          <a:xfrm>
            <a:off x="418200" y="960475"/>
            <a:ext cx="8279100" cy="30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100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MySQL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: Utiliza tipos como </a:t>
            </a:r>
            <a:r>
              <a:rPr lang="pt-BR" sz="1900" u="sng">
                <a:latin typeface="Nunito"/>
                <a:ea typeface="Nunito"/>
                <a:cs typeface="Nunito"/>
                <a:sym typeface="Nunito"/>
              </a:rPr>
              <a:t>VARCHAR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900" u="sng">
                <a:latin typeface="Nunito"/>
                <a:ea typeface="Nunito"/>
                <a:cs typeface="Nunito"/>
                <a:sym typeface="Nunito"/>
              </a:rPr>
              <a:t>TEXT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900" u="sng">
                <a:latin typeface="Nunito"/>
                <a:ea typeface="Nunito"/>
                <a:cs typeface="Nunito"/>
                <a:sym typeface="Nunito"/>
              </a:rPr>
              <a:t>INT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900" u="sng">
                <a:latin typeface="Nunito"/>
                <a:ea typeface="Nunito"/>
                <a:cs typeface="Nunito"/>
                <a:sym typeface="Nunito"/>
              </a:rPr>
              <a:t>DATETIME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entre outros.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1000"/>
              </a:spcBef>
              <a:spcAft>
                <a:spcPts val="1000"/>
              </a:spcAft>
              <a:buSzPts val="1900"/>
              <a:buFont typeface="Nunito"/>
              <a:buChar char="■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PostgreSQL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: Também usa tipos como </a:t>
            </a:r>
            <a:r>
              <a:rPr lang="pt-BR" sz="1900" u="sng">
                <a:latin typeface="Nunito"/>
                <a:ea typeface="Nunito"/>
                <a:cs typeface="Nunito"/>
                <a:sym typeface="Nunito"/>
              </a:rPr>
              <a:t>VARCHAR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900" u="sng">
                <a:latin typeface="Nunito"/>
                <a:ea typeface="Nunito"/>
                <a:cs typeface="Nunito"/>
                <a:sym typeface="Nunito"/>
              </a:rPr>
              <a:t>TEXT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mas também possui tipos como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SERIAL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 para chaves primárias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autoincrementáveis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e tipos específicos como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JSON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.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75" name="Google Shape;37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8" name="Google Shape;378;p37"/>
          <p:cNvSpPr txBox="1"/>
          <p:nvPr/>
        </p:nvSpPr>
        <p:spPr>
          <a:xfrm>
            <a:off x="418200" y="960475"/>
            <a:ext cx="82791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100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SQLite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: Tende a ser </a:t>
            </a:r>
            <a:r>
              <a:rPr lang="pt-BR" sz="1900" u="sng">
                <a:latin typeface="Nunito"/>
                <a:ea typeface="Nunito"/>
                <a:cs typeface="Nunito"/>
                <a:sym typeface="Nunito"/>
              </a:rPr>
              <a:t>mais flexível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 com os tipos de dados, seguindo um sistema de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tipagem dinâmica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mas reconhece tipos comuns como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TEXT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INTEGER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e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REAL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.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100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Microsoft SQL Server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: Tem tipos como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NVARCHAR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para texto Unicode,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INT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DATETIME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entre outros, e também tipos específicos para dados hierárquicos como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XML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HIERARCHYID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.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p3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Atividade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85" name="Google Shape;38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7" name="Google Shape;387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8" name="Google Shape;388;p38"/>
          <p:cNvSpPr txBox="1"/>
          <p:nvPr/>
        </p:nvSpPr>
        <p:spPr>
          <a:xfrm>
            <a:off x="418200" y="815551"/>
            <a:ext cx="8279100" cy="39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Escolha um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 relacional de sua preferência que utilize SQL e: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AutoNum type="alphaL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Realize uma pesquisa sobre os tipos de dados suportados pelo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 escolhido. 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AutoNum type="alphaL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Quais são os tipos de dados básicos disponíveis? (Por exemplo, tipos numéricos, de data e hora,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strings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, etc.)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AutoNum type="alphaL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Existem tipos de dados exclusivos ou especializados oferecidos por esse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? (Por exemplo,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JSON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 em PostgreSQL)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AutoNum type="alphaL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Qual é o tamanho máximo para tipos de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string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 como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VARCHAR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?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AutoNum type="alphaL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Como são tratados os dados binários?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AutoNum type="alphaL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Apresente as vantagens e desvantagens.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1750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Nunito"/>
              <a:buAutoNum type="romanLcParenR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P/ cada tipo de dado importante, descreva possíveis vantagens e desvantagens de seu uso em contextos de desenvolvimento reais. Por exemplo: quando usar um tipo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TEXT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 em vez de </a:t>
            </a:r>
            <a:r>
              <a:rPr lang="pt-BR" dirty="0" err="1">
                <a:latin typeface="Nunito"/>
                <a:ea typeface="Nunito"/>
                <a:cs typeface="Nunito"/>
                <a:sym typeface="Nunito"/>
              </a:rPr>
              <a:t>VARCHAR</a:t>
            </a: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?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9" name="Google Shape;389;p3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514</Words>
  <Application>Microsoft Office PowerPoint</Application>
  <PresentationFormat>Apresentação na tela (16:9)</PresentationFormat>
  <Paragraphs>48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Maven Pro SemiBold</vt:lpstr>
      <vt:lpstr>Helvetica Neue</vt:lpstr>
      <vt:lpstr>Maven Pro Medium</vt:lpstr>
      <vt:lpstr>Nunito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6</cp:revision>
  <dcterms:modified xsi:type="dcterms:W3CDTF">2025-09-11T22:29:59Z</dcterms:modified>
</cp:coreProperties>
</file>