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7" r:id="rId2"/>
    <p:sldId id="258" r:id="rId3"/>
    <p:sldId id="288" r:id="rId4"/>
    <p:sldId id="289" r:id="rId5"/>
    <p:sldId id="285" r:id="rId6"/>
    <p:sldId id="259" r:id="rId7"/>
    <p:sldId id="290" r:id="rId8"/>
    <p:sldId id="269" r:id="rId9"/>
    <p:sldId id="270" r:id="rId10"/>
    <p:sldId id="271" r:id="rId11"/>
    <p:sldId id="273" r:id="rId12"/>
    <p:sldId id="275" r:id="rId13"/>
    <p:sldId id="276" r:id="rId14"/>
    <p:sldId id="279" r:id="rId15"/>
    <p:sldId id="268" r:id="rId16"/>
    <p:sldId id="330" r:id="rId17"/>
    <p:sldId id="292" r:id="rId18"/>
    <p:sldId id="260" r:id="rId19"/>
    <p:sldId id="263" r:id="rId20"/>
    <p:sldId id="316" r:id="rId21"/>
    <p:sldId id="265" r:id="rId22"/>
    <p:sldId id="318" r:id="rId23"/>
    <p:sldId id="319" r:id="rId24"/>
    <p:sldId id="272" r:id="rId25"/>
    <p:sldId id="331" r:id="rId26"/>
    <p:sldId id="332" r:id="rId27"/>
    <p:sldId id="300" r:id="rId28"/>
    <p:sldId id="333" r:id="rId29"/>
    <p:sldId id="261" r:id="rId30"/>
    <p:sldId id="341" r:id="rId31"/>
    <p:sldId id="287" r:id="rId32"/>
    <p:sldId id="267" r:id="rId33"/>
    <p:sldId id="342" r:id="rId34"/>
    <p:sldId id="343" r:id="rId35"/>
  </p:sldIdLst>
  <p:sldSz cx="9144000" cy="5143500" type="screen16x9"/>
  <p:notesSz cx="6858000" cy="9144000"/>
  <p:embeddedFontLst>
    <p:embeddedFont>
      <p:font typeface="Helvetica Neue" panose="020B0604020202020204" charset="0"/>
      <p:regular r:id="rId37"/>
      <p:bold r:id="rId38"/>
      <p:italic r:id="rId39"/>
      <p:boldItalic r:id="rId40"/>
    </p:embeddedFont>
    <p:embeddedFont>
      <p:font typeface="Maven Pro Medium" panose="020B0604020202020204" charset="0"/>
      <p:regular r:id="rId41"/>
      <p:bold r:id="rId42"/>
    </p:embeddedFont>
    <p:embeddedFont>
      <p:font typeface="Maven Pro SemiBold" panose="020B0604020202020204" charset="0"/>
      <p:regular r:id="rId43"/>
      <p:bold r:id="rId44"/>
    </p:embeddedFont>
    <p:embeddedFont>
      <p:font typeface="Nunito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09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269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14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0ba5c06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1f0ba5c06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0ba5c06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1f0ba5c06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257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0cd9c2fa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f0cd9c2fa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f0cd9c2fa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1f0cd9c2fa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0cd9c2fa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f0cd9c2fa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0cd9c2fa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f0cd9c2fa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0cd9c2fa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1f0cd9c2fa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0cd9c2faf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1f0cd9c2faf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f0cd9c2faf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g1f0cd9c2faf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95fb2a8c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b95fb2a8c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2547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9230f28e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2c9230f28e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9230f28e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c9230f28e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9230f28e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c9230f28e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202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935eb708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c935eb708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935eb708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2c935eb708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0456e0fe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20456e0fe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c935eb708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2c935eb708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b="1" dirty="0"/>
              <a:t>Anomalias</a:t>
            </a:r>
            <a:r>
              <a:rPr lang="pt-BR" dirty="0"/>
              <a:t> são problemas que ocorrem quando os dados não estão bem estruturados.</a:t>
            </a:r>
          </a:p>
          <a:p>
            <a:pPr marL="158750" indent="0">
              <a:buNone/>
            </a:pPr>
            <a:r>
              <a:rPr lang="pt-BR" dirty="0"/>
              <a:t>Como redundâncias ou </a:t>
            </a:r>
            <a:r>
              <a:rPr lang="pt-BR" dirty="0" err="1"/>
              <a:t>inconcistências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7194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573f7c11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f573f7c11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573f7c11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f573f7c11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f573f7c11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1f573f7c11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73f7c1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f573f7c1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73f7c1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f573f7c1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940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Isto significa que qualquer atributo não chave não pode determinar outro atributo. </a:t>
            </a:r>
            <a:endParaRPr lang="pt-BR" sz="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Revisão</a:t>
            </a:r>
            <a:b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 sz="3200" b="0" i="0" u="none" strike="noStrike" cap="none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Modelo Conceitual</a:t>
            </a:r>
            <a:endParaRPr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Está mais próximo da visão que o usuário tem dos dados.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o nível mais abstrato e independente de tecnologia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O Modelo Entidade-Relacionamento (MER), proposto por Peter Chen, é a principal técnica.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Representa entidades, atributos e relacionamentos de forma gráfica, sem pensar ainda em tabelas, chaves estrangeiras ou restrições de implementação.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Como esses dados se relacionam.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Modelo conceitual</a:t>
            </a:r>
            <a:endParaRPr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spcBef>
                <a:spcPct val="50000"/>
              </a:spcBef>
              <a:buFontTx/>
              <a:buNone/>
            </a:pPr>
            <a:r>
              <a:rPr lang="pt-BR" altLang="pt-BR" sz="2000" dirty="0"/>
              <a:t>Tem por base a percepção de que o mundo real é formado por conjunto de objetos chamados </a:t>
            </a:r>
            <a:r>
              <a:rPr lang="pt-BR" altLang="pt-BR" sz="2000" i="1" dirty="0">
                <a:solidFill>
                  <a:srgbClr val="CC3300"/>
                </a:solidFill>
              </a:rPr>
              <a:t>entidades</a:t>
            </a:r>
            <a:r>
              <a:rPr lang="pt-BR" altLang="pt-BR" sz="2000" dirty="0"/>
              <a:t> e pelo conjunto dos </a:t>
            </a:r>
            <a:r>
              <a:rPr lang="pt-BR" altLang="pt-BR" sz="2000" i="1" dirty="0">
                <a:solidFill>
                  <a:srgbClr val="CC3300"/>
                </a:solidFill>
              </a:rPr>
              <a:t>relacionamentos</a:t>
            </a:r>
            <a:r>
              <a:rPr lang="pt-BR" altLang="pt-BR" sz="2000" dirty="0"/>
              <a:t> entre esses objetos.</a:t>
            </a:r>
          </a:p>
        </p:txBody>
      </p:sp>
    </p:spTree>
    <p:extLst>
      <p:ext uri="{BB962C8B-B14F-4D97-AF65-F5344CB8AC3E}">
        <p14:creationId xmlns:p14="http://schemas.microsoft.com/office/powerpoint/2010/main" val="20967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Modelo Conceitual</a:t>
            </a:r>
            <a:endParaRPr lang="pt-BR"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283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 panose="020B0604020202020204" charset="0"/>
                <a:ea typeface="Nunito"/>
                <a:cs typeface="Nunito"/>
                <a:sym typeface="Nunito"/>
              </a:rPr>
              <a:t>Retângulos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, que representam os conjuntos de entidades;</a:t>
            </a:r>
          </a:p>
          <a:p>
            <a:pPr marL="457200" lvl="1" indent="-336550">
              <a:buSzPts val="1700"/>
              <a:buFont typeface="Nunito"/>
              <a:buChar char="●"/>
            </a:pP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Uma </a:t>
            </a:r>
            <a:r>
              <a:rPr lang="pt-BR" sz="1700" b="1" dirty="0">
                <a:latin typeface="Nunito" panose="020B0604020202020204" charset="0"/>
                <a:ea typeface="Nunito"/>
                <a:cs typeface="Nunito"/>
                <a:sym typeface="Nunito"/>
              </a:rPr>
              <a:t>entidade 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representa um conjunto de </a:t>
            </a:r>
            <a:r>
              <a:rPr lang="pt-BR" sz="1700" b="1" u="sng" dirty="0">
                <a:latin typeface="Nunito" panose="020B0604020202020204" charset="0"/>
                <a:ea typeface="Nunito"/>
                <a:cs typeface="Nunito"/>
                <a:sym typeface="Nunito"/>
              </a:rPr>
              <a:t>objetos</a:t>
            </a:r>
            <a:r>
              <a:rPr lang="pt-BR" sz="1700" u="sng" dirty="0">
                <a:latin typeface="Nunito" panose="020B0604020202020204" charset="0"/>
                <a:ea typeface="Nunito"/>
                <a:cs typeface="Nunito"/>
                <a:sym typeface="Nunito"/>
              </a:rPr>
              <a:t> do mesmo tipo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 do mundo real e sobre os quais se pretende armazenar dados. 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 panose="020B0604020202020204" charset="0"/>
                <a:ea typeface="Nunito"/>
                <a:cs typeface="Nunito"/>
                <a:sym typeface="Nunito"/>
              </a:rPr>
              <a:t>Elipses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, que representam os atributos</a:t>
            </a:r>
          </a:p>
          <a:p>
            <a:pPr marL="457200" indent="-336550">
              <a:buSzPts val="1700"/>
              <a:buFont typeface="Nunito"/>
              <a:buChar char="●"/>
            </a:pPr>
            <a:r>
              <a:rPr lang="pt-BR" sz="1800" b="1" dirty="0">
                <a:solidFill>
                  <a:srgbClr val="0E0E0E"/>
                </a:solidFill>
                <a:effectLst/>
                <a:latin typeface="Nuni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Atributo</a:t>
            </a:r>
            <a:r>
              <a:rPr lang="pt-BR" sz="1800" dirty="0">
                <a:solidFill>
                  <a:srgbClr val="0E0E0E"/>
                </a:solidFill>
                <a:effectLst/>
                <a:latin typeface="Nuni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é um dado que é associado a cada ocorrência de uma entidade ou de um relacionamento, descrevendo suas características e propriedades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Todo atributo possui um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tipo de dado.</a:t>
            </a: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os valores permitidos para aquele atributo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20650">
              <a:buSzPts val="1700"/>
            </a:pP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4739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Modelo Conceitual</a:t>
            </a:r>
            <a:endParaRPr lang="pt-BR"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 panose="020B0604020202020204" charset="0"/>
                <a:ea typeface="Nunito"/>
                <a:cs typeface="Nunito"/>
                <a:sym typeface="Nunito"/>
              </a:rPr>
              <a:t>Losangos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, que representam os relacionamentos entre os conjuntos de entidades;</a:t>
            </a:r>
          </a:p>
          <a:p>
            <a:pPr marL="457200" indent="-336550"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relacionamento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uma associação entre as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entidades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 </a:t>
            </a: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Podem haver </a:t>
            </a:r>
            <a:r>
              <a:rPr lang="pt-BR" sz="1700" b="1" dirty="0">
                <a:latin typeface="Nunito" panose="020B0604020202020204" charset="0"/>
                <a:ea typeface="Nunito"/>
                <a:cs typeface="Nunito"/>
                <a:sym typeface="Nunito"/>
              </a:rPr>
              <a:t>atributos dos relacionamentos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 panose="020B0604020202020204" charset="0"/>
                <a:ea typeface="Nunito"/>
                <a:cs typeface="Nunito"/>
                <a:sym typeface="Nunito"/>
              </a:rPr>
              <a:t>Linhas</a:t>
            </a:r>
            <a:r>
              <a:rPr lang="pt-BR" sz="1700" dirty="0">
                <a:latin typeface="Nunito" panose="020B0604020202020204" charset="0"/>
                <a:ea typeface="Nunito"/>
                <a:cs typeface="Nunito"/>
                <a:sym typeface="Nunito"/>
              </a:rPr>
              <a:t>, que unem os atributos aos conjuntos de entidades e o conjunto de entidades aos seus relacionamentos.</a:t>
            </a:r>
          </a:p>
        </p:txBody>
      </p:sp>
    </p:spTree>
    <p:extLst>
      <p:ext uri="{BB962C8B-B14F-4D97-AF65-F5344CB8AC3E}">
        <p14:creationId xmlns:p14="http://schemas.microsoft.com/office/powerpoint/2010/main" val="408276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725" y="1747062"/>
            <a:ext cx="6591501" cy="27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361275" y="4445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 de modelo conceitual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05;p17">
            <a:extLst>
              <a:ext uri="{FF2B5EF4-FFF2-40B4-BE49-F238E27FC236}">
                <a16:creationId xmlns:a16="http://schemas.microsoft.com/office/drawing/2014/main" id="{38D46E60-120B-4C6E-B5AF-FC432A8C64A7}"/>
              </a:ext>
            </a:extLst>
          </p:cNvPr>
          <p:cNvSpPr txBox="1"/>
          <p:nvPr/>
        </p:nvSpPr>
        <p:spPr>
          <a:xfrm>
            <a:off x="418200" y="915013"/>
            <a:ext cx="4153800" cy="149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Não há preocupação em saber como os dados serão armazenados.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61275" y="4445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 de modelo conceitual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05;p17">
            <a:extLst>
              <a:ext uri="{FF2B5EF4-FFF2-40B4-BE49-F238E27FC236}">
                <a16:creationId xmlns:a16="http://schemas.microsoft.com/office/drawing/2014/main" id="{38D46E60-120B-4C6E-B5AF-FC432A8C64A7}"/>
              </a:ext>
            </a:extLst>
          </p:cNvPr>
          <p:cNvSpPr txBox="1"/>
          <p:nvPr/>
        </p:nvSpPr>
        <p:spPr>
          <a:xfrm>
            <a:off x="418200" y="915013"/>
            <a:ext cx="4153800" cy="149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Não há preocupação em saber como os dados serão armazenados.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" name="Google Shape;91;p16">
            <a:extLst>
              <a:ext uri="{FF2B5EF4-FFF2-40B4-BE49-F238E27FC236}">
                <a16:creationId xmlns:a16="http://schemas.microsoft.com/office/drawing/2014/main" id="{CF6279DD-8DB1-4758-881C-4C762D75EB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568" y="2052607"/>
            <a:ext cx="7412864" cy="1842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34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41" name="Google Shape;2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800" y="948025"/>
            <a:ext cx="7048452" cy="34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361275" y="4445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Representação gráfica dos atributos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8" name="Google Shape;2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432750" y="997325"/>
            <a:ext cx="5024700" cy="3585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ATRIBUTO SIMPLES E </a:t>
            </a: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MONOVALORADO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Simples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: não pode ou não deve ser decomposto.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 err="1">
                <a:latin typeface="Nunito"/>
                <a:ea typeface="Nunito"/>
                <a:cs typeface="Nunito"/>
                <a:sym typeface="Nunito"/>
              </a:rPr>
              <a:t>Monovalorado</a:t>
            </a: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permite apenas o armazenamento de um valor por vez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u="sng" dirty="0">
                <a:latin typeface="Nunito"/>
                <a:ea typeface="Nunito"/>
                <a:cs typeface="Nunito"/>
                <a:sym typeface="Nunito"/>
              </a:rPr>
              <a:t>Indivisível</a:t>
            </a:r>
            <a:endParaRPr sz="1700" b="1" u="sng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nº matrícula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RG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preço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etc.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9275" y="2139365"/>
            <a:ext cx="2689375" cy="170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9" name="Google Shape;25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432750" y="997325"/>
            <a:ext cx="50247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COMPOSTO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pode ser decomposto.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Endereço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 da rua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número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complemento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525" y="1889337"/>
            <a:ext cx="3026376" cy="20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1" name="Google Shape;28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4" name="Google Shape;284;p3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432750" y="997325"/>
            <a:ext cx="52266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MULTIVALORADO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Armazena mais de um valor ao mesmo tempo no mesmo campo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E-mail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pessoa pode ter vários e-mails.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225" y="2070873"/>
            <a:ext cx="2556725" cy="17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5" name="Google Shape;305;p3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432750" y="997325"/>
            <a:ext cx="52266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DERIVADO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valor para ele deriva de outro(s) atributo(s).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número da compra, data da compra, valor da compra, percentual de desconto 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valor da compra com o desconto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“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valor da compra com o desconto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” é </a:t>
            </a:r>
            <a:r>
              <a:rPr lang="pt-BR" sz="1700" i="1" u="sng">
                <a:latin typeface="Nunito"/>
                <a:ea typeface="Nunito"/>
                <a:cs typeface="Nunito"/>
                <a:sym typeface="Nunito"/>
              </a:rPr>
              <a:t>calculado/derivado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de outros atributos.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Aplicação ou SGBD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4900" y="1749375"/>
            <a:ext cx="2665425" cy="24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3" name="Google Shape;31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6" name="Google Shape;316;p3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32750" y="921125"/>
            <a:ext cx="52266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Primary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 Key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ou ainda </a:t>
            </a: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PK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um atributo da entidade que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identifica apenas um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objeto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dessa entidade.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Esse valor não pode se repetir (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único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Não pode receber nulo.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Professor (Entidade)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CPF, Matrícula.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848950" y="1603425"/>
            <a:ext cx="10470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319" name="Google Shape;319;p33"/>
          <p:cNvSpPr/>
          <p:nvPr/>
        </p:nvSpPr>
        <p:spPr>
          <a:xfrm>
            <a:off x="7493425" y="1196200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7657825" y="1045725"/>
            <a:ext cx="12537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7493425" y="1564605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7493425" y="1947525"/>
            <a:ext cx="164400" cy="16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3"/>
          <p:cNvSpPr/>
          <p:nvPr/>
        </p:nvSpPr>
        <p:spPr>
          <a:xfrm>
            <a:off x="7493425" y="2339143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33"/>
          <p:cNvCxnSpPr>
            <a:stCxn id="318" idx="3"/>
            <a:endCxn id="319" idx="2"/>
          </p:cNvCxnSpPr>
          <p:nvPr/>
        </p:nvCxnSpPr>
        <p:spPr>
          <a:xfrm rot="10800000" flipH="1">
            <a:off x="6895950" y="1278375"/>
            <a:ext cx="597600" cy="57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3"/>
          <p:cNvCxnSpPr>
            <a:stCxn id="318" idx="3"/>
            <a:endCxn id="321" idx="2"/>
          </p:cNvCxnSpPr>
          <p:nvPr/>
        </p:nvCxnSpPr>
        <p:spPr>
          <a:xfrm rot="10800000" flipH="1">
            <a:off x="6895950" y="1646775"/>
            <a:ext cx="597600" cy="2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3"/>
          <p:cNvCxnSpPr>
            <a:stCxn id="318" idx="3"/>
            <a:endCxn id="322" idx="2"/>
          </p:cNvCxnSpPr>
          <p:nvPr/>
        </p:nvCxnSpPr>
        <p:spPr>
          <a:xfrm>
            <a:off x="6895950" y="1857675"/>
            <a:ext cx="5976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3"/>
          <p:cNvCxnSpPr>
            <a:stCxn id="318" idx="3"/>
            <a:endCxn id="323" idx="2"/>
          </p:cNvCxnSpPr>
          <p:nvPr/>
        </p:nvCxnSpPr>
        <p:spPr>
          <a:xfrm>
            <a:off x="6895950" y="1857675"/>
            <a:ext cx="597600" cy="5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8" name="Google Shape;32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195" y="3482107"/>
            <a:ext cx="1046999" cy="107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6" name="Google Shape;37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9" name="Google Shape;379;p3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432750" y="1073525"/>
            <a:ext cx="38661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PK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 SIMPLES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Formada por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apenas um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atributo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Exemplo: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4464275" y="1073525"/>
            <a:ext cx="38661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PL COMPOSTA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Formada por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dois ou mais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atributos.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Exemplo: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Entidade (Localização)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nome da cidade e nome do estado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6" name="Google Shape;186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418200" y="1036675"/>
            <a:ext cx="8279100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u="sng" dirty="0">
                <a:latin typeface="Nunito"/>
                <a:ea typeface="Nunito"/>
                <a:cs typeface="Nunito"/>
                <a:sym typeface="Nunito"/>
              </a:rPr>
              <a:t>Especialização: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definir entidades mais específicas (subclasses) a partir de uma entidade mais genérica (superclasse), herdando os atributos da superclasse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Cada subgrupo de entidades possui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atributos específicos.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" name="Google Shape;197;p26">
            <a:extLst>
              <a:ext uri="{FF2B5EF4-FFF2-40B4-BE49-F238E27FC236}">
                <a16:creationId xmlns:a16="http://schemas.microsoft.com/office/drawing/2014/main" id="{3DF2E6AC-367F-49F8-A3AC-1D1E1C0E66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596" y="2333237"/>
            <a:ext cx="4066354" cy="2404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Revisão</a:t>
            </a:r>
            <a:b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 sz="3200" b="0" i="0" u="none" strike="noStrike" cap="none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1891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18200" y="14176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u="sng" dirty="0">
                <a:latin typeface="Nunito"/>
                <a:ea typeface="Nunito"/>
                <a:cs typeface="Nunito"/>
                <a:sym typeface="Nunito"/>
              </a:rPr>
              <a:t>Modelo lógico,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diferentemente do projeto conceitual, que é voltado para a validação com o cliente, esse é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voltado para a equipe de desenvolvimento;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Descreve </a:t>
            </a:r>
            <a:r>
              <a:rPr lang="pt-BR" sz="2000" b="1" i="1" dirty="0">
                <a:latin typeface="Nunito"/>
                <a:ea typeface="Nunito"/>
                <a:cs typeface="Nunito"/>
                <a:sym typeface="Nunito"/>
              </a:rPr>
              <a:t>como será a estrutura do banco de dados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“Ele traduz o MER para uma estrutura compatível com o tipo de banco que será usado (relacional, orientado a objetos, etc.).”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8199" y="1036675"/>
            <a:ext cx="8190019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Modelo Relacional: 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rganiza os dados em uma estrutura de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tabelas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bidimensionais denominadas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relações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linha da tabela (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tupla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representa um elemento do conjunto de dados;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coluna da tabela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(atributo)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contém valores de um conjunto definido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(domínio)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No caso do relacional, o modelo lógico já mostra tabelas, chaves primárias, chaves estrangeiras, relacionamentos como colunas etc.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8200" y="960475"/>
            <a:ext cx="827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Tabelas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31" y="2067174"/>
            <a:ext cx="6188533" cy="2192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FF9ADCD-9866-4697-B686-9A0CE066E47C}"/>
              </a:ext>
            </a:extLst>
          </p:cNvPr>
          <p:cNvCxnSpPr/>
          <p:nvPr/>
        </p:nvCxnSpPr>
        <p:spPr>
          <a:xfrm flipV="1">
            <a:off x="1393031" y="1728788"/>
            <a:ext cx="414338" cy="40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39C9F7B-C0AD-45E5-976A-048F522DC856}"/>
              </a:ext>
            </a:extLst>
          </p:cNvPr>
          <p:cNvCxnSpPr>
            <a:cxnSpLocks/>
          </p:cNvCxnSpPr>
          <p:nvPr/>
        </p:nvCxnSpPr>
        <p:spPr>
          <a:xfrm>
            <a:off x="6572250" y="2757488"/>
            <a:ext cx="535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4A275A-E621-4766-8C89-6675B5310193}"/>
              </a:ext>
            </a:extLst>
          </p:cNvPr>
          <p:cNvSpPr txBox="1"/>
          <p:nvPr/>
        </p:nvSpPr>
        <p:spPr>
          <a:xfrm>
            <a:off x="1807369" y="146851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Atributo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BE6076-35C6-4101-A410-75C452A36039}"/>
              </a:ext>
            </a:extLst>
          </p:cNvPr>
          <p:cNvSpPr txBox="1"/>
          <p:nvPr/>
        </p:nvSpPr>
        <p:spPr>
          <a:xfrm>
            <a:off x="7173990" y="2288630"/>
            <a:ext cx="1896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Tupla</a:t>
            </a:r>
            <a:r>
              <a:rPr lang="pt-BR" b="1" dirty="0"/>
              <a:t>?</a:t>
            </a:r>
          </a:p>
          <a:p>
            <a:r>
              <a:rPr lang="pt-BR" dirty="0"/>
              <a:t>registro completo que representa uma ocorrência específica de uma entidade.</a:t>
            </a:r>
          </a:p>
          <a:p>
            <a:endParaRPr lang="pt-BR" dirty="0"/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400" dirty="0">
                <a:latin typeface="Nunito"/>
                <a:ea typeface="Nunito"/>
                <a:cs typeface="Nunito"/>
                <a:sym typeface="Nunito"/>
              </a:rPr>
              <a:t>Cada tabela é um conjunto desordenado de </a:t>
            </a:r>
            <a:r>
              <a:rPr lang="pt-BR" sz="1400" b="1" dirty="0" err="1">
                <a:latin typeface="Nunito"/>
                <a:ea typeface="Nunito"/>
                <a:cs typeface="Nunito"/>
                <a:sym typeface="Nunito"/>
              </a:rPr>
              <a:t>tuplas</a:t>
            </a:r>
            <a:r>
              <a:rPr lang="pt-BR" sz="14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400" dirty="0">
                <a:latin typeface="Nunito"/>
                <a:ea typeface="Nunito"/>
                <a:cs typeface="Nunito"/>
                <a:sym typeface="Nunito"/>
              </a:rPr>
              <a:t>exclusivas.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Valor do campo deve ser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atômico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Simples (não é divisível); e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Monovalorado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(só possui um valor).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relacionamento das tabelas se dá por meio de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Chaves estrangeiras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 </a:t>
            </a:r>
          </a:p>
          <a:p>
            <a:pPr marL="558800" lvl="1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62252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17" y="947087"/>
            <a:ext cx="7160459" cy="382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18200" y="808075"/>
            <a:ext cx="82791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Chave primária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Coluna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ou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combinação de colunas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cujos valores distinguem uma linha das demais dentro de uma tabela.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Candidatas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 “uma possível chave primária”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Wingdings" panose="05000000000000000000" pitchFamily="2" charset="2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Wingdings" panose="05000000000000000000" pitchFamily="2" charset="2"/>
            </a:endParaRPr>
          </a:p>
          <a:p>
            <a:pPr algn="just"/>
            <a:r>
              <a:rPr lang="pt-BR" sz="2000" b="1" dirty="0"/>
              <a:t>Uma tabela pode ter várias chaves candidatas. Entre elas, uma é escolhida como chave primária; as outras ficam como chaves alternativas.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443" y="1032763"/>
            <a:ext cx="3389150" cy="17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635475" y="3513625"/>
            <a:ext cx="3389100" cy="131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Chaves candidatas: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 e Matricula.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Primária: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Alternativa ou alternada: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Matrícula.</a:t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5251050" y="3475525"/>
            <a:ext cx="3389100" cy="131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Chaves candidatas: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 e Matricula.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Primária: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Matrícula.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Alternativa ou alternada: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CPF.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635475" y="3113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Possibilidade 1 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6215450" y="303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Possibilidade 2 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8" name="Google Shape;228;p2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418200" y="884275"/>
            <a:ext cx="8375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b="1" dirty="0">
                <a:latin typeface="Nunito"/>
                <a:ea typeface="Nunito"/>
                <a:cs typeface="Nunito"/>
                <a:sym typeface="Nunito"/>
              </a:rPr>
              <a:t>Chave estrangeira: 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Coluna ou combinação de colunas, cujos valores aparecem na chave primária (candidata) da tabela referenciada.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Mecanismo que permite a implementação de relacionamentos em um banco de dados relacional.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081" y="2043350"/>
            <a:ext cx="4638543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1889225" y="3001400"/>
            <a:ext cx="5096100" cy="17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498775" y="2470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Conceitual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261;p31">
            <a:extLst>
              <a:ext uri="{FF2B5EF4-FFF2-40B4-BE49-F238E27FC236}">
                <a16:creationId xmlns:a16="http://schemas.microsoft.com/office/drawing/2014/main" id="{72174765-B06F-4283-80CC-05388F821146}"/>
              </a:ext>
            </a:extLst>
          </p:cNvPr>
          <p:cNvSpPr txBox="1"/>
          <p:nvPr/>
        </p:nvSpPr>
        <p:spPr>
          <a:xfrm>
            <a:off x="551100" y="3907725"/>
            <a:ext cx="129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Lógico</a:t>
            </a:r>
            <a:endParaRPr b="1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" name="Google Shape;262;p31">
            <a:extLst>
              <a:ext uri="{FF2B5EF4-FFF2-40B4-BE49-F238E27FC236}">
                <a16:creationId xmlns:a16="http://schemas.microsoft.com/office/drawing/2014/main" id="{CA62B271-BBE1-4A54-8710-0F1B4387900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8791" y="3341750"/>
            <a:ext cx="5334358" cy="14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Revisão de Normalização</a:t>
            </a:r>
            <a:endParaRPr sz="3200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Ao modelar nossos banco de dados devemos evitar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anomalias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Anomalias são mudanças em dados que podem gerar uma inconsistência no banco de dados relacional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Dependendo do momento em que ocorre a inconsistência podemos ter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inserção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atualização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remoção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Normalização: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Mecanismo formal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analisar esquemas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de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relações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baseado nas suas chaves e nas dependências funcionais entre seus atributos.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Consiste da decomposição de esquemas para evitar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anomalias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i="1" dirty="0">
                <a:latin typeface="Nunito"/>
                <a:ea typeface="Nunito"/>
                <a:cs typeface="Nunito"/>
                <a:sym typeface="Nunito"/>
              </a:rPr>
              <a:t>Projeto conceitual bem feito resulta naturalmente em esquemas normalizados.</a:t>
            </a:r>
          </a:p>
        </p:txBody>
      </p:sp>
    </p:spTree>
    <p:extLst>
      <p:ext uri="{BB962C8B-B14F-4D97-AF65-F5344CB8AC3E}">
        <p14:creationId xmlns:p14="http://schemas.microsoft.com/office/powerpoint/2010/main" val="2810387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Revisão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267" y="901425"/>
            <a:ext cx="4577471" cy="39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Primeira Forma Normal (1FN)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18200" y="1112875"/>
            <a:ext cx="8279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É parte da definição formal de uma relação.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Foi definida para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não permitir atributos multivalorados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atributos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compostos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 suas combinações.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“Uma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relação/tabela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está em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1FN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se e somente se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todos os seus valores de atributos contêm apenas valores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atômicos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2000" i="1">
                <a:latin typeface="Nunito"/>
                <a:ea typeface="Nunito"/>
                <a:cs typeface="Nunito"/>
                <a:sym typeface="Nunito"/>
              </a:rPr>
              <a:t>simples, indivisíveis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).”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18200" y="1036675"/>
            <a:ext cx="8279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“Uma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relação/tabela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encontra-se na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e somente se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estiver em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2000" i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não contém dependências</a:t>
            </a:r>
            <a:endParaRPr sz="2000" i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parciais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ou seja, todos os atributos não-chave dependem completamente da chave primária, e não apenas de uma parte dela”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Dependência Parcial: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ocorre quando uma coluna depende apenas de uma parte de uma chave primária composta.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Uma relação para estar na 2FN não deve possuir atributo não-chave funcionalmente determinado por parte da chave primária.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1" name="Google Shape;241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5" name="Google Shape;43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7" name="Google Shape;437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8" name="Google Shape;438;p44"/>
          <p:cNvSpPr txBox="1"/>
          <p:nvPr/>
        </p:nvSpPr>
        <p:spPr>
          <a:xfrm>
            <a:off x="418200" y="960475"/>
            <a:ext cx="8279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“Uma relação está em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e somente se estiver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 todos os seus atributos não-chave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forem mutuamente </a:t>
            </a:r>
            <a:r>
              <a:rPr lang="pt-BR" sz="2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independentes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ou seja,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não houver dependências transitivas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.”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Dependência Transitiva: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ocorre quando uma coluna, além de depender da chave primária de uma tabela, depende de outra coluna ou conjunto de colunas da tabela.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Uma relação para estar na 3FN não deve ter um atributo não-chave funcionalmente determinado por um outro atributo não-chave.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p4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18200" y="884275"/>
            <a:ext cx="8279100" cy="286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uma tabela relacional, diz-se que uma coluna Y depende funcionalmente de uma coluna X quando, em todas as linhas da tabela, para cada valor de X que aparece na tabela, o mesmo valor de Y.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X → Y</a:t>
            </a: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dirty="0">
                <a:latin typeface="Nunito"/>
                <a:ea typeface="Nunito"/>
                <a:cs typeface="Nunito"/>
                <a:sym typeface="Nunito"/>
              </a:rPr>
              <a:t>Lê-se que X determina funcionalmente Y</a:t>
            </a: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5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Exemplo: </a:t>
            </a:r>
            <a:r>
              <a:rPr lang="pt-BR" sz="2300" b="1" dirty="0" err="1">
                <a:latin typeface="Nunito"/>
                <a:ea typeface="Nunito"/>
                <a:cs typeface="Nunito"/>
                <a:sym typeface="Nunito"/>
              </a:rPr>
              <a:t>cod_produto</a:t>
            </a: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300" b="1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300" b="1" dirty="0" err="1">
                <a:latin typeface="Nunito"/>
                <a:ea typeface="Nunito"/>
                <a:cs typeface="Nunito"/>
                <a:sym typeface="Nunito"/>
              </a:rPr>
              <a:t>nome_produto</a:t>
            </a:r>
            <a:endParaRPr sz="23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7C488A-A55B-49A3-B390-5E55FE05A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498" y="3659699"/>
            <a:ext cx="4922227" cy="148380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18200" y="8842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dependência funcional trivial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fala que um determinante com mais de um atributo pode determinar seus próprios membros quando isolados. Um exemplo: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banco (DF trivial, pois banco é parte do determinante)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agência (DF trivial, pois agência é parte do determinante)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Quando um determinante identifica outro atributo qualquer, temos uma dependência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funcional não trivial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 Um exemplo: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cidade (DF não trivial, pois cidade não faz parte do determinante)</a:t>
            </a:r>
            <a:endParaRPr lang="pt-BR" sz="23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33</a:t>
            </a:fld>
            <a:endParaRPr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88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18200" y="960475"/>
            <a:ext cx="82791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formal normal de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Boyce-Codd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 foi proposta como uma forma mais simples da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3FN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entretanto, essa forma normal acaba sendo mais rigorosa do que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3FN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 esquema de relação está na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toda dependência funcional não trivial X → Y, o conjunto de atributos X deve ser uma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superchave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da relação.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Superchave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= conjunto de atributos que identifica unicamente cada linha da tabela.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outras palavras: nenhum atributo que não seja chave pode determinar outro atributo.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34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1596</Words>
  <Application>Microsoft Office PowerPoint</Application>
  <PresentationFormat>Apresentação na tela (16:9)</PresentationFormat>
  <Paragraphs>301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Helvetica Neue</vt:lpstr>
      <vt:lpstr>Maven Pro SemiBold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2025-09-02T21:14:02Z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2025-07-26T00:05:06Z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35495837-a90f-4ef2-9046-a764454dbb0f</vt:lpwstr>
  </property>
  <property fmtid="{D5CDD505-2E9C-101B-9397-08002B2CF9AE}" pid="7" name="MSIP_Label_defa4170-0d19-0005-0004-bc88714345d2_ActionId">
    <vt:lpwstr>4af3391b-7193-49ec-9790-3983abae8a5c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